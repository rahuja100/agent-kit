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200400" y="0"/>
            <a:ext cx="5943600" cy="5143500"/>
          </a:xfrm>
          <a:prstGeom prst="rect">
            <a:avLst/>
          </a:prstGeom>
          <a:solidFill>
            <a:srgbClr val="000000">
              <a:alpha val="60000"/>
            </a:srgbClr>
          </a:solidFill>
          <a:ln/>
        </p:spPr>
      </p:sp>
      <p:sp>
        <p:nvSpPr>
          <p:cNvPr id="3" name="Shape 1"/>
          <p:cNvSpPr/>
          <p:nvPr/>
        </p:nvSpPr>
        <p:spPr>
          <a:xfrm>
            <a:off x="4572000" y="0"/>
            <a:ext cx="4572000" cy="5143500"/>
          </a:xfrm>
          <a:prstGeom prst="rect">
            <a:avLst/>
          </a:prstGeom>
          <a:solidFill>
            <a:srgbClr val="000000">
              <a:alpha val="45000"/>
            </a:srgbClr>
          </a:solidFill>
          <a:ln/>
        </p:spPr>
      </p:sp>
      <p:sp>
        <p:nvSpPr>
          <p:cNvPr id="4" name="Text 2"/>
          <p:cNvSpPr/>
          <p:nvPr/>
        </p:nvSpPr>
        <p:spPr>
          <a:xfrm>
            <a:off x="5029200" y="1097280"/>
            <a:ext cx="3657600" cy="2560320"/>
          </a:xfrm>
          <a:prstGeom prst="rect">
            <a:avLst/>
          </a:prstGeom>
          <a:noFill/>
          <a:ln/>
        </p:spPr>
        <p:txBody>
          <a:bodyPr wrap="square" lIns="0" tIns="0" rIns="0" bIns="0" rtlCol="0" anchor="b"/>
          <a:lstStyle/>
          <a:p>
            <a:pPr algn="l" indent="0" marL="0">
              <a:lnSpc>
                <a:spcPct val="90000"/>
              </a:lnSpc>
              <a:buNone/>
            </a:pPr>
            <a:r>
              <a:rPr lang="en-US" sz="5200" b="1" dirty="0">
                <a:solidFill>
                  <a:srgbClr val="FFFFFF"/>
                </a:solidFill>
                <a:latin typeface="Calibri" pitchFamily="34" charset="0"/>
                <a:ea typeface="Calibri" pitchFamily="34" charset="-122"/>
                <a:cs typeface="Calibri" pitchFamily="34" charset="-120"/>
              </a:rPr>
              <a:t>Unlock</a:t>
            </a:r>
            <a:endParaRPr lang="en-US" sz="5200" dirty="0"/>
          </a:p>
          <a:p>
            <a:pPr algn="l" indent="0" marL="0">
              <a:lnSpc>
                <a:spcPct val="90000"/>
              </a:lnSpc>
              <a:buNone/>
            </a:pPr>
            <a:r>
              <a:rPr lang="en-US" sz="5200" b="1" dirty="0">
                <a:solidFill>
                  <a:srgbClr val="FFFFFF"/>
                </a:solidFill>
                <a:latin typeface="Calibri" pitchFamily="34" charset="0"/>
                <a:ea typeface="Calibri" pitchFamily="34" charset="-122"/>
                <a:cs typeface="Calibri" pitchFamily="34" charset="-120"/>
              </a:rPr>
              <a:t>Hidden Value</a:t>
            </a:r>
            <a:endParaRPr lang="en-US" sz="5200" dirty="0"/>
          </a:p>
        </p:txBody>
      </p:sp>
      <p:pic>
        <p:nvPicPr>
          <p:cNvPr id="5" name="Image 0" descr="preencoded.png">    </p:cNvPr>
          <p:cNvPicPr>
            <a:picLocks noChangeAspect="1"/>
          </p:cNvPicPr>
          <p:nvPr/>
        </p:nvPicPr>
        <p:blipFill>
          <a:blip r:embed="rId2"/>
          <a:stretch>
            <a:fillRect/>
          </a:stretch>
        </p:blipFill>
        <p:spPr>
          <a:xfrm>
            <a:off x="5166360" y="4114800"/>
            <a:ext cx="2560320" cy="411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83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sp>
      <p:sp>
        <p:nvSpPr>
          <p:cNvPr id="3" name="Text 1"/>
          <p:cNvSpPr/>
          <p:nvPr/>
        </p:nvSpPr>
        <p:spPr>
          <a:xfrm>
            <a:off x="548640" y="274320"/>
            <a:ext cx="804672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Our Healthcare Procurement Expertise</a:t>
            </a:r>
            <a:endParaRPr lang="en-US" sz="2600" dirty="0"/>
          </a:p>
        </p:txBody>
      </p:sp>
      <p:sp>
        <p:nvSpPr>
          <p:cNvPr id="4" name="Text 2"/>
          <p:cNvSpPr/>
          <p:nvPr/>
        </p:nvSpPr>
        <p:spPr>
          <a:xfrm>
            <a:off x="548640" y="822960"/>
            <a:ext cx="6858000" cy="411480"/>
          </a:xfrm>
          <a:prstGeom prst="rect">
            <a:avLst/>
          </a:prstGeom>
          <a:noFill/>
          <a:ln/>
        </p:spPr>
        <p:txBody>
          <a:bodyPr wrap="square" lIns="0" tIns="0" rIns="0" bIns="0" rtlCol="0" anchor="ctr"/>
          <a:lstStyle/>
          <a:p>
            <a:pPr indent="0" marL="0">
              <a:buNone/>
            </a:pPr>
            <a:r>
              <a:rPr lang="en-US" sz="1200" dirty="0">
                <a:solidFill>
                  <a:srgbClr val="8B95A0"/>
                </a:solidFill>
                <a:latin typeface="Calibri" pitchFamily="34" charset="0"/>
                <a:ea typeface="Calibri" pitchFamily="34" charset="-122"/>
                <a:cs typeface="Calibri" pitchFamily="34" charset="-120"/>
              </a:rPr>
              <a:t>Treya Partners brings deep, hands-on procurement experience across healthcare services, physician practices, and multi-site platforms.</a:t>
            </a:r>
            <a:endParaRPr lang="en-US" sz="1200" dirty="0"/>
          </a:p>
        </p:txBody>
      </p:sp>
      <p:sp>
        <p:nvSpPr>
          <p:cNvPr id="5" name="Shape 3"/>
          <p:cNvSpPr/>
          <p:nvPr/>
        </p:nvSpPr>
        <p:spPr>
          <a:xfrm>
            <a:off x="548640" y="1371600"/>
            <a:ext cx="8046720" cy="0"/>
          </a:xfrm>
          <a:prstGeom prst="line">
            <a:avLst/>
          </a:prstGeom>
          <a:noFill/>
          <a:ln w="12700">
            <a:solidFill>
              <a:srgbClr val="243546"/>
            </a:solidFill>
            <a:prstDash val="solid"/>
          </a:ln>
        </p:spPr>
      </p:sp>
      <p:sp>
        <p:nvSpPr>
          <p:cNvPr id="6" name="Shape 4"/>
          <p:cNvSpPr/>
          <p:nvPr/>
        </p:nvSpPr>
        <p:spPr>
          <a:xfrm>
            <a:off x="548640" y="1600200"/>
            <a:ext cx="2514600" cy="3200400"/>
          </a:xfrm>
          <a:prstGeom prst="rect">
            <a:avLst/>
          </a:prstGeom>
          <a:solidFill>
            <a:srgbClr val="243546"/>
          </a:solidFill>
          <a:ln/>
          <a:effectLst>
            <a:outerShdw sx="100000" sy="100000" kx="0" ky="0" algn="bl" rotWithShape="0" blurRad="50800" dist="25400" dir="8100000">
              <a:srgbClr val="000000">
                <a:alpha val="12000"/>
              </a:srgbClr>
            </a:outerShdw>
          </a:effectLst>
        </p:spPr>
      </p:sp>
      <p:sp>
        <p:nvSpPr>
          <p:cNvPr id="7" name="Shape 5"/>
          <p:cNvSpPr/>
          <p:nvPr/>
        </p:nvSpPr>
        <p:spPr>
          <a:xfrm>
            <a:off x="548640" y="1600200"/>
            <a:ext cx="2514600" cy="45720"/>
          </a:xfrm>
          <a:prstGeom prst="rect">
            <a:avLst/>
          </a:prstGeom>
          <a:solidFill>
            <a:srgbClr val="4A8DA8"/>
          </a:solidFill>
          <a:ln/>
        </p:spPr>
      </p:sp>
      <p:sp>
        <p:nvSpPr>
          <p:cNvPr id="8" name="Shape 6"/>
          <p:cNvSpPr/>
          <p:nvPr/>
        </p:nvSpPr>
        <p:spPr>
          <a:xfrm>
            <a:off x="1577340" y="1801368"/>
            <a:ext cx="457200" cy="457200"/>
          </a:xfrm>
          <a:prstGeom prst="ellipse">
            <a:avLst/>
          </a:prstGeom>
          <a:solidFill>
            <a:srgbClr val="4A8DA8"/>
          </a:solidFill>
          <a:ln/>
        </p:spPr>
      </p:sp>
      <p:pic>
        <p:nvPicPr>
          <p:cNvPr id="9" name="Image 0" descr="preencoded.png">    </p:cNvPr>
          <p:cNvPicPr>
            <a:picLocks noChangeAspect="1"/>
          </p:cNvPicPr>
          <p:nvPr/>
        </p:nvPicPr>
        <p:blipFill>
          <a:blip r:embed="rId1"/>
          <a:stretch>
            <a:fillRect/>
          </a:stretch>
        </p:blipFill>
        <p:spPr>
          <a:xfrm>
            <a:off x="1668780" y="1892808"/>
            <a:ext cx="274320" cy="274320"/>
          </a:xfrm>
          <a:prstGeom prst="rect">
            <a:avLst/>
          </a:prstGeom>
        </p:spPr>
      </p:pic>
      <p:sp>
        <p:nvSpPr>
          <p:cNvPr id="10" name="Text 7"/>
          <p:cNvSpPr/>
          <p:nvPr/>
        </p:nvSpPr>
        <p:spPr>
          <a:xfrm>
            <a:off x="685800" y="2377440"/>
            <a:ext cx="2240280" cy="502920"/>
          </a:xfrm>
          <a:prstGeom prst="rect">
            <a:avLst/>
          </a:prstGeom>
          <a:noFill/>
          <a:ln/>
        </p:spPr>
        <p:txBody>
          <a:bodyPr wrap="square" lIns="0" tIns="0" rIns="0" bIns="0" rtlCol="0" anchor="ctr"/>
          <a:lstStyle/>
          <a:p>
            <a:pPr algn="ctr" indent="0" marL="0">
              <a:buNone/>
            </a:pPr>
            <a:r>
              <a:rPr lang="en-US" sz="1250" b="1" dirty="0">
                <a:solidFill>
                  <a:srgbClr val="E87722"/>
                </a:solidFill>
                <a:latin typeface="Calibri" pitchFamily="34" charset="0"/>
                <a:ea typeface="Calibri" pitchFamily="34" charset="-122"/>
                <a:cs typeface="Calibri" pitchFamily="34" charset="-120"/>
              </a:rPr>
              <a:t>Multi-Site Healthcare</a:t>
            </a:r>
            <a:endParaRPr lang="en-US" sz="1250" dirty="0"/>
          </a:p>
          <a:p>
            <a:pPr algn="ctr" indent="0" marL="0">
              <a:buNone/>
            </a:pPr>
            <a:r>
              <a:rPr lang="en-US" sz="1250" b="1" dirty="0">
                <a:solidFill>
                  <a:srgbClr val="E87722"/>
                </a:solidFill>
                <a:latin typeface="Calibri" pitchFamily="34" charset="0"/>
                <a:ea typeface="Calibri" pitchFamily="34" charset="-122"/>
                <a:cs typeface="Calibri" pitchFamily="34" charset="-120"/>
              </a:rPr>
              <a:t>Platforms</a:t>
            </a:r>
            <a:endParaRPr lang="en-US" sz="1250" dirty="0"/>
          </a:p>
        </p:txBody>
      </p:sp>
      <p:sp>
        <p:nvSpPr>
          <p:cNvPr id="11" name="Shape 8"/>
          <p:cNvSpPr/>
          <p:nvPr/>
        </p:nvSpPr>
        <p:spPr>
          <a:xfrm>
            <a:off x="822960" y="2953512"/>
            <a:ext cx="1965960" cy="0"/>
          </a:xfrm>
          <a:prstGeom prst="line">
            <a:avLst/>
          </a:prstGeom>
          <a:noFill/>
          <a:ln w="6350">
            <a:solidFill>
              <a:srgbClr val="4A8DA8"/>
            </a:solidFill>
            <a:prstDash val="solid"/>
          </a:ln>
        </p:spPr>
      </p:sp>
      <p:sp>
        <p:nvSpPr>
          <p:cNvPr id="12" name="Text 9"/>
          <p:cNvSpPr/>
          <p:nvPr/>
        </p:nvSpPr>
        <p:spPr>
          <a:xfrm>
            <a:off x="731520" y="3063240"/>
            <a:ext cx="2148840" cy="1600200"/>
          </a:xfrm>
          <a:prstGeom prst="rect">
            <a:avLst/>
          </a:prstGeom>
          <a:noFill/>
          <a:ln/>
        </p:spPr>
        <p:txBody>
          <a:bodyPr wrap="square" lIns="0" tIns="0" rIns="0" bIns="0" rtlCol="0" anchor="t"/>
          <a:lstStyle/>
          <a:p>
            <a:pPr algn="l" indent="0" marL="0">
              <a:lnSpc>
                <a:spcPct val="130000"/>
              </a:lnSpc>
              <a:buNone/>
            </a:pPr>
            <a:r>
              <a:rPr lang="en-US" sz="900" dirty="0">
                <a:solidFill>
                  <a:srgbClr val="D0D5DA"/>
                </a:solidFill>
                <a:latin typeface="Calibri" pitchFamily="34" charset="0"/>
                <a:ea typeface="Calibri" pitchFamily="34" charset="-122"/>
                <a:cs typeface="Calibri" pitchFamily="34" charset="-120"/>
              </a:rPr>
              <a:t>We have led procurement transformations for PE-backed healthcare services businesses with 50 to 200+ locations. We understand the complexity of balancing local clinical needs against enterprise-scale purchasing power, and we know how to consolidate fragmented supplier relationships into a single, leveraged position.</a:t>
            </a:r>
            <a:endParaRPr lang="en-US" sz="900" dirty="0"/>
          </a:p>
        </p:txBody>
      </p:sp>
      <p:sp>
        <p:nvSpPr>
          <p:cNvPr id="13" name="Shape 10"/>
          <p:cNvSpPr/>
          <p:nvPr/>
        </p:nvSpPr>
        <p:spPr>
          <a:xfrm>
            <a:off x="3319272" y="1600200"/>
            <a:ext cx="2514600" cy="3200400"/>
          </a:xfrm>
          <a:prstGeom prst="rect">
            <a:avLst/>
          </a:prstGeom>
          <a:solidFill>
            <a:srgbClr val="243546"/>
          </a:solidFill>
          <a:ln/>
          <a:effectLst>
            <a:outerShdw sx="100000" sy="100000" kx="0" ky="0" algn="bl" rotWithShape="0" blurRad="50800" dist="25400" dir="8100000">
              <a:srgbClr val="000000">
                <a:alpha val="12000"/>
              </a:srgbClr>
            </a:outerShdw>
          </a:effectLst>
        </p:spPr>
      </p:sp>
      <p:sp>
        <p:nvSpPr>
          <p:cNvPr id="14" name="Shape 11"/>
          <p:cNvSpPr/>
          <p:nvPr/>
        </p:nvSpPr>
        <p:spPr>
          <a:xfrm>
            <a:off x="3319272" y="1600200"/>
            <a:ext cx="2514600" cy="45720"/>
          </a:xfrm>
          <a:prstGeom prst="rect">
            <a:avLst/>
          </a:prstGeom>
          <a:solidFill>
            <a:srgbClr val="4A8DA8"/>
          </a:solidFill>
          <a:ln/>
        </p:spPr>
      </p:sp>
      <p:sp>
        <p:nvSpPr>
          <p:cNvPr id="15" name="Shape 12"/>
          <p:cNvSpPr/>
          <p:nvPr/>
        </p:nvSpPr>
        <p:spPr>
          <a:xfrm>
            <a:off x="4347972" y="1801368"/>
            <a:ext cx="457200" cy="457200"/>
          </a:xfrm>
          <a:prstGeom prst="ellipse">
            <a:avLst/>
          </a:prstGeom>
          <a:solidFill>
            <a:srgbClr val="4A8DA8"/>
          </a:solidFill>
          <a:ln/>
        </p:spPr>
      </p:sp>
      <p:pic>
        <p:nvPicPr>
          <p:cNvPr id="16" name="Image 1" descr="preencoded.png">    </p:cNvPr>
          <p:cNvPicPr>
            <a:picLocks noChangeAspect="1"/>
          </p:cNvPicPr>
          <p:nvPr/>
        </p:nvPicPr>
        <p:blipFill>
          <a:blip r:embed="rId2"/>
          <a:stretch>
            <a:fillRect/>
          </a:stretch>
        </p:blipFill>
        <p:spPr>
          <a:xfrm>
            <a:off x="4439412" y="1892808"/>
            <a:ext cx="274320" cy="274320"/>
          </a:xfrm>
          <a:prstGeom prst="rect">
            <a:avLst/>
          </a:prstGeom>
        </p:spPr>
      </p:pic>
      <p:sp>
        <p:nvSpPr>
          <p:cNvPr id="17" name="Text 13"/>
          <p:cNvSpPr/>
          <p:nvPr/>
        </p:nvSpPr>
        <p:spPr>
          <a:xfrm>
            <a:off x="3456432" y="2377440"/>
            <a:ext cx="2240280" cy="502920"/>
          </a:xfrm>
          <a:prstGeom prst="rect">
            <a:avLst/>
          </a:prstGeom>
          <a:noFill/>
          <a:ln/>
        </p:spPr>
        <p:txBody>
          <a:bodyPr wrap="square" lIns="0" tIns="0" rIns="0" bIns="0" rtlCol="0" anchor="ctr"/>
          <a:lstStyle/>
          <a:p>
            <a:pPr algn="ctr" indent="0" marL="0">
              <a:buNone/>
            </a:pPr>
            <a:r>
              <a:rPr lang="en-US" sz="1250" b="1" dirty="0">
                <a:solidFill>
                  <a:srgbClr val="E87722"/>
                </a:solidFill>
                <a:latin typeface="Calibri" pitchFamily="34" charset="0"/>
                <a:ea typeface="Calibri" pitchFamily="34" charset="-122"/>
                <a:cs typeface="Calibri" pitchFamily="34" charset="-120"/>
              </a:rPr>
              <a:t>85+ Supplier</a:t>
            </a:r>
            <a:endParaRPr lang="en-US" sz="1250" dirty="0"/>
          </a:p>
          <a:p>
            <a:pPr algn="ctr" indent="0" marL="0">
              <a:buNone/>
            </a:pPr>
            <a:r>
              <a:rPr lang="en-US" sz="1250" b="1" dirty="0">
                <a:solidFill>
                  <a:srgbClr val="E87722"/>
                </a:solidFill>
                <a:latin typeface="Calibri" pitchFamily="34" charset="0"/>
                <a:ea typeface="Calibri" pitchFamily="34" charset="-122"/>
                <a:cs typeface="Calibri" pitchFamily="34" charset="-120"/>
              </a:rPr>
              <a:t>Negotiations</a:t>
            </a:r>
            <a:endParaRPr lang="en-US" sz="1250" dirty="0"/>
          </a:p>
        </p:txBody>
      </p:sp>
      <p:sp>
        <p:nvSpPr>
          <p:cNvPr id="18" name="Shape 14"/>
          <p:cNvSpPr/>
          <p:nvPr/>
        </p:nvSpPr>
        <p:spPr>
          <a:xfrm>
            <a:off x="3593592" y="2953512"/>
            <a:ext cx="1965960" cy="0"/>
          </a:xfrm>
          <a:prstGeom prst="line">
            <a:avLst/>
          </a:prstGeom>
          <a:noFill/>
          <a:ln w="6350">
            <a:solidFill>
              <a:srgbClr val="4A8DA8"/>
            </a:solidFill>
            <a:prstDash val="solid"/>
          </a:ln>
        </p:spPr>
      </p:sp>
      <p:sp>
        <p:nvSpPr>
          <p:cNvPr id="19" name="Text 15"/>
          <p:cNvSpPr/>
          <p:nvPr/>
        </p:nvSpPr>
        <p:spPr>
          <a:xfrm>
            <a:off x="3502152" y="3063240"/>
            <a:ext cx="2148840" cy="1600200"/>
          </a:xfrm>
          <a:prstGeom prst="rect">
            <a:avLst/>
          </a:prstGeom>
          <a:noFill/>
          <a:ln/>
        </p:spPr>
        <p:txBody>
          <a:bodyPr wrap="square" lIns="0" tIns="0" rIns="0" bIns="0" rtlCol="0" anchor="t"/>
          <a:lstStyle/>
          <a:p>
            <a:pPr algn="l" indent="0" marL="0">
              <a:lnSpc>
                <a:spcPct val="130000"/>
              </a:lnSpc>
              <a:buNone/>
            </a:pPr>
            <a:r>
              <a:rPr lang="en-US" sz="900" dirty="0">
                <a:solidFill>
                  <a:srgbClr val="D0D5DA"/>
                </a:solidFill>
                <a:latin typeface="Calibri" pitchFamily="34" charset="0"/>
                <a:ea typeface="Calibri" pitchFamily="34" charset="-122"/>
                <a:cs typeface="Calibri" pitchFamily="34" charset="-120"/>
              </a:rPr>
              <a:t>Our team has negotiated directly with the suppliers that dominate healthcare spending: McKesson, athenahealth, Medline, LabCorp, UPS, and dozens of others. Each negotiation builds on the last. We carry forward pricing benchmarks, contract structures, and competitive intelligence that new entrants simply do not have.</a:t>
            </a:r>
            <a:endParaRPr lang="en-US" sz="900" dirty="0"/>
          </a:p>
        </p:txBody>
      </p:sp>
      <p:sp>
        <p:nvSpPr>
          <p:cNvPr id="20" name="Shape 16"/>
          <p:cNvSpPr/>
          <p:nvPr/>
        </p:nvSpPr>
        <p:spPr>
          <a:xfrm>
            <a:off x="6089904" y="1600200"/>
            <a:ext cx="2514600" cy="3200400"/>
          </a:xfrm>
          <a:prstGeom prst="rect">
            <a:avLst/>
          </a:prstGeom>
          <a:solidFill>
            <a:srgbClr val="243546"/>
          </a:solidFill>
          <a:ln/>
          <a:effectLst>
            <a:outerShdw sx="100000" sy="100000" kx="0" ky="0" algn="bl" rotWithShape="0" blurRad="50800" dist="25400" dir="8100000">
              <a:srgbClr val="000000">
                <a:alpha val="12000"/>
              </a:srgbClr>
            </a:outerShdw>
          </a:effectLst>
        </p:spPr>
      </p:sp>
      <p:sp>
        <p:nvSpPr>
          <p:cNvPr id="21" name="Shape 17"/>
          <p:cNvSpPr/>
          <p:nvPr/>
        </p:nvSpPr>
        <p:spPr>
          <a:xfrm>
            <a:off x="6089904" y="1600200"/>
            <a:ext cx="2514600" cy="45720"/>
          </a:xfrm>
          <a:prstGeom prst="rect">
            <a:avLst/>
          </a:prstGeom>
          <a:solidFill>
            <a:srgbClr val="4A8DA8"/>
          </a:solidFill>
          <a:ln/>
        </p:spPr>
      </p:sp>
      <p:sp>
        <p:nvSpPr>
          <p:cNvPr id="22" name="Shape 18"/>
          <p:cNvSpPr/>
          <p:nvPr/>
        </p:nvSpPr>
        <p:spPr>
          <a:xfrm>
            <a:off x="7118604" y="1801368"/>
            <a:ext cx="457200" cy="457200"/>
          </a:xfrm>
          <a:prstGeom prst="ellipse">
            <a:avLst/>
          </a:prstGeom>
          <a:solidFill>
            <a:srgbClr val="4A8DA8"/>
          </a:solidFill>
          <a:ln/>
        </p:spPr>
      </p:sp>
      <p:pic>
        <p:nvPicPr>
          <p:cNvPr id="23" name="Image 2" descr="preencoded.png">    </p:cNvPr>
          <p:cNvPicPr>
            <a:picLocks noChangeAspect="1"/>
          </p:cNvPicPr>
          <p:nvPr/>
        </p:nvPicPr>
        <p:blipFill>
          <a:blip r:embed="rId3"/>
          <a:stretch>
            <a:fillRect/>
          </a:stretch>
        </p:blipFill>
        <p:spPr>
          <a:xfrm>
            <a:off x="7210044" y="1892808"/>
            <a:ext cx="274320" cy="274320"/>
          </a:xfrm>
          <a:prstGeom prst="rect">
            <a:avLst/>
          </a:prstGeom>
        </p:spPr>
      </p:pic>
      <p:sp>
        <p:nvSpPr>
          <p:cNvPr id="24" name="Text 19"/>
          <p:cNvSpPr/>
          <p:nvPr/>
        </p:nvSpPr>
        <p:spPr>
          <a:xfrm>
            <a:off x="6227064" y="2377440"/>
            <a:ext cx="2240280" cy="502920"/>
          </a:xfrm>
          <a:prstGeom prst="rect">
            <a:avLst/>
          </a:prstGeom>
          <a:noFill/>
          <a:ln/>
        </p:spPr>
        <p:txBody>
          <a:bodyPr wrap="square" lIns="0" tIns="0" rIns="0" bIns="0" rtlCol="0" anchor="ctr"/>
          <a:lstStyle/>
          <a:p>
            <a:pPr algn="ctr" indent="0" marL="0">
              <a:buNone/>
            </a:pPr>
            <a:r>
              <a:rPr lang="en-US" sz="1250" b="1" dirty="0">
                <a:solidFill>
                  <a:srgbClr val="E87722"/>
                </a:solidFill>
                <a:latin typeface="Calibri" pitchFamily="34" charset="0"/>
                <a:ea typeface="Calibri" pitchFamily="34" charset="-122"/>
                <a:cs typeface="Calibri" pitchFamily="34" charset="-120"/>
              </a:rPr>
              <a:t>$3.4M+ in Documented</a:t>
            </a:r>
            <a:endParaRPr lang="en-US" sz="1250" dirty="0"/>
          </a:p>
          <a:p>
            <a:pPr algn="ctr" indent="0" marL="0">
              <a:buNone/>
            </a:pPr>
            <a:r>
              <a:rPr lang="en-US" sz="1250" b="1" dirty="0">
                <a:solidFill>
                  <a:srgbClr val="E87722"/>
                </a:solidFill>
                <a:latin typeface="Calibri" pitchFamily="34" charset="0"/>
                <a:ea typeface="Calibri" pitchFamily="34" charset="-122"/>
                <a:cs typeface="Calibri" pitchFamily="34" charset="-120"/>
              </a:rPr>
              <a:t>Healthcare Savings</a:t>
            </a:r>
            <a:endParaRPr lang="en-US" sz="1250" dirty="0"/>
          </a:p>
        </p:txBody>
      </p:sp>
      <p:sp>
        <p:nvSpPr>
          <p:cNvPr id="25" name="Shape 20"/>
          <p:cNvSpPr/>
          <p:nvPr/>
        </p:nvSpPr>
        <p:spPr>
          <a:xfrm>
            <a:off x="6364224" y="2953512"/>
            <a:ext cx="1965960" cy="0"/>
          </a:xfrm>
          <a:prstGeom prst="line">
            <a:avLst/>
          </a:prstGeom>
          <a:noFill/>
          <a:ln w="6350">
            <a:solidFill>
              <a:srgbClr val="4A8DA8"/>
            </a:solidFill>
            <a:prstDash val="solid"/>
          </a:ln>
        </p:spPr>
      </p:sp>
      <p:sp>
        <p:nvSpPr>
          <p:cNvPr id="26" name="Text 21"/>
          <p:cNvSpPr/>
          <p:nvPr/>
        </p:nvSpPr>
        <p:spPr>
          <a:xfrm>
            <a:off x="6272784" y="3063240"/>
            <a:ext cx="2148840" cy="1600200"/>
          </a:xfrm>
          <a:prstGeom prst="rect">
            <a:avLst/>
          </a:prstGeom>
          <a:noFill/>
          <a:ln/>
        </p:spPr>
        <p:txBody>
          <a:bodyPr wrap="square" lIns="0" tIns="0" rIns="0" bIns="0" rtlCol="0" anchor="t"/>
          <a:lstStyle/>
          <a:p>
            <a:pPr algn="l" indent="0" marL="0">
              <a:lnSpc>
                <a:spcPct val="130000"/>
              </a:lnSpc>
              <a:buNone/>
            </a:pPr>
            <a:r>
              <a:rPr lang="en-US" sz="900" dirty="0">
                <a:solidFill>
                  <a:srgbClr val="D0D5DA"/>
                </a:solidFill>
                <a:latin typeface="Calibri" pitchFamily="34" charset="0"/>
                <a:ea typeface="Calibri" pitchFamily="34" charset="-122"/>
                <a:cs typeface="Calibri" pitchFamily="34" charset="-120"/>
              </a:rPr>
              <a:t>Across nine healthcare engagements, we have delivered measurable savings in medical supplies, EMR and revenue cycle management, lab services, IT, facilities, and staffing. Every dollar is traceable to specific contract renegotiations and category strategies — not theoretical estimates.</a:t>
            </a:r>
            <a:endParaRPr lang="en-US" sz="900" dirty="0"/>
          </a:p>
        </p:txBody>
      </p:sp>
      <p:sp>
        <p:nvSpPr>
          <p:cNvPr id="27" name="Text 22"/>
          <p:cNvSpPr/>
          <p:nvPr/>
        </p:nvSpPr>
        <p:spPr>
          <a:xfrm>
            <a:off x="7132320" y="4800600"/>
            <a:ext cx="155448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Calibri" pitchFamily="34" charset="0"/>
                <a:ea typeface="Calibri" pitchFamily="34" charset="-122"/>
                <a:cs typeface="Calibri" pitchFamily="34" charset="-120"/>
              </a:rPr>
              <a:t>TREYA </a:t>
            </a:r>
            <a:pPr algn="r" indent="0" marL="0">
              <a:buNone/>
            </a:pPr>
            <a:r>
              <a:rPr lang="en-US" sz="900" dirty="0">
                <a:solidFill>
                  <a:srgbClr val="FFFFFF"/>
                </a:solidFill>
                <a:latin typeface="Calibri" pitchFamily="34" charset="0"/>
                <a:ea typeface="Calibri" pitchFamily="34" charset="-122"/>
                <a:cs typeface="Calibri" pitchFamily="34" charset="-120"/>
              </a:rPr>
              <a:t>partners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83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sp>
      <p:sp>
        <p:nvSpPr>
          <p:cNvPr id="3" name="Text 1"/>
          <p:cNvSpPr/>
          <p:nvPr/>
        </p:nvSpPr>
        <p:spPr>
          <a:xfrm>
            <a:off x="548640" y="228600"/>
            <a:ext cx="5943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We Know Your Healthcare Supply Base</a:t>
            </a:r>
            <a:endParaRPr lang="en-US" sz="2600" dirty="0"/>
          </a:p>
        </p:txBody>
      </p:sp>
      <p:sp>
        <p:nvSpPr>
          <p:cNvPr id="4" name="Text 2"/>
          <p:cNvSpPr/>
          <p:nvPr/>
        </p:nvSpPr>
        <p:spPr>
          <a:xfrm>
            <a:off x="548640" y="749808"/>
            <a:ext cx="5943600" cy="365760"/>
          </a:xfrm>
          <a:prstGeom prst="rect">
            <a:avLst/>
          </a:prstGeom>
          <a:noFill/>
          <a:ln/>
        </p:spPr>
        <p:txBody>
          <a:bodyPr wrap="square" lIns="0" tIns="0" rIns="0" bIns="0" rtlCol="0" anchor="ctr"/>
          <a:lstStyle/>
          <a:p>
            <a:pPr indent="0" marL="0">
              <a:buNone/>
            </a:pPr>
            <a:r>
              <a:rPr lang="en-US" sz="1100" dirty="0">
                <a:solidFill>
                  <a:srgbClr val="8B95A0"/>
                </a:solidFill>
                <a:latin typeface="Calibri" pitchFamily="34" charset="0"/>
                <a:ea typeface="Calibri" pitchFamily="34" charset="-122"/>
                <a:cs typeface="Calibri" pitchFamily="34" charset="-120"/>
              </a:rPr>
              <a:t>Bespoke supplier battlecards built from real engagement data across multiple healthcare platforms</a:t>
            </a:r>
            <a:endParaRPr lang="en-US" sz="1100" dirty="0"/>
          </a:p>
        </p:txBody>
      </p:sp>
      <p:sp>
        <p:nvSpPr>
          <p:cNvPr id="5" name="Text 3"/>
          <p:cNvSpPr/>
          <p:nvPr/>
        </p:nvSpPr>
        <p:spPr>
          <a:xfrm>
            <a:off x="6766560" y="182880"/>
            <a:ext cx="2011680" cy="411480"/>
          </a:xfrm>
          <a:prstGeom prst="rect">
            <a:avLst/>
          </a:prstGeom>
          <a:noFill/>
          <a:ln/>
        </p:spPr>
        <p:txBody>
          <a:bodyPr wrap="square" lIns="0" tIns="0" rIns="0" bIns="0" rtlCol="0" anchor="ctr"/>
          <a:lstStyle/>
          <a:p>
            <a:pPr algn="ctr" indent="0" marL="0">
              <a:buNone/>
            </a:pPr>
            <a:r>
              <a:rPr lang="en-US" sz="3400" b="1" dirty="0">
                <a:solidFill>
                  <a:srgbClr val="E87722"/>
                </a:solidFill>
                <a:latin typeface="Calibri" pitchFamily="34" charset="0"/>
                <a:ea typeface="Calibri" pitchFamily="34" charset="-122"/>
                <a:cs typeface="Calibri" pitchFamily="34" charset="-120"/>
              </a:rPr>
              <a:t>85+</a:t>
            </a:r>
            <a:endParaRPr lang="en-US" sz="3400" dirty="0"/>
          </a:p>
        </p:txBody>
      </p:sp>
      <p:sp>
        <p:nvSpPr>
          <p:cNvPr id="6" name="Text 4"/>
          <p:cNvSpPr/>
          <p:nvPr/>
        </p:nvSpPr>
        <p:spPr>
          <a:xfrm>
            <a:off x="6766560" y="566928"/>
            <a:ext cx="2011680" cy="228600"/>
          </a:xfrm>
          <a:prstGeom prst="rect">
            <a:avLst/>
          </a:prstGeom>
          <a:noFill/>
          <a:ln/>
        </p:spPr>
        <p:txBody>
          <a:bodyPr wrap="square" lIns="0" tIns="0" rIns="0" bIns="0" rtlCol="0" anchor="ctr"/>
          <a:lstStyle/>
          <a:p>
            <a:pPr algn="ctr" indent="0" marL="0">
              <a:buNone/>
            </a:pPr>
            <a:r>
              <a:rPr lang="en-US" sz="1000" dirty="0">
                <a:solidFill>
                  <a:srgbClr val="8B95A0"/>
                </a:solidFill>
                <a:latin typeface="Calibri" pitchFamily="34" charset="0"/>
                <a:ea typeface="Calibri" pitchFamily="34" charset="-122"/>
                <a:cs typeface="Calibri" pitchFamily="34" charset="-120"/>
              </a:rPr>
              <a:t>Suppliers Evaluated</a:t>
            </a:r>
            <a:endParaRPr lang="en-US" sz="1000" dirty="0"/>
          </a:p>
        </p:txBody>
      </p:sp>
      <p:sp>
        <p:nvSpPr>
          <p:cNvPr id="7" name="Text 5"/>
          <p:cNvSpPr/>
          <p:nvPr/>
        </p:nvSpPr>
        <p:spPr>
          <a:xfrm>
            <a:off x="6766560" y="841248"/>
            <a:ext cx="2011680" cy="256032"/>
          </a:xfrm>
          <a:prstGeom prst="rect">
            <a:avLst/>
          </a:prstGeom>
          <a:noFill/>
          <a:ln/>
        </p:spPr>
        <p:txBody>
          <a:bodyPr wrap="square" lIns="0" tIns="0" rIns="0" bIns="0" rtlCol="0" anchor="ctr"/>
          <a:lstStyle/>
          <a:p>
            <a:pPr algn="ctr" indent="0" marL="0">
              <a:buNone/>
            </a:pPr>
            <a:r>
              <a:rPr lang="en-US" sz="2000" b="1" dirty="0">
                <a:solidFill>
                  <a:srgbClr val="E87722"/>
                </a:solidFill>
                <a:latin typeface="Calibri" pitchFamily="34" charset="0"/>
                <a:ea typeface="Calibri" pitchFamily="34" charset="-122"/>
                <a:cs typeface="Calibri" pitchFamily="34" charset="-120"/>
              </a:rPr>
              <a:t>$3.4M</a:t>
            </a:r>
            <a:pPr algn="ctr" indent="0" marL="0">
              <a:buNone/>
            </a:pPr>
            <a:r>
              <a:rPr lang="en-US" sz="1000" dirty="0">
                <a:solidFill>
                  <a:srgbClr val="8B95A0"/>
                </a:solidFill>
                <a:latin typeface="Calibri" pitchFamily="34" charset="0"/>
                <a:ea typeface="Calibri" pitchFamily="34" charset="-122"/>
                <a:cs typeface="Calibri" pitchFamily="34" charset="-120"/>
              </a:rPr>
              <a:t>  Healthcare Savings</a:t>
            </a:r>
            <a:endParaRPr lang="en-US" sz="2000" dirty="0"/>
          </a:p>
        </p:txBody>
      </p:sp>
      <p:sp>
        <p:nvSpPr>
          <p:cNvPr id="8" name="Shape 6"/>
          <p:cNvSpPr/>
          <p:nvPr/>
        </p:nvSpPr>
        <p:spPr>
          <a:xfrm>
            <a:off x="548640" y="1207008"/>
            <a:ext cx="8046720" cy="0"/>
          </a:xfrm>
          <a:prstGeom prst="line">
            <a:avLst/>
          </a:prstGeom>
          <a:noFill/>
          <a:ln w="12700">
            <a:solidFill>
              <a:srgbClr val="243546"/>
            </a:solidFill>
            <a:prstDash val="solid"/>
          </a:ln>
        </p:spPr>
      </p:sp>
      <p:sp>
        <p:nvSpPr>
          <p:cNvPr id="9" name="Shape 7"/>
          <p:cNvSpPr/>
          <p:nvPr/>
        </p:nvSpPr>
        <p:spPr>
          <a:xfrm>
            <a:off x="548640" y="1371600"/>
            <a:ext cx="1572768" cy="3383280"/>
          </a:xfrm>
          <a:prstGeom prst="rect">
            <a:avLst/>
          </a:prstGeom>
          <a:solidFill>
            <a:srgbClr val="243546"/>
          </a:solidFill>
          <a:ln/>
          <a:effectLst>
            <a:outerShdw sx="100000" sy="100000" kx="0" ky="0" algn="bl" rotWithShape="0" blurRad="50800" dist="25400" dir="8100000">
              <a:srgbClr val="000000">
                <a:alpha val="12000"/>
              </a:srgbClr>
            </a:outerShdw>
          </a:effectLst>
        </p:spPr>
      </p:sp>
      <p:sp>
        <p:nvSpPr>
          <p:cNvPr id="10" name="Shape 8"/>
          <p:cNvSpPr/>
          <p:nvPr/>
        </p:nvSpPr>
        <p:spPr>
          <a:xfrm>
            <a:off x="1129284" y="1536192"/>
            <a:ext cx="411480" cy="411480"/>
          </a:xfrm>
          <a:prstGeom prst="ellipse">
            <a:avLst/>
          </a:prstGeom>
          <a:solidFill>
            <a:srgbClr val="4A8DA8"/>
          </a:solidFill>
          <a:ln/>
        </p:spPr>
      </p:sp>
      <p:pic>
        <p:nvPicPr>
          <p:cNvPr id="11" name="Image 0" descr="preencoded.png">    </p:cNvPr>
          <p:cNvPicPr>
            <a:picLocks noChangeAspect="1"/>
          </p:cNvPicPr>
          <p:nvPr/>
        </p:nvPicPr>
        <p:blipFill>
          <a:blip r:embed="rId1"/>
          <a:stretch>
            <a:fillRect/>
          </a:stretch>
        </p:blipFill>
        <p:spPr>
          <a:xfrm>
            <a:off x="1207008" y="1613916"/>
            <a:ext cx="256032" cy="256032"/>
          </a:xfrm>
          <a:prstGeom prst="rect">
            <a:avLst/>
          </a:prstGeom>
        </p:spPr>
      </p:pic>
      <p:sp>
        <p:nvSpPr>
          <p:cNvPr id="12" name="Text 9"/>
          <p:cNvSpPr/>
          <p:nvPr/>
        </p:nvSpPr>
        <p:spPr>
          <a:xfrm>
            <a:off x="621792" y="2029968"/>
            <a:ext cx="1426464"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Medical Supplies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&amp; Distribution</a:t>
            </a:r>
            <a:endParaRPr lang="en-US" sz="1000" dirty="0"/>
          </a:p>
        </p:txBody>
      </p:sp>
      <p:sp>
        <p:nvSpPr>
          <p:cNvPr id="13" name="Shape 10"/>
          <p:cNvSpPr/>
          <p:nvPr/>
        </p:nvSpPr>
        <p:spPr>
          <a:xfrm>
            <a:off x="731520" y="2542032"/>
            <a:ext cx="1207008" cy="0"/>
          </a:xfrm>
          <a:prstGeom prst="line">
            <a:avLst/>
          </a:prstGeom>
          <a:noFill/>
          <a:ln w="12700">
            <a:solidFill>
              <a:srgbClr val="4A8DA8"/>
            </a:solidFill>
            <a:prstDash val="solid"/>
          </a:ln>
        </p:spPr>
      </p:sp>
      <p:sp>
        <p:nvSpPr>
          <p:cNvPr id="14" name="Text 11"/>
          <p:cNvSpPr/>
          <p:nvPr/>
        </p:nvSpPr>
        <p:spPr>
          <a:xfrm>
            <a:off x="658368" y="267004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McKesson Medical</a:t>
            </a:r>
            <a:endParaRPr lang="en-US" sz="950" dirty="0"/>
          </a:p>
        </p:txBody>
      </p:sp>
      <p:sp>
        <p:nvSpPr>
          <p:cNvPr id="15" name="Text 12"/>
          <p:cNvSpPr/>
          <p:nvPr/>
        </p:nvSpPr>
        <p:spPr>
          <a:xfrm>
            <a:off x="658368" y="285292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3 engagements</a:t>
            </a:r>
            <a:endParaRPr lang="en-US" sz="800" dirty="0"/>
          </a:p>
        </p:txBody>
      </p:sp>
      <p:sp>
        <p:nvSpPr>
          <p:cNvPr id="16" name="Text 13"/>
          <p:cNvSpPr/>
          <p:nvPr/>
        </p:nvSpPr>
        <p:spPr>
          <a:xfrm>
            <a:off x="658368" y="317296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Medline Industries</a:t>
            </a:r>
            <a:endParaRPr lang="en-US" sz="950" dirty="0"/>
          </a:p>
        </p:txBody>
      </p:sp>
      <p:sp>
        <p:nvSpPr>
          <p:cNvPr id="17" name="Text 14"/>
          <p:cNvSpPr/>
          <p:nvPr/>
        </p:nvSpPr>
        <p:spPr>
          <a:xfrm>
            <a:off x="658368" y="335584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3 engagements</a:t>
            </a:r>
            <a:endParaRPr lang="en-US" sz="800" dirty="0"/>
          </a:p>
        </p:txBody>
      </p:sp>
      <p:sp>
        <p:nvSpPr>
          <p:cNvPr id="18" name="Text 15"/>
          <p:cNvSpPr/>
          <p:nvPr/>
        </p:nvSpPr>
        <p:spPr>
          <a:xfrm>
            <a:off x="658368" y="367588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Cardinal Health</a:t>
            </a:r>
            <a:endParaRPr lang="en-US" sz="950" dirty="0"/>
          </a:p>
        </p:txBody>
      </p:sp>
      <p:sp>
        <p:nvSpPr>
          <p:cNvPr id="19" name="Text 16"/>
          <p:cNvSpPr/>
          <p:nvPr/>
        </p:nvSpPr>
        <p:spPr>
          <a:xfrm>
            <a:off x="658368" y="385876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3 engagements</a:t>
            </a:r>
            <a:endParaRPr lang="en-US" sz="800" dirty="0"/>
          </a:p>
        </p:txBody>
      </p:sp>
      <p:sp>
        <p:nvSpPr>
          <p:cNvPr id="20" name="Text 17"/>
          <p:cNvSpPr/>
          <p:nvPr/>
        </p:nvSpPr>
        <p:spPr>
          <a:xfrm>
            <a:off x="658368" y="417880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Henry Schein</a:t>
            </a:r>
            <a:endParaRPr lang="en-US" sz="950" dirty="0"/>
          </a:p>
        </p:txBody>
      </p:sp>
      <p:sp>
        <p:nvSpPr>
          <p:cNvPr id="21" name="Text 18"/>
          <p:cNvSpPr/>
          <p:nvPr/>
        </p:nvSpPr>
        <p:spPr>
          <a:xfrm>
            <a:off x="658368" y="436168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2 engagements</a:t>
            </a:r>
            <a:endParaRPr lang="en-US" sz="800" dirty="0"/>
          </a:p>
        </p:txBody>
      </p:sp>
      <p:sp>
        <p:nvSpPr>
          <p:cNvPr id="22" name="Shape 19"/>
          <p:cNvSpPr/>
          <p:nvPr/>
        </p:nvSpPr>
        <p:spPr>
          <a:xfrm>
            <a:off x="2212848" y="1371600"/>
            <a:ext cx="1572768" cy="3383280"/>
          </a:xfrm>
          <a:prstGeom prst="rect">
            <a:avLst/>
          </a:prstGeom>
          <a:solidFill>
            <a:srgbClr val="243546"/>
          </a:solidFill>
          <a:ln/>
          <a:effectLst>
            <a:outerShdw sx="100000" sy="100000" kx="0" ky="0" algn="bl" rotWithShape="0" blurRad="50800" dist="25400" dir="8100000">
              <a:srgbClr val="000000">
                <a:alpha val="12000"/>
              </a:srgbClr>
            </a:outerShdw>
          </a:effectLst>
        </p:spPr>
      </p:sp>
      <p:sp>
        <p:nvSpPr>
          <p:cNvPr id="23" name="Shape 20"/>
          <p:cNvSpPr/>
          <p:nvPr/>
        </p:nvSpPr>
        <p:spPr>
          <a:xfrm>
            <a:off x="2793492" y="1536192"/>
            <a:ext cx="411480" cy="411480"/>
          </a:xfrm>
          <a:prstGeom prst="ellipse">
            <a:avLst/>
          </a:prstGeom>
          <a:solidFill>
            <a:srgbClr val="4A8DA8"/>
          </a:solidFill>
          <a:ln/>
        </p:spPr>
      </p:sp>
      <p:pic>
        <p:nvPicPr>
          <p:cNvPr id="24" name="Image 1" descr="preencoded.png">    </p:cNvPr>
          <p:cNvPicPr>
            <a:picLocks noChangeAspect="1"/>
          </p:cNvPicPr>
          <p:nvPr/>
        </p:nvPicPr>
        <p:blipFill>
          <a:blip r:embed="rId2"/>
          <a:stretch>
            <a:fillRect/>
          </a:stretch>
        </p:blipFill>
        <p:spPr>
          <a:xfrm>
            <a:off x="2871216" y="1613916"/>
            <a:ext cx="256032" cy="256032"/>
          </a:xfrm>
          <a:prstGeom prst="rect">
            <a:avLst/>
          </a:prstGeom>
        </p:spPr>
      </p:pic>
      <p:sp>
        <p:nvSpPr>
          <p:cNvPr id="25" name="Text 21"/>
          <p:cNvSpPr/>
          <p:nvPr/>
        </p:nvSpPr>
        <p:spPr>
          <a:xfrm>
            <a:off x="2286000" y="2029968"/>
            <a:ext cx="1426464"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EMR / RCM</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&amp; Billing</a:t>
            </a:r>
            <a:endParaRPr lang="en-US" sz="1000" dirty="0"/>
          </a:p>
        </p:txBody>
      </p:sp>
      <p:sp>
        <p:nvSpPr>
          <p:cNvPr id="26" name="Shape 22"/>
          <p:cNvSpPr/>
          <p:nvPr/>
        </p:nvSpPr>
        <p:spPr>
          <a:xfrm>
            <a:off x="2395728" y="2542032"/>
            <a:ext cx="1207008" cy="0"/>
          </a:xfrm>
          <a:prstGeom prst="line">
            <a:avLst/>
          </a:prstGeom>
          <a:noFill/>
          <a:ln w="12700">
            <a:solidFill>
              <a:srgbClr val="4A8DA8"/>
            </a:solidFill>
            <a:prstDash val="solid"/>
          </a:ln>
        </p:spPr>
      </p:sp>
      <p:sp>
        <p:nvSpPr>
          <p:cNvPr id="27" name="Text 23"/>
          <p:cNvSpPr/>
          <p:nvPr/>
        </p:nvSpPr>
        <p:spPr>
          <a:xfrm>
            <a:off x="2322576" y="267004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athenahealth</a:t>
            </a:r>
            <a:endParaRPr lang="en-US" sz="950" dirty="0"/>
          </a:p>
        </p:txBody>
      </p:sp>
      <p:sp>
        <p:nvSpPr>
          <p:cNvPr id="28" name="Text 24"/>
          <p:cNvSpPr/>
          <p:nvPr/>
        </p:nvSpPr>
        <p:spPr>
          <a:xfrm>
            <a:off x="2322576" y="285292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3 engagements</a:t>
            </a:r>
            <a:endParaRPr lang="en-US" sz="800" dirty="0"/>
          </a:p>
        </p:txBody>
      </p:sp>
      <p:sp>
        <p:nvSpPr>
          <p:cNvPr id="29" name="Text 25"/>
          <p:cNvSpPr/>
          <p:nvPr/>
        </p:nvSpPr>
        <p:spPr>
          <a:xfrm>
            <a:off x="2322576" y="317296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Sigmund Software</a:t>
            </a:r>
            <a:endParaRPr lang="en-US" sz="950" dirty="0"/>
          </a:p>
        </p:txBody>
      </p:sp>
      <p:sp>
        <p:nvSpPr>
          <p:cNvPr id="30" name="Text 26"/>
          <p:cNvSpPr/>
          <p:nvPr/>
        </p:nvSpPr>
        <p:spPr>
          <a:xfrm>
            <a:off x="2322576" y="335584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1 engagement</a:t>
            </a:r>
            <a:endParaRPr lang="en-US" sz="800" dirty="0"/>
          </a:p>
        </p:txBody>
      </p:sp>
      <p:sp>
        <p:nvSpPr>
          <p:cNvPr id="31" name="Text 27"/>
          <p:cNvSpPr/>
          <p:nvPr/>
        </p:nvSpPr>
        <p:spPr>
          <a:xfrm>
            <a:off x="2322576" y="367588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Modernizing Medicine</a:t>
            </a:r>
            <a:endParaRPr lang="en-US" sz="950" dirty="0"/>
          </a:p>
        </p:txBody>
      </p:sp>
      <p:sp>
        <p:nvSpPr>
          <p:cNvPr id="32" name="Text 28"/>
          <p:cNvSpPr/>
          <p:nvPr/>
        </p:nvSpPr>
        <p:spPr>
          <a:xfrm>
            <a:off x="2322576" y="385876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1 engagement</a:t>
            </a:r>
            <a:endParaRPr lang="en-US" sz="800" dirty="0"/>
          </a:p>
        </p:txBody>
      </p:sp>
      <p:sp>
        <p:nvSpPr>
          <p:cNvPr id="33" name="Text 29"/>
          <p:cNvSpPr/>
          <p:nvPr/>
        </p:nvSpPr>
        <p:spPr>
          <a:xfrm>
            <a:off x="2322576" y="417880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Nextech</a:t>
            </a:r>
            <a:endParaRPr lang="en-US" sz="950" dirty="0"/>
          </a:p>
        </p:txBody>
      </p:sp>
      <p:sp>
        <p:nvSpPr>
          <p:cNvPr id="34" name="Text 30"/>
          <p:cNvSpPr/>
          <p:nvPr/>
        </p:nvSpPr>
        <p:spPr>
          <a:xfrm>
            <a:off x="2322576" y="436168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1 engagement</a:t>
            </a:r>
            <a:endParaRPr lang="en-US" sz="800" dirty="0"/>
          </a:p>
        </p:txBody>
      </p:sp>
      <p:sp>
        <p:nvSpPr>
          <p:cNvPr id="35" name="Shape 31"/>
          <p:cNvSpPr/>
          <p:nvPr/>
        </p:nvSpPr>
        <p:spPr>
          <a:xfrm>
            <a:off x="3877056" y="1371600"/>
            <a:ext cx="1572768" cy="3383280"/>
          </a:xfrm>
          <a:prstGeom prst="rect">
            <a:avLst/>
          </a:prstGeom>
          <a:solidFill>
            <a:srgbClr val="243546"/>
          </a:solidFill>
          <a:ln/>
          <a:effectLst>
            <a:outerShdw sx="100000" sy="100000" kx="0" ky="0" algn="bl" rotWithShape="0" blurRad="50800" dist="25400" dir="8100000">
              <a:srgbClr val="000000">
                <a:alpha val="12000"/>
              </a:srgbClr>
            </a:outerShdw>
          </a:effectLst>
        </p:spPr>
      </p:sp>
      <p:sp>
        <p:nvSpPr>
          <p:cNvPr id="36" name="Shape 32"/>
          <p:cNvSpPr/>
          <p:nvPr/>
        </p:nvSpPr>
        <p:spPr>
          <a:xfrm>
            <a:off x="4457700" y="1536192"/>
            <a:ext cx="411480" cy="411480"/>
          </a:xfrm>
          <a:prstGeom prst="ellipse">
            <a:avLst/>
          </a:prstGeom>
          <a:solidFill>
            <a:srgbClr val="4A8DA8"/>
          </a:solidFill>
          <a:ln/>
        </p:spPr>
      </p:sp>
      <p:pic>
        <p:nvPicPr>
          <p:cNvPr id="37" name="Image 2" descr="preencoded.png">    </p:cNvPr>
          <p:cNvPicPr>
            <a:picLocks noChangeAspect="1"/>
          </p:cNvPicPr>
          <p:nvPr/>
        </p:nvPicPr>
        <p:blipFill>
          <a:blip r:embed="rId3"/>
          <a:stretch>
            <a:fillRect/>
          </a:stretch>
        </p:blipFill>
        <p:spPr>
          <a:xfrm>
            <a:off x="4535424" y="1613916"/>
            <a:ext cx="256032" cy="256032"/>
          </a:xfrm>
          <a:prstGeom prst="rect">
            <a:avLst/>
          </a:prstGeom>
        </p:spPr>
      </p:pic>
      <p:sp>
        <p:nvSpPr>
          <p:cNvPr id="38" name="Text 33"/>
          <p:cNvSpPr/>
          <p:nvPr/>
        </p:nvSpPr>
        <p:spPr>
          <a:xfrm>
            <a:off x="3950208" y="2029968"/>
            <a:ext cx="1426464"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Lab &amp; Clinical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Services</a:t>
            </a:r>
            <a:endParaRPr lang="en-US" sz="1000" dirty="0"/>
          </a:p>
        </p:txBody>
      </p:sp>
      <p:sp>
        <p:nvSpPr>
          <p:cNvPr id="39" name="Shape 34"/>
          <p:cNvSpPr/>
          <p:nvPr/>
        </p:nvSpPr>
        <p:spPr>
          <a:xfrm>
            <a:off x="4059936" y="2542032"/>
            <a:ext cx="1207008" cy="0"/>
          </a:xfrm>
          <a:prstGeom prst="line">
            <a:avLst/>
          </a:prstGeom>
          <a:noFill/>
          <a:ln w="12700">
            <a:solidFill>
              <a:srgbClr val="4A8DA8"/>
            </a:solidFill>
            <a:prstDash val="solid"/>
          </a:ln>
        </p:spPr>
      </p:sp>
      <p:sp>
        <p:nvSpPr>
          <p:cNvPr id="40" name="Text 35"/>
          <p:cNvSpPr/>
          <p:nvPr/>
        </p:nvSpPr>
        <p:spPr>
          <a:xfrm>
            <a:off x="3986784" y="267004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LabCorp</a:t>
            </a:r>
            <a:endParaRPr lang="en-US" sz="950" dirty="0"/>
          </a:p>
        </p:txBody>
      </p:sp>
      <p:sp>
        <p:nvSpPr>
          <p:cNvPr id="41" name="Text 36"/>
          <p:cNvSpPr/>
          <p:nvPr/>
        </p:nvSpPr>
        <p:spPr>
          <a:xfrm>
            <a:off x="3986784" y="285292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1 engagement</a:t>
            </a:r>
            <a:endParaRPr lang="en-US" sz="800" dirty="0"/>
          </a:p>
        </p:txBody>
      </p:sp>
      <p:sp>
        <p:nvSpPr>
          <p:cNvPr id="42" name="Text 37"/>
          <p:cNvSpPr/>
          <p:nvPr/>
        </p:nvSpPr>
        <p:spPr>
          <a:xfrm>
            <a:off x="3986784" y="317296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Quest Diagnostics</a:t>
            </a:r>
            <a:endParaRPr lang="en-US" sz="950" dirty="0"/>
          </a:p>
        </p:txBody>
      </p:sp>
      <p:sp>
        <p:nvSpPr>
          <p:cNvPr id="43" name="Text 38"/>
          <p:cNvSpPr/>
          <p:nvPr/>
        </p:nvSpPr>
        <p:spPr>
          <a:xfrm>
            <a:off x="3986784" y="335584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1 engagement</a:t>
            </a:r>
            <a:endParaRPr lang="en-US" sz="800" dirty="0"/>
          </a:p>
        </p:txBody>
      </p:sp>
      <p:sp>
        <p:nvSpPr>
          <p:cNvPr id="44" name="Text 39"/>
          <p:cNvSpPr/>
          <p:nvPr/>
        </p:nvSpPr>
        <p:spPr>
          <a:xfrm>
            <a:off x="3986784" y="367588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Provista GPO</a:t>
            </a:r>
            <a:endParaRPr lang="en-US" sz="950" dirty="0"/>
          </a:p>
        </p:txBody>
      </p:sp>
      <p:sp>
        <p:nvSpPr>
          <p:cNvPr id="45" name="Text 40"/>
          <p:cNvSpPr/>
          <p:nvPr/>
        </p:nvSpPr>
        <p:spPr>
          <a:xfrm>
            <a:off x="3986784" y="385876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2 engagements</a:t>
            </a:r>
            <a:endParaRPr lang="en-US" sz="800" dirty="0"/>
          </a:p>
        </p:txBody>
      </p:sp>
      <p:sp>
        <p:nvSpPr>
          <p:cNvPr id="46" name="Text 41"/>
          <p:cNvSpPr/>
          <p:nvPr/>
        </p:nvSpPr>
        <p:spPr>
          <a:xfrm>
            <a:off x="3986784" y="417880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HPG / Premier GPO</a:t>
            </a:r>
            <a:endParaRPr lang="en-US" sz="950" dirty="0"/>
          </a:p>
        </p:txBody>
      </p:sp>
      <p:sp>
        <p:nvSpPr>
          <p:cNvPr id="47" name="Text 42"/>
          <p:cNvSpPr/>
          <p:nvPr/>
        </p:nvSpPr>
        <p:spPr>
          <a:xfrm>
            <a:off x="3986784" y="436168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2 engagements</a:t>
            </a:r>
            <a:endParaRPr lang="en-US" sz="800" dirty="0"/>
          </a:p>
        </p:txBody>
      </p:sp>
      <p:sp>
        <p:nvSpPr>
          <p:cNvPr id="48" name="Shape 43"/>
          <p:cNvSpPr/>
          <p:nvPr/>
        </p:nvSpPr>
        <p:spPr>
          <a:xfrm>
            <a:off x="5541264" y="1371600"/>
            <a:ext cx="1572768" cy="3383280"/>
          </a:xfrm>
          <a:prstGeom prst="rect">
            <a:avLst/>
          </a:prstGeom>
          <a:solidFill>
            <a:srgbClr val="243546"/>
          </a:solidFill>
          <a:ln/>
          <a:effectLst>
            <a:outerShdw sx="100000" sy="100000" kx="0" ky="0" algn="bl" rotWithShape="0" blurRad="50800" dist="25400" dir="8100000">
              <a:srgbClr val="000000">
                <a:alpha val="12000"/>
              </a:srgbClr>
            </a:outerShdw>
          </a:effectLst>
        </p:spPr>
      </p:sp>
      <p:sp>
        <p:nvSpPr>
          <p:cNvPr id="49" name="Shape 44"/>
          <p:cNvSpPr/>
          <p:nvPr/>
        </p:nvSpPr>
        <p:spPr>
          <a:xfrm>
            <a:off x="6121908" y="1536192"/>
            <a:ext cx="411480" cy="411480"/>
          </a:xfrm>
          <a:prstGeom prst="ellipse">
            <a:avLst/>
          </a:prstGeom>
          <a:solidFill>
            <a:srgbClr val="4A8DA8"/>
          </a:solidFill>
          <a:ln/>
        </p:spPr>
      </p:sp>
      <p:pic>
        <p:nvPicPr>
          <p:cNvPr id="50" name="Image 3" descr="preencoded.png">    </p:cNvPr>
          <p:cNvPicPr>
            <a:picLocks noChangeAspect="1"/>
          </p:cNvPicPr>
          <p:nvPr/>
        </p:nvPicPr>
        <p:blipFill>
          <a:blip r:embed="rId4"/>
          <a:stretch>
            <a:fillRect/>
          </a:stretch>
        </p:blipFill>
        <p:spPr>
          <a:xfrm>
            <a:off x="6199632" y="1613916"/>
            <a:ext cx="256032" cy="256032"/>
          </a:xfrm>
          <a:prstGeom prst="rect">
            <a:avLst/>
          </a:prstGeom>
        </p:spPr>
      </p:pic>
      <p:sp>
        <p:nvSpPr>
          <p:cNvPr id="51" name="Text 45"/>
          <p:cNvSpPr/>
          <p:nvPr/>
        </p:nvSpPr>
        <p:spPr>
          <a:xfrm>
            <a:off x="5614416" y="2029968"/>
            <a:ext cx="1426464"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IT, Telecom</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&amp; Print</a:t>
            </a:r>
            <a:endParaRPr lang="en-US" sz="1000" dirty="0"/>
          </a:p>
        </p:txBody>
      </p:sp>
      <p:sp>
        <p:nvSpPr>
          <p:cNvPr id="52" name="Shape 46"/>
          <p:cNvSpPr/>
          <p:nvPr/>
        </p:nvSpPr>
        <p:spPr>
          <a:xfrm>
            <a:off x="5724144" y="2542032"/>
            <a:ext cx="1207008" cy="0"/>
          </a:xfrm>
          <a:prstGeom prst="line">
            <a:avLst/>
          </a:prstGeom>
          <a:noFill/>
          <a:ln w="12700">
            <a:solidFill>
              <a:srgbClr val="4A8DA8"/>
            </a:solidFill>
            <a:prstDash val="solid"/>
          </a:ln>
        </p:spPr>
      </p:sp>
      <p:sp>
        <p:nvSpPr>
          <p:cNvPr id="53" name="Text 47"/>
          <p:cNvSpPr/>
          <p:nvPr/>
        </p:nvSpPr>
        <p:spPr>
          <a:xfrm>
            <a:off x="5650992" y="267004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Comcast Business</a:t>
            </a:r>
            <a:endParaRPr lang="en-US" sz="950" dirty="0"/>
          </a:p>
        </p:txBody>
      </p:sp>
      <p:sp>
        <p:nvSpPr>
          <p:cNvPr id="54" name="Text 48"/>
          <p:cNvSpPr/>
          <p:nvPr/>
        </p:nvSpPr>
        <p:spPr>
          <a:xfrm>
            <a:off x="5650992" y="285292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1 engagement</a:t>
            </a:r>
            <a:endParaRPr lang="en-US" sz="800" dirty="0"/>
          </a:p>
        </p:txBody>
      </p:sp>
      <p:sp>
        <p:nvSpPr>
          <p:cNvPr id="55" name="Text 49"/>
          <p:cNvSpPr/>
          <p:nvPr/>
        </p:nvSpPr>
        <p:spPr>
          <a:xfrm>
            <a:off x="5650992" y="317296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PC Connection</a:t>
            </a:r>
            <a:endParaRPr lang="en-US" sz="950" dirty="0"/>
          </a:p>
        </p:txBody>
      </p:sp>
      <p:sp>
        <p:nvSpPr>
          <p:cNvPr id="56" name="Text 50"/>
          <p:cNvSpPr/>
          <p:nvPr/>
        </p:nvSpPr>
        <p:spPr>
          <a:xfrm>
            <a:off x="5650992" y="335584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2 engagements</a:t>
            </a:r>
            <a:endParaRPr lang="en-US" sz="800" dirty="0"/>
          </a:p>
        </p:txBody>
      </p:sp>
      <p:sp>
        <p:nvSpPr>
          <p:cNvPr id="57" name="Text 51"/>
          <p:cNvSpPr/>
          <p:nvPr/>
        </p:nvSpPr>
        <p:spPr>
          <a:xfrm>
            <a:off x="5650992" y="367588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GHA Technologies</a:t>
            </a:r>
            <a:endParaRPr lang="en-US" sz="950" dirty="0"/>
          </a:p>
        </p:txBody>
      </p:sp>
      <p:sp>
        <p:nvSpPr>
          <p:cNvPr id="58" name="Text 52"/>
          <p:cNvSpPr/>
          <p:nvPr/>
        </p:nvSpPr>
        <p:spPr>
          <a:xfrm>
            <a:off x="5650992" y="385876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1 engagement</a:t>
            </a:r>
            <a:endParaRPr lang="en-US" sz="800" dirty="0"/>
          </a:p>
        </p:txBody>
      </p:sp>
      <p:sp>
        <p:nvSpPr>
          <p:cNvPr id="59" name="Text 53"/>
          <p:cNvSpPr/>
          <p:nvPr/>
        </p:nvSpPr>
        <p:spPr>
          <a:xfrm>
            <a:off x="5650992" y="417880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Konica Minolta</a:t>
            </a:r>
            <a:endParaRPr lang="en-US" sz="950" dirty="0"/>
          </a:p>
        </p:txBody>
      </p:sp>
      <p:sp>
        <p:nvSpPr>
          <p:cNvPr id="60" name="Text 54"/>
          <p:cNvSpPr/>
          <p:nvPr/>
        </p:nvSpPr>
        <p:spPr>
          <a:xfrm>
            <a:off x="5650992" y="436168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1 engagement</a:t>
            </a:r>
            <a:endParaRPr lang="en-US" sz="800" dirty="0"/>
          </a:p>
        </p:txBody>
      </p:sp>
      <p:sp>
        <p:nvSpPr>
          <p:cNvPr id="61" name="Shape 55"/>
          <p:cNvSpPr/>
          <p:nvPr/>
        </p:nvSpPr>
        <p:spPr>
          <a:xfrm>
            <a:off x="7205472" y="1371600"/>
            <a:ext cx="1572768" cy="3383280"/>
          </a:xfrm>
          <a:prstGeom prst="rect">
            <a:avLst/>
          </a:prstGeom>
          <a:solidFill>
            <a:srgbClr val="243546"/>
          </a:solidFill>
          <a:ln/>
          <a:effectLst>
            <a:outerShdw sx="100000" sy="100000" kx="0" ky="0" algn="bl" rotWithShape="0" blurRad="50800" dist="25400" dir="8100000">
              <a:srgbClr val="000000">
                <a:alpha val="12000"/>
              </a:srgbClr>
            </a:outerShdw>
          </a:effectLst>
        </p:spPr>
      </p:sp>
      <p:sp>
        <p:nvSpPr>
          <p:cNvPr id="62" name="Shape 56"/>
          <p:cNvSpPr/>
          <p:nvPr/>
        </p:nvSpPr>
        <p:spPr>
          <a:xfrm>
            <a:off x="7786116" y="1536192"/>
            <a:ext cx="411480" cy="411480"/>
          </a:xfrm>
          <a:prstGeom prst="ellipse">
            <a:avLst/>
          </a:prstGeom>
          <a:solidFill>
            <a:srgbClr val="4A8DA8"/>
          </a:solidFill>
          <a:ln/>
        </p:spPr>
      </p:sp>
      <p:pic>
        <p:nvPicPr>
          <p:cNvPr id="63" name="Image 4" descr="preencoded.png">    </p:cNvPr>
          <p:cNvPicPr>
            <a:picLocks noChangeAspect="1"/>
          </p:cNvPicPr>
          <p:nvPr/>
        </p:nvPicPr>
        <p:blipFill>
          <a:blip r:embed="rId5"/>
          <a:stretch>
            <a:fillRect/>
          </a:stretch>
        </p:blipFill>
        <p:spPr>
          <a:xfrm>
            <a:off x="7863840" y="1613916"/>
            <a:ext cx="256032" cy="256032"/>
          </a:xfrm>
          <a:prstGeom prst="rect">
            <a:avLst/>
          </a:prstGeom>
        </p:spPr>
      </p:pic>
      <p:sp>
        <p:nvSpPr>
          <p:cNvPr id="64" name="Text 57"/>
          <p:cNvSpPr/>
          <p:nvPr/>
        </p:nvSpPr>
        <p:spPr>
          <a:xfrm>
            <a:off x="7278624" y="2029968"/>
            <a:ext cx="1426464"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Facilities, Staffing</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&amp; Logistics</a:t>
            </a:r>
            <a:endParaRPr lang="en-US" sz="1000" dirty="0"/>
          </a:p>
        </p:txBody>
      </p:sp>
      <p:sp>
        <p:nvSpPr>
          <p:cNvPr id="65" name="Shape 58"/>
          <p:cNvSpPr/>
          <p:nvPr/>
        </p:nvSpPr>
        <p:spPr>
          <a:xfrm>
            <a:off x="7388352" y="2542032"/>
            <a:ext cx="1207008" cy="0"/>
          </a:xfrm>
          <a:prstGeom prst="line">
            <a:avLst/>
          </a:prstGeom>
          <a:noFill/>
          <a:ln w="12700">
            <a:solidFill>
              <a:srgbClr val="4A8DA8"/>
            </a:solidFill>
            <a:prstDash val="solid"/>
          </a:ln>
        </p:spPr>
      </p:sp>
      <p:sp>
        <p:nvSpPr>
          <p:cNvPr id="66" name="Text 59"/>
          <p:cNvSpPr/>
          <p:nvPr/>
        </p:nvSpPr>
        <p:spPr>
          <a:xfrm>
            <a:off x="7315200" y="267004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UPS / FedEx</a:t>
            </a:r>
            <a:endParaRPr lang="en-US" sz="950" dirty="0"/>
          </a:p>
        </p:txBody>
      </p:sp>
      <p:sp>
        <p:nvSpPr>
          <p:cNvPr id="67" name="Text 60"/>
          <p:cNvSpPr/>
          <p:nvPr/>
        </p:nvSpPr>
        <p:spPr>
          <a:xfrm>
            <a:off x="7315200" y="285292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3 engagements</a:t>
            </a:r>
            <a:endParaRPr lang="en-US" sz="800" dirty="0"/>
          </a:p>
        </p:txBody>
      </p:sp>
      <p:sp>
        <p:nvSpPr>
          <p:cNvPr id="68" name="Text 61"/>
          <p:cNvSpPr/>
          <p:nvPr/>
        </p:nvSpPr>
        <p:spPr>
          <a:xfrm>
            <a:off x="7315200" y="317296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Enterprise Fleet</a:t>
            </a:r>
            <a:endParaRPr lang="en-US" sz="950" dirty="0"/>
          </a:p>
        </p:txBody>
      </p:sp>
      <p:sp>
        <p:nvSpPr>
          <p:cNvPr id="69" name="Text 62"/>
          <p:cNvSpPr/>
          <p:nvPr/>
        </p:nvSpPr>
        <p:spPr>
          <a:xfrm>
            <a:off x="7315200" y="335584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1 engagement</a:t>
            </a:r>
            <a:endParaRPr lang="en-US" sz="800" dirty="0"/>
          </a:p>
        </p:txBody>
      </p:sp>
      <p:sp>
        <p:nvSpPr>
          <p:cNvPr id="70" name="Text 63"/>
          <p:cNvSpPr/>
          <p:nvPr/>
        </p:nvSpPr>
        <p:spPr>
          <a:xfrm>
            <a:off x="7315200" y="367588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Randstad USA</a:t>
            </a:r>
            <a:endParaRPr lang="en-US" sz="950" dirty="0"/>
          </a:p>
        </p:txBody>
      </p:sp>
      <p:sp>
        <p:nvSpPr>
          <p:cNvPr id="71" name="Text 64"/>
          <p:cNvSpPr/>
          <p:nvPr/>
        </p:nvSpPr>
        <p:spPr>
          <a:xfrm>
            <a:off x="7315200" y="385876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1 engagement</a:t>
            </a:r>
            <a:endParaRPr lang="en-US" sz="800" dirty="0"/>
          </a:p>
        </p:txBody>
      </p:sp>
      <p:sp>
        <p:nvSpPr>
          <p:cNvPr id="72" name="Text 65"/>
          <p:cNvSpPr/>
          <p:nvPr/>
        </p:nvSpPr>
        <p:spPr>
          <a:xfrm>
            <a:off x="7315200" y="4178808"/>
            <a:ext cx="1353312"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Staffmark / OMNIA</a:t>
            </a:r>
            <a:endParaRPr lang="en-US" sz="950" dirty="0"/>
          </a:p>
        </p:txBody>
      </p:sp>
      <p:sp>
        <p:nvSpPr>
          <p:cNvPr id="73" name="Text 66"/>
          <p:cNvSpPr/>
          <p:nvPr/>
        </p:nvSpPr>
        <p:spPr>
          <a:xfrm>
            <a:off x="7315200" y="4361688"/>
            <a:ext cx="1353312" cy="164592"/>
          </a:xfrm>
          <a:prstGeom prst="rect">
            <a:avLst/>
          </a:prstGeom>
          <a:noFill/>
          <a:ln/>
        </p:spPr>
        <p:txBody>
          <a:bodyPr wrap="square" lIns="0" tIns="0" rIns="0" bIns="0" rtlCol="0" anchor="ctr"/>
          <a:lstStyle/>
          <a:p>
            <a:pPr indent="0" marL="0">
              <a:buNone/>
            </a:pPr>
            <a:r>
              <a:rPr lang="en-US" sz="800" i="1" dirty="0">
                <a:solidFill>
                  <a:srgbClr val="8B95A0"/>
                </a:solidFill>
                <a:latin typeface="Calibri" pitchFamily="34" charset="0"/>
                <a:ea typeface="Calibri" pitchFamily="34" charset="-122"/>
                <a:cs typeface="Calibri" pitchFamily="34" charset="-120"/>
              </a:rPr>
              <a:t>2 engagements</a:t>
            </a:r>
            <a:endParaRPr lang="en-US" sz="800" dirty="0"/>
          </a:p>
        </p:txBody>
      </p:sp>
      <p:sp>
        <p:nvSpPr>
          <p:cNvPr id="74" name="Text 67"/>
          <p:cNvSpPr/>
          <p:nvPr/>
        </p:nvSpPr>
        <p:spPr>
          <a:xfrm>
            <a:off x="7132320" y="4800600"/>
            <a:ext cx="155448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Calibri" pitchFamily="34" charset="0"/>
                <a:ea typeface="Calibri" pitchFamily="34" charset="-122"/>
                <a:cs typeface="Calibri" pitchFamily="34" charset="-120"/>
              </a:rPr>
              <a:t>TREYA </a:t>
            </a:r>
            <a:pPr algn="r" indent="0" marL="0">
              <a:buNone/>
            </a:pPr>
            <a:r>
              <a:rPr lang="en-US" sz="900" dirty="0">
                <a:solidFill>
                  <a:srgbClr val="FFFFFF"/>
                </a:solidFill>
                <a:latin typeface="Calibri" pitchFamily="34" charset="0"/>
                <a:ea typeface="Calibri" pitchFamily="34" charset="-122"/>
                <a:cs typeface="Calibri" pitchFamily="34" charset="-120"/>
              </a:rPr>
              <a:t>partners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B2838"/>
          </a:solidFill>
          <a:ln/>
        </p:spPr>
      </p:sp>
      <p:sp>
        <p:nvSpPr>
          <p:cNvPr id="3" name="Shape 1"/>
          <p:cNvSpPr/>
          <p:nvPr/>
        </p:nvSpPr>
        <p:spPr>
          <a:xfrm>
            <a:off x="0" y="0"/>
            <a:ext cx="9144000" cy="54864"/>
          </a:xfrm>
          <a:prstGeom prst="rect">
            <a:avLst/>
          </a:prstGeom>
          <a:solidFill>
            <a:srgbClr val="E87722"/>
          </a:solidFill>
          <a:ln/>
        </p:spPr>
      </p:sp>
      <p:sp>
        <p:nvSpPr>
          <p:cNvPr id="4" name="Text 2"/>
          <p:cNvSpPr/>
          <p:nvPr/>
        </p:nvSpPr>
        <p:spPr>
          <a:xfrm>
            <a:off x="548640" y="164592"/>
            <a:ext cx="77724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Supplier Battlecards: Built from Real Engagements</a:t>
            </a:r>
            <a:endParaRPr lang="en-US" sz="2200" dirty="0"/>
          </a:p>
        </p:txBody>
      </p:sp>
      <p:sp>
        <p:nvSpPr>
          <p:cNvPr id="5" name="Text 3"/>
          <p:cNvSpPr/>
          <p:nvPr/>
        </p:nvSpPr>
        <p:spPr>
          <a:xfrm>
            <a:off x="548640" y="576072"/>
            <a:ext cx="7772400" cy="347472"/>
          </a:xfrm>
          <a:prstGeom prst="rect">
            <a:avLst/>
          </a:prstGeom>
          <a:noFill/>
          <a:ln/>
        </p:spPr>
        <p:txBody>
          <a:bodyPr wrap="square" lIns="0" tIns="0" rIns="0" bIns="0" rtlCol="0" anchor="ctr"/>
          <a:lstStyle/>
          <a:p>
            <a:pPr indent="0" marL="0">
              <a:buNone/>
            </a:pPr>
            <a:r>
              <a:rPr lang="en-US" sz="1050" dirty="0">
                <a:solidFill>
                  <a:srgbClr val="8B95A0"/>
                </a:solidFill>
                <a:latin typeface="Calibri" pitchFamily="34" charset="0"/>
                <a:ea typeface="Calibri" pitchFamily="34" charset="-122"/>
                <a:cs typeface="Calibri" pitchFamily="34" charset="-120"/>
              </a:rPr>
              <a:t>Every battlecard is built on direct negotiation experience across multiple healthcare platforms — not secondary research.</a:t>
            </a:r>
            <a:endParaRPr lang="en-US" sz="1050" dirty="0"/>
          </a:p>
        </p:txBody>
      </p:sp>
      <p:sp>
        <p:nvSpPr>
          <p:cNvPr id="6" name="Shape 4"/>
          <p:cNvSpPr/>
          <p:nvPr/>
        </p:nvSpPr>
        <p:spPr>
          <a:xfrm>
            <a:off x="548640" y="1188720"/>
            <a:ext cx="3886200" cy="37033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7" name="Shape 5"/>
          <p:cNvSpPr/>
          <p:nvPr/>
        </p:nvSpPr>
        <p:spPr>
          <a:xfrm>
            <a:off x="548640" y="1188720"/>
            <a:ext cx="3886200" cy="54864"/>
          </a:xfrm>
          <a:prstGeom prst="rect">
            <a:avLst/>
          </a:prstGeom>
          <a:solidFill>
            <a:srgbClr val="4A8DA8"/>
          </a:solidFill>
          <a:ln/>
        </p:spPr>
      </p:sp>
      <p:sp>
        <p:nvSpPr>
          <p:cNvPr id="8" name="Shape 6"/>
          <p:cNvSpPr/>
          <p:nvPr/>
        </p:nvSpPr>
        <p:spPr>
          <a:xfrm>
            <a:off x="713232" y="1335024"/>
            <a:ext cx="2116836" cy="201168"/>
          </a:xfrm>
          <a:prstGeom prst="rect">
            <a:avLst/>
          </a:prstGeom>
          <a:solidFill>
            <a:srgbClr val="4A8DA8"/>
          </a:solidFill>
          <a:ln/>
        </p:spPr>
      </p:sp>
      <p:sp>
        <p:nvSpPr>
          <p:cNvPr id="9" name="Text 7"/>
          <p:cNvSpPr/>
          <p:nvPr/>
        </p:nvSpPr>
        <p:spPr>
          <a:xfrm>
            <a:off x="713232" y="1335024"/>
            <a:ext cx="2116836" cy="201168"/>
          </a:xfrm>
          <a:prstGeom prst="rect">
            <a:avLst/>
          </a:prstGeom>
          <a:noFill/>
          <a:ln/>
        </p:spPr>
        <p:txBody>
          <a:bodyPr wrap="square" lIns="0" tIns="0" rIns="0" bIns="0" rtlCol="0" anchor="ctr"/>
          <a:lstStyle/>
          <a:p>
            <a:pPr algn="ctr" indent="0" marL="0">
              <a:buNone/>
            </a:pPr>
            <a:r>
              <a:rPr lang="en-US" sz="750" b="1" spc="150" kern="0" dirty="0">
                <a:solidFill>
                  <a:srgbClr val="FFFFFF"/>
                </a:solidFill>
                <a:latin typeface="Calibri" pitchFamily="34" charset="0"/>
                <a:ea typeface="Calibri" pitchFamily="34" charset="-122"/>
                <a:cs typeface="Calibri" pitchFamily="34" charset="-120"/>
              </a:rPr>
              <a:t>MEDICAL SUPPLIES &amp; DISTRIBUTION</a:t>
            </a:r>
            <a:endParaRPr lang="en-US" sz="750" dirty="0"/>
          </a:p>
        </p:txBody>
      </p:sp>
      <p:sp>
        <p:nvSpPr>
          <p:cNvPr id="10" name="Text 8"/>
          <p:cNvSpPr/>
          <p:nvPr/>
        </p:nvSpPr>
        <p:spPr>
          <a:xfrm>
            <a:off x="713232" y="1609344"/>
            <a:ext cx="3557016" cy="274320"/>
          </a:xfrm>
          <a:prstGeom prst="rect">
            <a:avLst/>
          </a:prstGeom>
          <a:noFill/>
          <a:ln/>
        </p:spPr>
        <p:txBody>
          <a:bodyPr wrap="square" lIns="0" tIns="0" rIns="0" bIns="0" rtlCol="0" anchor="ctr"/>
          <a:lstStyle/>
          <a:p>
            <a:pPr indent="0" marL="0">
              <a:buNone/>
            </a:pPr>
            <a:r>
              <a:rPr lang="en-US" sz="1600" b="1" dirty="0">
                <a:solidFill>
                  <a:srgbClr val="1B2838"/>
                </a:solidFill>
                <a:latin typeface="Calibri" pitchFamily="34" charset="0"/>
                <a:ea typeface="Calibri" pitchFamily="34" charset="-122"/>
                <a:cs typeface="Calibri" pitchFamily="34" charset="-120"/>
              </a:rPr>
              <a:t>McKesson Medical-Surgical</a:t>
            </a:r>
            <a:endParaRPr lang="en-US" sz="1600" dirty="0"/>
          </a:p>
        </p:txBody>
      </p:sp>
      <p:sp>
        <p:nvSpPr>
          <p:cNvPr id="11" name="Text 9"/>
          <p:cNvSpPr/>
          <p:nvPr/>
        </p:nvSpPr>
        <p:spPr>
          <a:xfrm>
            <a:off x="713232" y="1883664"/>
            <a:ext cx="3557016" cy="201168"/>
          </a:xfrm>
          <a:prstGeom prst="rect">
            <a:avLst/>
          </a:prstGeom>
          <a:noFill/>
          <a:ln/>
        </p:spPr>
        <p:txBody>
          <a:bodyPr wrap="square" lIns="0" tIns="0" rIns="0" bIns="0" rtlCol="0" anchor="ctr"/>
          <a:lstStyle/>
          <a:p>
            <a:pPr indent="0" marL="0">
              <a:buNone/>
            </a:pPr>
            <a:r>
              <a:rPr lang="en-US" sz="900" b="1" dirty="0">
                <a:solidFill>
                  <a:srgbClr val="E87722"/>
                </a:solidFill>
                <a:latin typeface="Calibri" pitchFamily="34" charset="0"/>
                <a:ea typeface="Calibri" pitchFamily="34" charset="-122"/>
                <a:cs typeface="Calibri" pitchFamily="34" charset="-120"/>
              </a:rPr>
              <a:t>3 Engagements  |  14 - 27% Savings  |  $918K Combined Annual Impact</a:t>
            </a:r>
            <a:endParaRPr lang="en-US" sz="900" dirty="0"/>
          </a:p>
        </p:txBody>
      </p:sp>
      <p:sp>
        <p:nvSpPr>
          <p:cNvPr id="12" name="Shape 10"/>
          <p:cNvSpPr/>
          <p:nvPr/>
        </p:nvSpPr>
        <p:spPr>
          <a:xfrm>
            <a:off x="713232" y="2157984"/>
            <a:ext cx="3557016" cy="0"/>
          </a:xfrm>
          <a:prstGeom prst="line">
            <a:avLst/>
          </a:prstGeom>
          <a:noFill/>
          <a:ln w="6350">
            <a:solidFill>
              <a:srgbClr val="D0D5DA"/>
            </a:solidFill>
            <a:prstDash val="solid"/>
          </a:ln>
        </p:spPr>
      </p:sp>
      <p:sp>
        <p:nvSpPr>
          <p:cNvPr id="13" name="Text 11"/>
          <p:cNvSpPr/>
          <p:nvPr/>
        </p:nvSpPr>
        <p:spPr>
          <a:xfrm>
            <a:off x="713232" y="2231136"/>
            <a:ext cx="3557016" cy="164592"/>
          </a:xfrm>
          <a:prstGeom prst="rect">
            <a:avLst/>
          </a:prstGeom>
          <a:noFill/>
          <a:ln/>
        </p:spPr>
        <p:txBody>
          <a:bodyPr wrap="square" lIns="0" tIns="0" rIns="0" bIns="0" rtlCol="0" anchor="ctr"/>
          <a:lstStyle/>
          <a:p>
            <a:pPr indent="0" marL="0">
              <a:buNone/>
            </a:pPr>
            <a:r>
              <a:rPr lang="en-US" sz="750" b="1" spc="150" kern="0" dirty="0">
                <a:solidFill>
                  <a:srgbClr val="4A8DA8"/>
                </a:solidFill>
                <a:latin typeface="Calibri" pitchFamily="34" charset="0"/>
                <a:ea typeface="Calibri" pitchFamily="34" charset="-122"/>
                <a:cs typeface="Calibri" pitchFamily="34" charset="-120"/>
              </a:rPr>
              <a:t>WHAT WE KNOW</a:t>
            </a:r>
            <a:endParaRPr lang="en-US" sz="750" dirty="0"/>
          </a:p>
        </p:txBody>
      </p:sp>
      <p:sp>
        <p:nvSpPr>
          <p:cNvPr id="14" name="Text 12"/>
          <p:cNvSpPr/>
          <p:nvPr/>
        </p:nvSpPr>
        <p:spPr>
          <a:xfrm>
            <a:off x="713232" y="2395728"/>
            <a:ext cx="3557016" cy="960120"/>
          </a:xfrm>
          <a:prstGeom prst="rect">
            <a:avLst/>
          </a:prstGeom>
          <a:noFill/>
          <a:ln/>
        </p:spPr>
        <p:txBody>
          <a:bodyPr wrap="square" lIns="0" tIns="0" rIns="0" bIns="0" rtlCol="0" anchor="t"/>
          <a:lstStyle/>
          <a:p>
            <a:pPr indent="0" marL="0">
              <a:lnSpc>
                <a:spcPct val="115000"/>
              </a:lnSpc>
              <a:buNone/>
            </a:pPr>
            <a:r>
              <a:rPr lang="en-US" sz="850" dirty="0">
                <a:solidFill>
                  <a:srgbClr val="3A3F47"/>
                </a:solidFill>
                <a:latin typeface="Calibri" pitchFamily="34" charset="0"/>
                <a:ea typeface="Calibri" pitchFamily="34" charset="-122"/>
                <a:cs typeface="Calibri" pitchFamily="34" charset="-120"/>
              </a:rPr>
              <a:t>McKesson is the dominant medical supply distributor across post-acute and multi-site healthcare. They offer strong logistics with next-day delivery and deep formulary coverage — but their pricing consistently drifts 15-25% above market when contracts go uncontested. We have also seen recurring invoice accuracy issues in the months immediately following a new award, which means post-award auditing is essential.</a:t>
            </a:r>
            <a:endParaRPr lang="en-US" sz="850" dirty="0"/>
          </a:p>
        </p:txBody>
      </p:sp>
      <p:sp>
        <p:nvSpPr>
          <p:cNvPr id="15" name="Text 13"/>
          <p:cNvSpPr/>
          <p:nvPr/>
        </p:nvSpPr>
        <p:spPr>
          <a:xfrm>
            <a:off x="713232" y="3383280"/>
            <a:ext cx="3557016" cy="164592"/>
          </a:xfrm>
          <a:prstGeom prst="rect">
            <a:avLst/>
          </a:prstGeom>
          <a:noFill/>
          <a:ln/>
        </p:spPr>
        <p:txBody>
          <a:bodyPr wrap="square" lIns="0" tIns="0" rIns="0" bIns="0" rtlCol="0" anchor="ctr"/>
          <a:lstStyle/>
          <a:p>
            <a:pPr indent="0" marL="0">
              <a:buNone/>
            </a:pPr>
            <a:r>
              <a:rPr lang="en-US" sz="750" b="1" spc="150" kern="0" dirty="0">
                <a:solidFill>
                  <a:srgbClr val="4A8DA8"/>
                </a:solidFill>
                <a:latin typeface="Calibri" pitchFamily="34" charset="0"/>
                <a:ea typeface="Calibri" pitchFamily="34" charset="-122"/>
                <a:cs typeface="Calibri" pitchFamily="34" charset="-120"/>
              </a:rPr>
              <a:t>HOW WE NEGOTIATE</a:t>
            </a:r>
            <a:endParaRPr lang="en-US" sz="750" dirty="0"/>
          </a:p>
        </p:txBody>
      </p:sp>
      <p:sp>
        <p:nvSpPr>
          <p:cNvPr id="16" name="Text 14"/>
          <p:cNvSpPr/>
          <p:nvPr/>
        </p:nvSpPr>
        <p:spPr>
          <a:xfrm>
            <a:off x="713232" y="3547872"/>
            <a:ext cx="3557016" cy="1005840"/>
          </a:xfrm>
          <a:prstGeom prst="rect">
            <a:avLst/>
          </a:prstGeom>
          <a:noFill/>
          <a:ln/>
        </p:spPr>
        <p:txBody>
          <a:bodyPr wrap="square" lIns="0" tIns="0" rIns="0" bIns="0" rtlCol="0" anchor="t"/>
          <a:lstStyle/>
          <a:p>
            <a:pPr indent="0" marL="0">
              <a:lnSpc>
                <a:spcPct val="115000"/>
              </a:lnSpc>
              <a:buNone/>
            </a:pPr>
            <a:r>
              <a:rPr lang="en-US" sz="850" dirty="0">
                <a:solidFill>
                  <a:srgbClr val="3A3F47"/>
                </a:solidFill>
                <a:latin typeface="Calibri" pitchFamily="34" charset="0"/>
                <a:ea typeface="Calibri" pitchFamily="34" charset="-122"/>
                <a:cs typeface="Calibri" pitchFamily="34" charset="-120"/>
              </a:rPr>
              <a:t>We structure a formal 4-6 bidder RFP that includes Medline, Cardinal Health, and Henry Schein to create real competitive tension. We then benchmark pricing at the SKU level to expose specific gaps — not just top-line discounts — and pair that with consolidated enterprise volume across all locations. This approach has produced 14-27% reductions in every engagement where we have applied it.</a:t>
            </a:r>
            <a:endParaRPr lang="en-US" sz="850" dirty="0"/>
          </a:p>
        </p:txBody>
      </p:sp>
      <p:sp>
        <p:nvSpPr>
          <p:cNvPr id="17" name="Shape 15"/>
          <p:cNvSpPr/>
          <p:nvPr/>
        </p:nvSpPr>
        <p:spPr>
          <a:xfrm>
            <a:off x="548640" y="4599432"/>
            <a:ext cx="3886200" cy="292608"/>
          </a:xfrm>
          <a:prstGeom prst="rect">
            <a:avLst/>
          </a:prstGeom>
          <a:solidFill>
            <a:srgbClr val="1B2838"/>
          </a:solidFill>
          <a:ln/>
        </p:spPr>
      </p:sp>
      <p:sp>
        <p:nvSpPr>
          <p:cNvPr id="18" name="Text 16"/>
          <p:cNvSpPr/>
          <p:nvPr/>
        </p:nvSpPr>
        <p:spPr>
          <a:xfrm>
            <a:off x="713232" y="4599432"/>
            <a:ext cx="3557016" cy="292608"/>
          </a:xfrm>
          <a:prstGeom prst="rect">
            <a:avLst/>
          </a:prstGeom>
          <a:noFill/>
          <a:ln/>
        </p:spPr>
        <p:txBody>
          <a:bodyPr wrap="square" lIns="0" tIns="0" rIns="0" bIns="0" rtlCol="0" anchor="ctr"/>
          <a:lstStyle/>
          <a:p>
            <a:pPr algn="ctr" indent="0" marL="0">
              <a:buNone/>
            </a:pPr>
            <a:r>
              <a:rPr lang="en-US" sz="850" b="1" i="1" dirty="0">
                <a:solidFill>
                  <a:srgbClr val="FFFFFF"/>
                </a:solidFill>
                <a:latin typeface="Calibri" pitchFamily="34" charset="0"/>
                <a:ea typeface="Calibri" pitchFamily="34" charset="-122"/>
                <a:cs typeface="Calibri" pitchFamily="34" charset="-120"/>
              </a:rPr>
              <a:t>Awarded in all 3 healthcare engagements after structured competitive process</a:t>
            </a:r>
            <a:endParaRPr lang="en-US" sz="850" dirty="0"/>
          </a:p>
        </p:txBody>
      </p:sp>
      <p:sp>
        <p:nvSpPr>
          <p:cNvPr id="19" name="Shape 17"/>
          <p:cNvSpPr/>
          <p:nvPr/>
        </p:nvSpPr>
        <p:spPr>
          <a:xfrm>
            <a:off x="4709160" y="1188720"/>
            <a:ext cx="3886200" cy="37033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0" name="Shape 18"/>
          <p:cNvSpPr/>
          <p:nvPr/>
        </p:nvSpPr>
        <p:spPr>
          <a:xfrm>
            <a:off x="4709160" y="1188720"/>
            <a:ext cx="3886200" cy="54864"/>
          </a:xfrm>
          <a:prstGeom prst="rect">
            <a:avLst/>
          </a:prstGeom>
          <a:solidFill>
            <a:srgbClr val="E87722"/>
          </a:solidFill>
          <a:ln/>
        </p:spPr>
      </p:sp>
      <p:sp>
        <p:nvSpPr>
          <p:cNvPr id="21" name="Shape 19"/>
          <p:cNvSpPr/>
          <p:nvPr/>
        </p:nvSpPr>
        <p:spPr>
          <a:xfrm>
            <a:off x="4873752" y="1335024"/>
            <a:ext cx="1403604" cy="201168"/>
          </a:xfrm>
          <a:prstGeom prst="rect">
            <a:avLst/>
          </a:prstGeom>
          <a:solidFill>
            <a:srgbClr val="E87722"/>
          </a:solidFill>
          <a:ln/>
        </p:spPr>
      </p:sp>
      <p:sp>
        <p:nvSpPr>
          <p:cNvPr id="22" name="Text 20"/>
          <p:cNvSpPr/>
          <p:nvPr/>
        </p:nvSpPr>
        <p:spPr>
          <a:xfrm>
            <a:off x="4873752" y="1335024"/>
            <a:ext cx="1403604" cy="201168"/>
          </a:xfrm>
          <a:prstGeom prst="rect">
            <a:avLst/>
          </a:prstGeom>
          <a:noFill/>
          <a:ln/>
        </p:spPr>
        <p:txBody>
          <a:bodyPr wrap="square" lIns="0" tIns="0" rIns="0" bIns="0" rtlCol="0" anchor="ctr"/>
          <a:lstStyle/>
          <a:p>
            <a:pPr algn="ctr" indent="0" marL="0">
              <a:buNone/>
            </a:pPr>
            <a:r>
              <a:rPr lang="en-US" sz="750" b="1" spc="150" kern="0" dirty="0">
                <a:solidFill>
                  <a:srgbClr val="FFFFFF"/>
                </a:solidFill>
                <a:latin typeface="Calibri" pitchFamily="34" charset="0"/>
                <a:ea typeface="Calibri" pitchFamily="34" charset="-122"/>
                <a:cs typeface="Calibri" pitchFamily="34" charset="-120"/>
              </a:rPr>
              <a:t>EMR / REVENUE CYCLE</a:t>
            </a:r>
            <a:endParaRPr lang="en-US" sz="750" dirty="0"/>
          </a:p>
        </p:txBody>
      </p:sp>
      <p:sp>
        <p:nvSpPr>
          <p:cNvPr id="23" name="Text 21"/>
          <p:cNvSpPr/>
          <p:nvPr/>
        </p:nvSpPr>
        <p:spPr>
          <a:xfrm>
            <a:off x="4873752" y="1609344"/>
            <a:ext cx="3557016" cy="274320"/>
          </a:xfrm>
          <a:prstGeom prst="rect">
            <a:avLst/>
          </a:prstGeom>
          <a:noFill/>
          <a:ln/>
        </p:spPr>
        <p:txBody>
          <a:bodyPr wrap="square" lIns="0" tIns="0" rIns="0" bIns="0" rtlCol="0" anchor="ctr"/>
          <a:lstStyle/>
          <a:p>
            <a:pPr indent="0" marL="0">
              <a:buNone/>
            </a:pPr>
            <a:r>
              <a:rPr lang="en-US" sz="1600" b="1" dirty="0">
                <a:solidFill>
                  <a:srgbClr val="1B2838"/>
                </a:solidFill>
                <a:latin typeface="Calibri" pitchFamily="34" charset="0"/>
                <a:ea typeface="Calibri" pitchFamily="34" charset="-122"/>
                <a:cs typeface="Calibri" pitchFamily="34" charset="-120"/>
              </a:rPr>
              <a:t>athenahealth</a:t>
            </a:r>
            <a:endParaRPr lang="en-US" sz="1600" dirty="0"/>
          </a:p>
        </p:txBody>
      </p:sp>
      <p:sp>
        <p:nvSpPr>
          <p:cNvPr id="24" name="Text 22"/>
          <p:cNvSpPr/>
          <p:nvPr/>
        </p:nvSpPr>
        <p:spPr>
          <a:xfrm>
            <a:off x="4873752" y="1883664"/>
            <a:ext cx="3557016" cy="201168"/>
          </a:xfrm>
          <a:prstGeom prst="rect">
            <a:avLst/>
          </a:prstGeom>
          <a:noFill/>
          <a:ln/>
        </p:spPr>
        <p:txBody>
          <a:bodyPr wrap="square" lIns="0" tIns="0" rIns="0" bIns="0" rtlCol="0" anchor="ctr"/>
          <a:lstStyle/>
          <a:p>
            <a:pPr indent="0" marL="0">
              <a:buNone/>
            </a:pPr>
            <a:r>
              <a:rPr lang="en-US" sz="900" b="1" dirty="0">
                <a:solidFill>
                  <a:srgbClr val="E87722"/>
                </a:solidFill>
                <a:latin typeface="Calibri" pitchFamily="34" charset="0"/>
                <a:ea typeface="Calibri" pitchFamily="34" charset="-122"/>
                <a:cs typeface="Calibri" pitchFamily="34" charset="-120"/>
              </a:rPr>
              <a:t>3 Engagements  |  9 - 22% Savings  |  $877K Combined Annual Impact</a:t>
            </a:r>
            <a:endParaRPr lang="en-US" sz="900" dirty="0"/>
          </a:p>
        </p:txBody>
      </p:sp>
      <p:sp>
        <p:nvSpPr>
          <p:cNvPr id="25" name="Shape 23"/>
          <p:cNvSpPr/>
          <p:nvPr/>
        </p:nvSpPr>
        <p:spPr>
          <a:xfrm>
            <a:off x="4873752" y="2157984"/>
            <a:ext cx="3557016" cy="0"/>
          </a:xfrm>
          <a:prstGeom prst="line">
            <a:avLst/>
          </a:prstGeom>
          <a:noFill/>
          <a:ln w="6350">
            <a:solidFill>
              <a:srgbClr val="D0D5DA"/>
            </a:solidFill>
            <a:prstDash val="solid"/>
          </a:ln>
        </p:spPr>
      </p:sp>
      <p:sp>
        <p:nvSpPr>
          <p:cNvPr id="26" name="Text 24"/>
          <p:cNvSpPr/>
          <p:nvPr/>
        </p:nvSpPr>
        <p:spPr>
          <a:xfrm>
            <a:off x="4873752" y="2231136"/>
            <a:ext cx="3557016" cy="164592"/>
          </a:xfrm>
          <a:prstGeom prst="rect">
            <a:avLst/>
          </a:prstGeom>
          <a:noFill/>
          <a:ln/>
        </p:spPr>
        <p:txBody>
          <a:bodyPr wrap="square" lIns="0" tIns="0" rIns="0" bIns="0" rtlCol="0" anchor="ctr"/>
          <a:lstStyle/>
          <a:p>
            <a:pPr indent="0" marL="0">
              <a:buNone/>
            </a:pPr>
            <a:r>
              <a:rPr lang="en-US" sz="750" b="1" spc="150" kern="0" dirty="0">
                <a:solidFill>
                  <a:srgbClr val="4A8DA8"/>
                </a:solidFill>
                <a:latin typeface="Calibri" pitchFamily="34" charset="0"/>
                <a:ea typeface="Calibri" pitchFamily="34" charset="-122"/>
                <a:cs typeface="Calibri" pitchFamily="34" charset="-120"/>
              </a:rPr>
              <a:t>WHAT WE KNOW</a:t>
            </a:r>
            <a:endParaRPr lang="en-US" sz="750" dirty="0"/>
          </a:p>
        </p:txBody>
      </p:sp>
      <p:sp>
        <p:nvSpPr>
          <p:cNvPr id="27" name="Text 25"/>
          <p:cNvSpPr/>
          <p:nvPr/>
        </p:nvSpPr>
        <p:spPr>
          <a:xfrm>
            <a:off x="4873752" y="2395728"/>
            <a:ext cx="3557016" cy="960120"/>
          </a:xfrm>
          <a:prstGeom prst="rect">
            <a:avLst/>
          </a:prstGeom>
          <a:noFill/>
          <a:ln/>
        </p:spPr>
        <p:txBody>
          <a:bodyPr wrap="square" lIns="0" tIns="0" rIns="0" bIns="0" rtlCol="0" anchor="t"/>
          <a:lstStyle/>
          <a:p>
            <a:pPr indent="0" marL="0">
              <a:lnSpc>
                <a:spcPct val="115000"/>
              </a:lnSpc>
              <a:buNone/>
            </a:pPr>
            <a:r>
              <a:rPr lang="en-US" sz="850" dirty="0">
                <a:solidFill>
                  <a:srgbClr val="3A3F47"/>
                </a:solidFill>
                <a:latin typeface="Calibri" pitchFamily="34" charset="0"/>
                <a:ea typeface="Calibri" pitchFamily="34" charset="-122"/>
                <a:cs typeface="Calibri" pitchFamily="34" charset="-120"/>
              </a:rPr>
              <a:t>athenahealth dominates the mid-market EHR and RCM space, and they know it. Their integrated platform creates high switching costs — termination penalties can run as high as $9M — which they rely on to maintain pricing 25-40 basis points above market. In our experience, they rarely offer meaningful concessions unless faced with a credible, structured process that makes the cost of inaction clear.</a:t>
            </a:r>
            <a:endParaRPr lang="en-US" sz="850" dirty="0"/>
          </a:p>
        </p:txBody>
      </p:sp>
      <p:sp>
        <p:nvSpPr>
          <p:cNvPr id="28" name="Text 26"/>
          <p:cNvSpPr/>
          <p:nvPr/>
        </p:nvSpPr>
        <p:spPr>
          <a:xfrm>
            <a:off x="4873752" y="3383280"/>
            <a:ext cx="3557016" cy="164592"/>
          </a:xfrm>
          <a:prstGeom prst="rect">
            <a:avLst/>
          </a:prstGeom>
          <a:noFill/>
          <a:ln/>
        </p:spPr>
        <p:txBody>
          <a:bodyPr wrap="square" lIns="0" tIns="0" rIns="0" bIns="0" rtlCol="0" anchor="ctr"/>
          <a:lstStyle/>
          <a:p>
            <a:pPr indent="0" marL="0">
              <a:buNone/>
            </a:pPr>
            <a:r>
              <a:rPr lang="en-US" sz="750" b="1" spc="150" kern="0" dirty="0">
                <a:solidFill>
                  <a:srgbClr val="4A8DA8"/>
                </a:solidFill>
                <a:latin typeface="Calibri" pitchFamily="34" charset="0"/>
                <a:ea typeface="Calibri" pitchFamily="34" charset="-122"/>
                <a:cs typeface="Calibri" pitchFamily="34" charset="-120"/>
              </a:rPr>
              <a:t>HOW WE NEGOTIATE</a:t>
            </a:r>
            <a:endParaRPr lang="en-US" sz="750" dirty="0"/>
          </a:p>
        </p:txBody>
      </p:sp>
      <p:sp>
        <p:nvSpPr>
          <p:cNvPr id="29" name="Text 27"/>
          <p:cNvSpPr/>
          <p:nvPr/>
        </p:nvSpPr>
        <p:spPr>
          <a:xfrm>
            <a:off x="4873752" y="3547872"/>
            <a:ext cx="3557016" cy="1005840"/>
          </a:xfrm>
          <a:prstGeom prst="rect">
            <a:avLst/>
          </a:prstGeom>
          <a:noFill/>
          <a:ln/>
        </p:spPr>
        <p:txBody>
          <a:bodyPr wrap="square" lIns="0" tIns="0" rIns="0" bIns="0" rtlCol="0" anchor="t"/>
          <a:lstStyle/>
          <a:p>
            <a:pPr indent="0" marL="0">
              <a:lnSpc>
                <a:spcPct val="115000"/>
              </a:lnSpc>
              <a:buNone/>
            </a:pPr>
            <a:r>
              <a:rPr lang="en-US" sz="850" dirty="0">
                <a:solidFill>
                  <a:srgbClr val="3A3F47"/>
                </a:solidFill>
                <a:latin typeface="Calibri" pitchFamily="34" charset="0"/>
                <a:ea typeface="Calibri" pitchFamily="34" charset="-122"/>
                <a:cs typeface="Calibri" pitchFamily="34" charset="-120"/>
              </a:rPr>
              <a:t>We benchmark their fees against current market rates, then launch a formal multi-vendor RFP that includes eClinicalWorks and NextGen. Even when switching is impractical, the process creates leverage: a documented dissatisfaction letter combined with competitive pricing data has consistently forced athena to concede 0.3%+ fee reductions and multi-year rate locks. The termination penalty works in our favor — they know the client is unlikely to leave, so we make them earn the retention.</a:t>
            </a:r>
            <a:endParaRPr lang="en-US" sz="850" dirty="0"/>
          </a:p>
        </p:txBody>
      </p:sp>
      <p:sp>
        <p:nvSpPr>
          <p:cNvPr id="30" name="Shape 28"/>
          <p:cNvSpPr/>
          <p:nvPr/>
        </p:nvSpPr>
        <p:spPr>
          <a:xfrm>
            <a:off x="4709160" y="4599432"/>
            <a:ext cx="3886200" cy="292608"/>
          </a:xfrm>
          <a:prstGeom prst="rect">
            <a:avLst/>
          </a:prstGeom>
          <a:solidFill>
            <a:srgbClr val="1B2838"/>
          </a:solidFill>
          <a:ln/>
        </p:spPr>
      </p:sp>
      <p:sp>
        <p:nvSpPr>
          <p:cNvPr id="31" name="Text 29"/>
          <p:cNvSpPr/>
          <p:nvPr/>
        </p:nvSpPr>
        <p:spPr>
          <a:xfrm>
            <a:off x="4873752" y="4599432"/>
            <a:ext cx="3557016" cy="292608"/>
          </a:xfrm>
          <a:prstGeom prst="rect">
            <a:avLst/>
          </a:prstGeom>
          <a:noFill/>
          <a:ln/>
        </p:spPr>
        <p:txBody>
          <a:bodyPr wrap="square" lIns="0" tIns="0" rIns="0" bIns="0" rtlCol="0" anchor="ctr"/>
          <a:lstStyle/>
          <a:p>
            <a:pPr algn="ctr" indent="0" marL="0">
              <a:buNone/>
            </a:pPr>
            <a:r>
              <a:rPr lang="en-US" sz="850" b="1" i="1" dirty="0">
                <a:solidFill>
                  <a:srgbClr val="FFFFFF"/>
                </a:solidFill>
                <a:latin typeface="Calibri" pitchFamily="34" charset="0"/>
                <a:ea typeface="Calibri" pitchFamily="34" charset="-122"/>
                <a:cs typeface="Calibri" pitchFamily="34" charset="-120"/>
              </a:rPr>
              <a:t>Retained as incumbent all 3 times — but at significantly renegotiated rates</a:t>
            </a:r>
            <a:endParaRPr lang="en-US" sz="850" dirty="0"/>
          </a:p>
        </p:txBody>
      </p:sp>
      <p:sp>
        <p:nvSpPr>
          <p:cNvPr id="32" name="Text 30"/>
          <p:cNvSpPr/>
          <p:nvPr/>
        </p:nvSpPr>
        <p:spPr>
          <a:xfrm>
            <a:off x="7132320" y="4919472"/>
            <a:ext cx="1554480" cy="201168"/>
          </a:xfrm>
          <a:prstGeom prst="rect">
            <a:avLst/>
          </a:prstGeom>
          <a:noFill/>
          <a:ln/>
        </p:spPr>
        <p:txBody>
          <a:bodyPr wrap="square" lIns="0" tIns="0" rIns="0" bIns="0" rtlCol="0" anchor="ctr"/>
          <a:lstStyle/>
          <a:p>
            <a:pPr algn="r" indent="0" marL="0">
              <a:buNone/>
            </a:pPr>
            <a:r>
              <a:rPr lang="en-US" sz="900" b="1" dirty="0">
                <a:solidFill>
                  <a:srgbClr val="E87722"/>
                </a:solidFill>
                <a:latin typeface="Calibri" pitchFamily="34" charset="0"/>
                <a:ea typeface="Calibri" pitchFamily="34" charset="-122"/>
                <a:cs typeface="Calibri" pitchFamily="34" charset="-120"/>
              </a:rPr>
              <a:t>TREYA </a:t>
            </a:r>
            <a:pPr algn="r" indent="0" marL="0">
              <a:buNone/>
            </a:pPr>
            <a:r>
              <a:rPr lang="en-US" sz="900" dirty="0">
                <a:solidFill>
                  <a:srgbClr val="1B2838"/>
                </a:solidFill>
                <a:latin typeface="Calibri" pitchFamily="34" charset="0"/>
                <a:ea typeface="Calibri" pitchFamily="34" charset="-122"/>
                <a:cs typeface="Calibri" pitchFamily="34" charset="-120"/>
              </a:rPr>
              <a:t>partners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Supplier Intelligence - Healthcare</dc:title>
  <dc:subject>PptxGenJS Presentation</dc:subject>
  <dc:creator>Treya Partners</dc:creator>
  <cp:lastModifiedBy>Treya Partners</cp:lastModifiedBy>
  <cp:revision>1</cp:revision>
  <dcterms:created xsi:type="dcterms:W3CDTF">2026-02-10T05:10:41Z</dcterms:created>
  <dcterms:modified xsi:type="dcterms:W3CDTF">2026-02-10T05:10:41Z</dcterms:modified>
</cp:coreProperties>
</file>