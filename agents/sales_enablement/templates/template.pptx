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0" r:id="rId3"/>
    <p:sldId id="261" r:id="rId4"/>
    <p:sldId id="262" r:id="rId5"/>
    <p:sldId id="263" r:id="rId6"/>
    <p:sldId id="264" r:id="rId7"/>
    <p:sldId id="265" r:id="rId8"/>
    <p:sldId id="1001062" r:id="rId9"/>
    <p:sldId id="4275" r:id="rId10"/>
    <p:sldId id="1001041"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8" d="100"/>
          <a:sy n="138" d="100"/>
        </p:scale>
        <p:origin x="184" y="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 by Quarter</c:v>
                </c:pt>
              </c:strCache>
            </c:strRef>
          </c:tx>
          <c:spPr>
            <a:solidFill>
              <a:srgbClr val="1B3A4B"/>
            </a:solidFill>
            <a:ln>
              <a:noFill/>
            </a:ln>
          </c:spPr>
          <c:invertIfNegative val="1"/>
          <c:dLbls>
            <c:numFmt formatCode="\$#,##0.0,,&quot;M&quot;" sourceLinked="0"/>
            <c:spPr>
              <a:noFill/>
              <a:ln>
                <a:noFill/>
              </a:ln>
              <a:effectLst/>
            </c:spPr>
            <c:txPr>
              <a:bodyPr/>
              <a:lstStyle/>
              <a:p>
                <a:pPr>
                  <a:defRPr sz="800" b="1">
                    <a:solidFill>
                      <a:srgbClr val="39394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3340667</c:v>
                </c:pt>
                <c:pt idx="1">
                  <c:v>2987039</c:v>
                </c:pt>
                <c:pt idx="2">
                  <c:v>2845166</c:v>
                </c:pt>
                <c:pt idx="3">
                  <c:v>2810650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CA00-394D-BDCE-56F240C3903F}"/>
            </c:ext>
          </c:extLst>
        </c:ser>
        <c:dLbls>
          <c:showLegendKey val="0"/>
          <c:showVal val="0"/>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800">
                <a:solidFill>
                  <a:srgbClr val="595959"/>
                </a:solidFill>
              </a:defRPr>
            </a:pPr>
            <a:endParaRPr lang="en-US"/>
          </a:p>
        </c:txPr>
        <c:crossAx val="-2113994440"/>
        <c:crosses val="autoZero"/>
        <c:auto val="1"/>
        <c:lblAlgn val="ctr"/>
        <c:lblOffset val="100"/>
        <c:noMultiLvlLbl val="0"/>
      </c:catAx>
      <c:valAx>
        <c:axId val="-2113994440"/>
        <c:scaling>
          <c:orientation val="minMax"/>
          <c:max val="4000000"/>
          <c:min val="0"/>
        </c:scaling>
        <c:delete val="0"/>
        <c:axPos val="l"/>
        <c:majorGridlines>
          <c:spPr>
            <a:ln>
              <a:solidFill>
                <a:srgbClr val="D9D9D9"/>
              </a:solidFill>
            </a:ln>
          </c:spPr>
        </c:majorGridlines>
        <c:numFmt formatCode="\$#,##0" sourceLinked="0"/>
        <c:majorTickMark val="out"/>
        <c:minorTickMark val="none"/>
        <c:tickLblPos val="nextTo"/>
        <c:spPr>
          <a:ln>
            <a:solidFill>
              <a:srgbClr val="D9D9D9"/>
            </a:solidFill>
          </a:ln>
        </c:spPr>
        <c:txPr>
          <a:bodyPr/>
          <a:lstStyle/>
          <a:p>
            <a:pPr>
              <a:defRPr sz="700">
                <a:solidFill>
                  <a:srgbClr val="595959"/>
                </a:solidFill>
              </a:defRPr>
            </a:pPr>
            <a:endParaRPr lang="en-US"/>
          </a:p>
        </c:txPr>
        <c:crossAx val="-2068027336"/>
        <c:crosses val="autoZero"/>
        <c:crossBetween val="between"/>
        <c:majorUnit val="500000"/>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 by Pricing Model</c:v>
                </c:pt>
              </c:strCache>
            </c:strRef>
          </c:tx>
          <c:spPr>
            <a:solidFill>
              <a:srgbClr val="1B3A4B"/>
            </a:solidFill>
            <a:ln>
              <a:noFill/>
            </a:ln>
          </c:spPr>
          <c:invertIfNegative val="1"/>
          <c:dLbls>
            <c:dLbl>
              <c:idx val="0"/>
              <c:layout>
                <c:manualLayout>
                  <c:x val="-3.0238095238095514E-3"/>
                  <c:y val="2.64583333333333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04E-0845-AC22-410A4E448008}"/>
                </c:ext>
              </c:extLst>
            </c:dLbl>
            <c:numFmt formatCode="\$#,##0.0,,&quot;M&quot;" sourceLinked="0"/>
            <c:spPr>
              <a:noFill/>
              <a:ln>
                <a:noFill/>
              </a:ln>
              <a:effectLst/>
            </c:spPr>
            <c:txPr>
              <a:bodyPr/>
              <a:lstStyle/>
              <a:p>
                <a:pPr>
                  <a:defRPr sz="800" b="1">
                    <a:solidFill>
                      <a:srgbClr val="39394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Hybrid</c:v>
                </c:pt>
                <c:pt idx="1">
                  <c:v>Fixed Fee</c:v>
                </c:pt>
                <c:pt idx="2">
                  <c:v>Contingent</c:v>
                </c:pt>
              </c:strCache>
            </c:strRef>
          </c:cat>
          <c:val>
            <c:numRef>
              <c:f>Sheet1!$B$2:$B$4</c:f>
              <c:numCache>
                <c:formatCode>General</c:formatCode>
                <c:ptCount val="3"/>
                <c:pt idx="0">
                  <c:v>6562728</c:v>
                </c:pt>
                <c:pt idx="1">
                  <c:v>3475000</c:v>
                </c:pt>
                <c:pt idx="2">
                  <c:v>1945794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A04E-0845-AC22-410A4E448008}"/>
            </c:ext>
          </c:extLst>
        </c:ser>
        <c:dLbls>
          <c:showLegendKey val="0"/>
          <c:showVal val="0"/>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800">
                <a:solidFill>
                  <a:srgbClr val="595959"/>
                </a:solidFill>
              </a:defRPr>
            </a:pPr>
            <a:endParaRPr lang="en-US"/>
          </a:p>
        </c:txPr>
        <c:crossAx val="-2113994440"/>
        <c:crosses val="autoZero"/>
        <c:auto val="1"/>
        <c:lblAlgn val="ctr"/>
        <c:lblOffset val="100"/>
        <c:noMultiLvlLbl val="0"/>
      </c:catAx>
      <c:valAx>
        <c:axId val="-2113994440"/>
        <c:scaling>
          <c:orientation val="minMax"/>
          <c:max val="7000000"/>
          <c:min val="0"/>
        </c:scaling>
        <c:delete val="0"/>
        <c:axPos val="l"/>
        <c:majorGridlines>
          <c:spPr>
            <a:ln>
              <a:solidFill>
                <a:srgbClr val="D9D9D9"/>
              </a:solidFill>
            </a:ln>
          </c:spPr>
        </c:majorGridlines>
        <c:numFmt formatCode="\$#,##0" sourceLinked="0"/>
        <c:majorTickMark val="out"/>
        <c:minorTickMark val="none"/>
        <c:tickLblPos val="nextTo"/>
        <c:spPr>
          <a:ln>
            <a:solidFill>
              <a:srgbClr val="D9D9D9"/>
            </a:solidFill>
          </a:ln>
        </c:spPr>
        <c:txPr>
          <a:bodyPr/>
          <a:lstStyle/>
          <a:p>
            <a:pPr>
              <a:defRPr sz="700">
                <a:solidFill>
                  <a:srgbClr val="595959"/>
                </a:solidFill>
              </a:defRPr>
            </a:pPr>
            <a:endParaRPr lang="en-US"/>
          </a:p>
        </c:txPr>
        <c:crossAx val="-2068027336"/>
        <c:crosses val="autoZero"/>
        <c:crossBetween val="between"/>
        <c:majorUnit val="1000000"/>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7198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86ABA67-1F22-644D-AE6A-574CB0E3D573}"/>
              </a:ext>
            </a:extLst>
          </p:cNvPr>
          <p:cNvSpPr>
            <a:spLocks noGrp="1"/>
          </p:cNvSpPr>
          <p:nvPr>
            <p:ph type="sldNum" sz="quarter" idx="12"/>
          </p:nvPr>
        </p:nvSpPr>
        <p:spPr/>
        <p:txBody>
          <a:bodyPr/>
          <a:lstStyle/>
          <a:p>
            <a:fld id="{77563BD6-6453-A74A-949B-3A0DFACDA8F0}" type="slidenum">
              <a:rPr lang="en-US" smtClean="0"/>
              <a:t>‹#›</a:t>
            </a:fld>
            <a:endParaRPr lang="en-US"/>
          </a:p>
        </p:txBody>
      </p:sp>
      <p:sp>
        <p:nvSpPr>
          <p:cNvPr id="7" name="Rectangle 6">
            <a:extLst>
              <a:ext uri="{FF2B5EF4-FFF2-40B4-BE49-F238E27FC236}">
                <a16:creationId xmlns:a16="http://schemas.microsoft.com/office/drawing/2014/main" id="{8ECFA9A5-CB43-47AC-B31C-A09F9783E567}"/>
              </a:ext>
            </a:extLst>
          </p:cNvPr>
          <p:cNvSpPr/>
          <p:nvPr userDrawn="1"/>
        </p:nvSpPr>
        <p:spPr>
          <a:xfrm>
            <a:off x="441301" y="2"/>
            <a:ext cx="55829" cy="652856"/>
          </a:xfrm>
          <a:prstGeom prst="rect">
            <a:avLst/>
          </a:prstGeom>
          <a:solidFill>
            <a:srgbClr val="F66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8" name="Group 7">
            <a:extLst>
              <a:ext uri="{FF2B5EF4-FFF2-40B4-BE49-F238E27FC236}">
                <a16:creationId xmlns:a16="http://schemas.microsoft.com/office/drawing/2014/main" id="{03A2A4AA-C3A4-4CBB-839C-3A483B7E4D74}"/>
              </a:ext>
            </a:extLst>
          </p:cNvPr>
          <p:cNvGrpSpPr/>
          <p:nvPr userDrawn="1"/>
        </p:nvGrpSpPr>
        <p:grpSpPr>
          <a:xfrm>
            <a:off x="7690996" y="147430"/>
            <a:ext cx="1453004" cy="346253"/>
            <a:chOff x="10254660" y="302588"/>
            <a:chExt cx="1937339" cy="461671"/>
          </a:xfrm>
        </p:grpSpPr>
        <p:pic>
          <p:nvPicPr>
            <p:cNvPr id="9" name="Picture 8">
              <a:extLst>
                <a:ext uri="{FF2B5EF4-FFF2-40B4-BE49-F238E27FC236}">
                  <a16:creationId xmlns:a16="http://schemas.microsoft.com/office/drawing/2014/main" id="{44C7CF4C-39C3-49D9-BA23-80A6A0F5B298}"/>
                </a:ext>
              </a:extLst>
            </p:cNvPr>
            <p:cNvPicPr>
              <a:picLocks noChangeAspect="1"/>
            </p:cNvPicPr>
            <p:nvPr/>
          </p:nvPicPr>
          <p:blipFill>
            <a:blip r:embed="rId2"/>
            <a:stretch>
              <a:fillRect/>
            </a:stretch>
          </p:blipFill>
          <p:spPr>
            <a:xfrm>
              <a:off x="10254660" y="302588"/>
              <a:ext cx="1670310" cy="289956"/>
            </a:xfrm>
            <a:prstGeom prst="rect">
              <a:avLst/>
            </a:prstGeom>
          </p:spPr>
        </p:pic>
        <p:sp>
          <p:nvSpPr>
            <p:cNvPr id="10" name="Rectangle 9">
              <a:extLst>
                <a:ext uri="{FF2B5EF4-FFF2-40B4-BE49-F238E27FC236}">
                  <a16:creationId xmlns:a16="http://schemas.microsoft.com/office/drawing/2014/main" id="{E7B3CDD8-14C8-403A-A88C-DC41719ECD88}"/>
                </a:ext>
              </a:extLst>
            </p:cNvPr>
            <p:cNvSpPr/>
            <p:nvPr/>
          </p:nvSpPr>
          <p:spPr>
            <a:xfrm rot="5400000">
              <a:off x="11548427" y="120687"/>
              <a:ext cx="45719" cy="1241425"/>
            </a:xfrm>
            <a:prstGeom prst="rect">
              <a:avLst/>
            </a:prstGeom>
            <a:solidFill>
              <a:srgbClr val="F66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Tree>
    <p:extLst>
      <p:ext uri="{BB962C8B-B14F-4D97-AF65-F5344CB8AC3E}">
        <p14:creationId xmlns:p14="http://schemas.microsoft.com/office/powerpoint/2010/main" val="494824332"/>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200400" y="0"/>
            <a:ext cx="5943600" cy="5143500"/>
          </a:xfrm>
          <a:prstGeom prst="rect">
            <a:avLst/>
          </a:prstGeom>
          <a:solidFill>
            <a:srgbClr val="000000">
              <a:alpha val="60000"/>
            </a:srgbClr>
          </a:solidFill>
          <a:ln/>
        </p:spPr>
        <p:txBody>
          <a:bodyPr/>
          <a:lstStyle/>
          <a:p>
            <a:endParaRPr lang="en-US"/>
          </a:p>
        </p:txBody>
      </p:sp>
      <p:sp>
        <p:nvSpPr>
          <p:cNvPr id="3" name="Shape 1"/>
          <p:cNvSpPr/>
          <p:nvPr/>
        </p:nvSpPr>
        <p:spPr>
          <a:xfrm>
            <a:off x="4572000" y="0"/>
            <a:ext cx="4572000" cy="5143500"/>
          </a:xfrm>
          <a:prstGeom prst="rect">
            <a:avLst/>
          </a:prstGeom>
          <a:solidFill>
            <a:srgbClr val="000000">
              <a:alpha val="45000"/>
            </a:srgbClr>
          </a:solidFill>
          <a:ln/>
        </p:spPr>
        <p:txBody>
          <a:bodyPr/>
          <a:lstStyle/>
          <a:p>
            <a:endParaRPr lang="en-US"/>
          </a:p>
        </p:txBody>
      </p:sp>
      <p:sp>
        <p:nvSpPr>
          <p:cNvPr id="4" name="Text 2"/>
          <p:cNvSpPr/>
          <p:nvPr/>
        </p:nvSpPr>
        <p:spPr>
          <a:xfrm>
            <a:off x="5029200" y="1097280"/>
            <a:ext cx="3657600" cy="2560320"/>
          </a:xfrm>
          <a:prstGeom prst="rect">
            <a:avLst/>
          </a:prstGeom>
          <a:noFill/>
          <a:ln/>
        </p:spPr>
        <p:txBody>
          <a:bodyPr wrap="square" lIns="0" tIns="0" rIns="0" bIns="0" rtlCol="0" anchor="b"/>
          <a:lstStyle/>
          <a:p>
            <a:pPr marL="0" indent="0" algn="l">
              <a:lnSpc>
                <a:spcPct val="90000"/>
              </a:lnSpc>
              <a:buNone/>
            </a:pPr>
            <a:r>
              <a:rPr lang="en-US" sz="5200" b="1" dirty="0">
                <a:solidFill>
                  <a:srgbClr val="FFFFFF"/>
                </a:solidFill>
                <a:latin typeface="Calibri" pitchFamily="34" charset="0"/>
                <a:ea typeface="Calibri" pitchFamily="34" charset="-122"/>
                <a:cs typeface="Calibri" pitchFamily="34" charset="-120"/>
              </a:rPr>
              <a:t>Unlock</a:t>
            </a:r>
            <a:endParaRPr lang="en-US" sz="5200" dirty="0"/>
          </a:p>
          <a:p>
            <a:pPr marL="0" indent="0" algn="l">
              <a:lnSpc>
                <a:spcPct val="90000"/>
              </a:lnSpc>
              <a:buNone/>
            </a:pPr>
            <a:r>
              <a:rPr lang="en-US" sz="5200" b="1" dirty="0">
                <a:solidFill>
                  <a:srgbClr val="FFFFFF"/>
                </a:solidFill>
                <a:latin typeface="Calibri" pitchFamily="34" charset="0"/>
                <a:ea typeface="Calibri" pitchFamily="34" charset="-122"/>
                <a:cs typeface="Calibri" pitchFamily="34" charset="-120"/>
              </a:rPr>
              <a:t>Hidden Value</a:t>
            </a:r>
            <a:endParaRPr lang="en-US" sz="5200" dirty="0"/>
          </a:p>
        </p:txBody>
      </p:sp>
      <p:pic>
        <p:nvPicPr>
          <p:cNvPr id="5" name="Image 0" descr="preencoded.png"/>
          <p:cNvPicPr>
            <a:picLocks noChangeAspect="1"/>
          </p:cNvPicPr>
          <p:nvPr/>
        </p:nvPicPr>
        <p:blipFill>
          <a:blip r:embed="rId4"/>
          <a:stretch>
            <a:fillRect/>
          </a:stretch>
        </p:blipFill>
        <p:spPr>
          <a:xfrm>
            <a:off x="5166360" y="4114800"/>
            <a:ext cx="256032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5" name="Shape 2"/>
          <p:cNvSpPr/>
          <p:nvPr/>
        </p:nvSpPr>
        <p:spPr>
          <a:xfrm>
            <a:off x="7692000" y="430347"/>
            <a:ext cx="1252732" cy="36576"/>
          </a:xfrm>
          <a:prstGeom prst="rect">
            <a:avLst/>
          </a:prstGeom>
          <a:solidFill>
            <a:srgbClr val="E8642C"/>
          </a:solidFill>
          <a:ln/>
        </p:spPr>
        <p:txBody>
          <a:bodyPr/>
          <a:lstStyle/>
          <a:p>
            <a:endParaRPr lang="en-US"/>
          </a:p>
        </p:txBody>
      </p:sp>
      <p:sp>
        <p:nvSpPr>
          <p:cNvPr id="6" name="Text 3"/>
          <p:cNvSpPr/>
          <p:nvPr/>
        </p:nvSpPr>
        <p:spPr>
          <a:xfrm>
            <a:off x="548640" y="137160"/>
            <a:ext cx="4572000" cy="54864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Agenda</a:t>
            </a:r>
            <a:endParaRPr lang="en-US" sz="2800"/>
          </a:p>
        </p:txBody>
      </p:sp>
      <p:sp>
        <p:nvSpPr>
          <p:cNvPr id="7" name="Text 4"/>
          <p:cNvSpPr/>
          <p:nvPr/>
        </p:nvSpPr>
        <p:spPr>
          <a:xfrm>
            <a:off x="640080" y="1097280"/>
            <a:ext cx="5486400" cy="3200400"/>
          </a:xfrm>
          <a:prstGeom prst="rect">
            <a:avLst/>
          </a:prstGeom>
          <a:noFill/>
          <a:ln/>
        </p:spPr>
        <p:txBody>
          <a:bodyPr wrap="square" rtlCol="0" anchor="t"/>
          <a:lstStyle/>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2025 Look Back</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Financial Review (Q4, FY 2025, Budget 2026)</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Consulting Sales Review</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Delivery Update</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Marketing Update</a:t>
            </a:r>
            <a:endParaRPr lang="en-US" sz="1600" dirty="0"/>
          </a:p>
          <a:p>
            <a:pPr marL="342900" indent="-342900">
              <a:spcAft>
                <a:spcPts val="800"/>
              </a:spcAft>
              <a:buClr>
                <a:srgbClr val="E8642C"/>
              </a:buClr>
              <a:buSzPct val="60000"/>
              <a:buChar char="■"/>
            </a:pPr>
            <a:r>
              <a:rPr lang="en-US" sz="1600" dirty="0">
                <a:solidFill>
                  <a:srgbClr val="666666"/>
                </a:solidFill>
                <a:latin typeface="Avenir" pitchFamily="34" charset="0"/>
                <a:ea typeface="Avenir" pitchFamily="34" charset="-122"/>
                <a:cs typeface="Avenir" pitchFamily="34" charset="-120"/>
              </a:rPr>
              <a:t>Q1 2026 Company Goals</a:t>
            </a:r>
            <a:endParaRPr lang="en-US" sz="1600" dirty="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6ED30CD0-7237-4FD6-A8D6-ABD270ED26B2}" type="slidenum">
              <a:rPr lang="en-US" sz="1000" smtClean="0">
                <a:solidFill>
                  <a:srgbClr val="999999"/>
                </a:solidFill>
                <a:latin typeface="Avenir" pitchFamily="34" charset="0"/>
                <a:ea typeface="Avenir" pitchFamily="34" charset="-122"/>
                <a:cs typeface="Avenir" pitchFamily="34" charset="-120"/>
              </a:rPr>
              <a:t>2</a:t>
            </a:fld>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Sales</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640080" y="1207008"/>
            <a:ext cx="3657600" cy="182880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dirty="0">
                <a:solidFill>
                  <a:srgbClr val="666666"/>
                </a:solidFill>
                <a:latin typeface="Avenir" pitchFamily="34" charset="0"/>
                <a:ea typeface="Avenir" pitchFamily="34" charset="-122"/>
                <a:cs typeface="Avenir" pitchFamily="34" charset="-120"/>
              </a:rPr>
              <a:t>Consulting bookings steady at ~$3M/quarter; pipeline adds trending favorably throughout the year</a:t>
            </a:r>
            <a:endParaRPr lang="en-US" sz="1100" dirty="0"/>
          </a:p>
          <a:p>
            <a:pPr marL="342900" indent="-342900">
              <a:spcAft>
                <a:spcPts val="500"/>
              </a:spcAft>
              <a:buClr>
                <a:srgbClr val="E8642C"/>
              </a:buClr>
              <a:buSzPct val="60000"/>
              <a:buChar char="■"/>
            </a:pPr>
            <a:r>
              <a:rPr lang="en-US" sz="1100" dirty="0">
                <a:solidFill>
                  <a:srgbClr val="666666"/>
                </a:solidFill>
                <a:latin typeface="Avenir" pitchFamily="34" charset="0"/>
                <a:ea typeface="Avenir" pitchFamily="34" charset="-122"/>
                <a:cs typeface="Avenir" pitchFamily="34" charset="-120"/>
              </a:rPr>
              <a:t>KSA pipeline growing: LLCP emerged as a strong KSA; Core Industrial similarly situated (using x-portfolio as a blueprint)</a:t>
            </a:r>
          </a:p>
          <a:p>
            <a:pPr marL="342900" indent="-342900">
              <a:spcAft>
                <a:spcPts val="500"/>
              </a:spcAft>
              <a:buClr>
                <a:srgbClr val="E8642C"/>
              </a:buClr>
              <a:buSzPct val="60000"/>
              <a:buChar char="■"/>
            </a:pPr>
            <a:r>
              <a:rPr lang="en-US" sz="1100" dirty="0">
                <a:solidFill>
                  <a:srgbClr val="666666"/>
                </a:solidFill>
                <a:latin typeface="Avenir" pitchFamily="34" charset="0"/>
              </a:rPr>
              <a:t>GP Stakes – Ridge Lake (Gridiron, Gauge)</a:t>
            </a:r>
            <a:endParaRPr lang="en-US" sz="1100" dirty="0"/>
          </a:p>
          <a:p>
            <a:pPr marL="342900" indent="-342900">
              <a:spcAft>
                <a:spcPts val="500"/>
              </a:spcAft>
              <a:buClr>
                <a:srgbClr val="E8642C"/>
              </a:buClr>
              <a:buSzPct val="60000"/>
              <a:buChar char="■"/>
            </a:pPr>
            <a:r>
              <a:rPr lang="en-US" sz="1100" dirty="0">
                <a:solidFill>
                  <a:srgbClr val="666666"/>
                </a:solidFill>
                <a:latin typeface="Avenir" pitchFamily="34" charset="0"/>
                <a:ea typeface="Avenir" pitchFamily="34" charset="-122"/>
                <a:cs typeface="Avenir" pitchFamily="34" charset="-120"/>
              </a:rPr>
              <a:t>15 new PE logos; 40 consulting projects sold </a:t>
            </a:r>
          </a:p>
          <a:p>
            <a:pPr marL="342900" indent="-342900">
              <a:spcAft>
                <a:spcPts val="500"/>
              </a:spcAft>
              <a:buClr>
                <a:srgbClr val="E8642C"/>
              </a:buClr>
              <a:buSzPct val="60000"/>
              <a:buChar char="■"/>
            </a:pPr>
            <a:r>
              <a:rPr lang="en-US" sz="1100" dirty="0">
                <a:solidFill>
                  <a:srgbClr val="666666"/>
                </a:solidFill>
                <a:latin typeface="Avenir" pitchFamily="34" charset="0"/>
                <a:ea typeface="Avenir" pitchFamily="34" charset="-122"/>
                <a:cs typeface="Avenir" pitchFamily="34" charset="-120"/>
              </a:rPr>
              <a:t>Greater involvement of delivery/SME in scoping/closing calls</a:t>
            </a:r>
          </a:p>
          <a:p>
            <a:pPr marL="342900" indent="-342900">
              <a:spcAft>
                <a:spcPts val="500"/>
              </a:spcAft>
              <a:buClr>
                <a:srgbClr val="E8642C"/>
              </a:buClr>
              <a:buSzPct val="60000"/>
              <a:buChar char="■"/>
            </a:pPr>
            <a:r>
              <a:rPr lang="en-US" sz="1100" dirty="0">
                <a:solidFill>
                  <a:srgbClr val="666666"/>
                </a:solidFill>
                <a:latin typeface="Avenir" pitchFamily="34" charset="0"/>
              </a:rPr>
              <a:t>Additions: David (CT), Jake (</a:t>
            </a:r>
            <a:r>
              <a:rPr lang="en-US" sz="1100" dirty="0" err="1">
                <a:solidFill>
                  <a:srgbClr val="666666"/>
                </a:solidFill>
                <a:latin typeface="Avenir" pitchFamily="34" charset="0"/>
              </a:rPr>
              <a:t>Bluwave</a:t>
            </a:r>
            <a:r>
              <a:rPr lang="en-US" sz="1100" dirty="0">
                <a:solidFill>
                  <a:srgbClr val="666666"/>
                </a:solidFill>
                <a:latin typeface="Avenir" pitchFamily="34" charset="0"/>
              </a:rPr>
              <a:t>).  </a:t>
            </a:r>
            <a:r>
              <a:rPr lang="en-US" sz="1100">
                <a:solidFill>
                  <a:srgbClr val="666666"/>
                </a:solidFill>
                <a:latin typeface="Avenir" pitchFamily="34" charset="0"/>
              </a:rPr>
              <a:t>Offer out to </a:t>
            </a:r>
            <a:r>
              <a:rPr lang="en-US" sz="1100" dirty="0">
                <a:solidFill>
                  <a:srgbClr val="666666"/>
                </a:solidFill>
                <a:latin typeface="Avenir" pitchFamily="34" charset="0"/>
              </a:rPr>
              <a:t>Kevin Buckley (ex-Grant Thornton PE sales)</a:t>
            </a:r>
            <a:endParaRPr lang="en-US" sz="1100" dirty="0"/>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Consulting bookings consistently below budget ($3M actual vs. $4.8–$5.3M budget each quarter)</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Small parcel bookings significantly below plan + churn</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BDR turnover: Jack/CJ (underperformance) and Shaun departure</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Close rate at ~30%</a:t>
            </a:r>
            <a:endParaRPr lang="en-US" sz="1100"/>
          </a:p>
        </p:txBody>
      </p:sp>
      <p:sp>
        <p:nvSpPr>
          <p:cNvPr id="10" name="Shape 7"/>
          <p:cNvSpPr/>
          <p:nvPr/>
        </p:nvSpPr>
        <p:spPr>
          <a:xfrm>
            <a:off x="640080" y="3429906"/>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3539634"/>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844182"/>
            <a:ext cx="7589520" cy="128016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Add 6–8 new KSAs; continue to improve KSA opportunity contributions to improve pipeline consistency</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ea typeface="Avenir"/>
                <a:cs typeface="Avenir" pitchFamily="34" charset="-120"/>
              </a:rPr>
              <a:t>Continue to iterate on BDM </a:t>
            </a:r>
            <a:r>
              <a:rPr lang="en-US" sz="1100">
                <a:solidFill>
                  <a:srgbClr val="666666"/>
                </a:solidFill>
                <a:latin typeface="Avenir"/>
                <a:ea typeface="Avenir" pitchFamily="34" charset="-122"/>
                <a:cs typeface="Avenir" pitchFamily="34" charset="-120"/>
              </a:rPr>
              <a:t>model: NYC-based hires, improved comp model, senior pairing</a:t>
            </a:r>
            <a:endParaRPr lang="en-US" sz="1100">
              <a:latin typeface="Avenir"/>
            </a:endParaRPr>
          </a:p>
          <a:p>
            <a:pPr marL="342900" indent="-342900">
              <a:spcAft>
                <a:spcPts val="500"/>
              </a:spcAft>
              <a:buClr>
                <a:srgbClr val="E8642C"/>
              </a:buClr>
              <a:buSzPct val="60000"/>
              <a:buChar char="■"/>
            </a:pPr>
            <a:r>
              <a:rPr lang="en-US" sz="1100">
                <a:solidFill>
                  <a:srgbClr val="666666"/>
                </a:solidFill>
                <a:latin typeface="Avenir"/>
                <a:ea typeface="Avenir"/>
                <a:cs typeface="Avenir" pitchFamily="34" charset="-120"/>
              </a:rPr>
              <a:t>Prioritizing X-Portfolio data collection; creating value/goodwill through PVP</a:t>
            </a:r>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Verticalization of sales approach for top verticals (multi-site healthcare, HVAC, manufacturing)</a:t>
            </a:r>
            <a:endParaRPr lang="en-US" sz="110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841CDD57-226C-43A2-ABA0-FDC4691B40A0}" type="slidenum">
              <a:rPr lang="en-US" sz="1000" smtClean="0">
                <a:solidFill>
                  <a:srgbClr val="999999"/>
                </a:solidFill>
                <a:latin typeface="Avenir" pitchFamily="34" charset="0"/>
                <a:ea typeface="Avenir" pitchFamily="34" charset="-122"/>
                <a:cs typeface="Avenir" pitchFamily="34" charset="-120"/>
              </a:rPr>
              <a:t>3</a:t>
            </a:fld>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469214" y="-96579"/>
            <a:ext cx="6400800" cy="731520"/>
          </a:xfrm>
          <a:prstGeom prst="rect">
            <a:avLst/>
          </a:prstGeom>
          <a:noFill/>
          <a:ln/>
        </p:spPr>
        <p:txBody>
          <a:bodyPr wrap="square" rtlCol="0" anchor="ctr"/>
          <a:lstStyle/>
          <a:p>
            <a:pPr marL="0" indent="0">
              <a:buNone/>
            </a:pPr>
            <a:r>
              <a:rPr lang="en-US" sz="2800" b="1" dirty="0">
                <a:solidFill>
                  <a:srgbClr val="393941"/>
                </a:solidFill>
                <a:latin typeface="Avenir" pitchFamily="34" charset="0"/>
                <a:ea typeface="Avenir" pitchFamily="34" charset="-122"/>
                <a:cs typeface="Avenir" pitchFamily="34" charset="-120"/>
              </a:rPr>
              <a:t>2025 Look Back – Delivery</a:t>
            </a:r>
            <a:endParaRPr lang="en-US" sz="2800" dirty="0"/>
          </a:p>
        </p:txBody>
      </p:sp>
      <p:sp>
        <p:nvSpPr>
          <p:cNvPr id="6" name="Text 3"/>
          <p:cNvSpPr/>
          <p:nvPr/>
        </p:nvSpPr>
        <p:spPr>
          <a:xfrm>
            <a:off x="525043" y="605444"/>
            <a:ext cx="3657600" cy="274320"/>
          </a:xfrm>
          <a:prstGeom prst="rect">
            <a:avLst/>
          </a:prstGeom>
          <a:noFill/>
          <a:ln/>
        </p:spPr>
        <p:txBody>
          <a:bodyPr wrap="square" rtlCol="0" anchor="ctr"/>
          <a:lstStyle/>
          <a:p>
            <a:pPr marL="0" indent="0">
              <a:buNone/>
            </a:pPr>
            <a:r>
              <a:rPr lang="en-US" sz="1400" b="1" dirty="0">
                <a:solidFill>
                  <a:srgbClr val="E8642C"/>
                </a:solidFill>
                <a:latin typeface="Avenir" pitchFamily="34" charset="0"/>
                <a:ea typeface="Avenir" pitchFamily="34" charset="-122"/>
                <a:cs typeface="Avenir" pitchFamily="34" charset="-120"/>
              </a:rPr>
              <a:t>Wins</a:t>
            </a:r>
            <a:endParaRPr lang="en-US" sz="1400" dirty="0"/>
          </a:p>
        </p:txBody>
      </p:sp>
      <p:sp>
        <p:nvSpPr>
          <p:cNvPr id="7" name="Text 4"/>
          <p:cNvSpPr/>
          <p:nvPr/>
        </p:nvSpPr>
        <p:spPr>
          <a:xfrm>
            <a:off x="4617721" y="636040"/>
            <a:ext cx="3657600" cy="274320"/>
          </a:xfrm>
          <a:prstGeom prst="rect">
            <a:avLst/>
          </a:prstGeom>
          <a:noFill/>
          <a:ln/>
        </p:spPr>
        <p:txBody>
          <a:bodyPr wrap="square" rtlCol="0" anchor="ctr"/>
          <a:lstStyle/>
          <a:p>
            <a:pPr marL="0" indent="0">
              <a:buNone/>
            </a:pPr>
            <a:r>
              <a:rPr lang="en-US" sz="1400" b="1" dirty="0">
                <a:solidFill>
                  <a:srgbClr val="E8642C"/>
                </a:solidFill>
                <a:latin typeface="Avenir" pitchFamily="34" charset="0"/>
                <a:ea typeface="Avenir" pitchFamily="34" charset="-122"/>
                <a:cs typeface="Avenir" pitchFamily="34" charset="-120"/>
              </a:rPr>
              <a:t>Misses</a:t>
            </a:r>
            <a:endParaRPr lang="en-US" sz="1400" dirty="0"/>
          </a:p>
        </p:txBody>
      </p:sp>
      <p:sp>
        <p:nvSpPr>
          <p:cNvPr id="8" name="Text 5"/>
          <p:cNvSpPr/>
          <p:nvPr/>
        </p:nvSpPr>
        <p:spPr>
          <a:xfrm>
            <a:off x="395582" y="879764"/>
            <a:ext cx="4130699" cy="197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Strong project delivery, with highlights including </a:t>
            </a:r>
            <a:r>
              <a:rPr lang="en-US" sz="1000" dirty="0" err="1">
                <a:solidFill>
                  <a:srgbClr val="666666"/>
                </a:solidFill>
                <a:latin typeface="Avenir" pitchFamily="34" charset="0"/>
                <a:ea typeface="Avenir" pitchFamily="34" charset="-122"/>
                <a:cs typeface="Avenir" pitchFamily="34" charset="-120"/>
              </a:rPr>
              <a:t>RoadSafe</a:t>
            </a:r>
            <a:r>
              <a:rPr lang="en-US" sz="1000" dirty="0">
                <a:solidFill>
                  <a:srgbClr val="666666"/>
                </a:solidFill>
                <a:latin typeface="Avenir" pitchFamily="34" charset="0"/>
                <a:ea typeface="Avenir" pitchFamily="34" charset="-122"/>
                <a:cs typeface="Avenir" pitchFamily="34" charset="-120"/>
              </a:rPr>
              <a:t> ($5.7M savings across 3 phases), </a:t>
            </a:r>
            <a:r>
              <a:rPr lang="en-US" sz="1000" dirty="0" err="1">
                <a:solidFill>
                  <a:srgbClr val="666666"/>
                </a:solidFill>
                <a:latin typeface="Avenir" pitchFamily="34" charset="0"/>
                <a:ea typeface="Avenir" pitchFamily="34" charset="-122"/>
                <a:cs typeface="Avenir" pitchFamily="34" charset="-120"/>
              </a:rPr>
              <a:t>Epika</a:t>
            </a:r>
            <a:r>
              <a:rPr lang="en-US" sz="1000" dirty="0">
                <a:solidFill>
                  <a:srgbClr val="666666"/>
                </a:solidFill>
                <a:latin typeface="Avenir" pitchFamily="34" charset="0"/>
                <a:ea typeface="Avenir" pitchFamily="34" charset="-122"/>
                <a:cs typeface="Avenir" pitchFamily="34" charset="-120"/>
              </a:rPr>
              <a:t> ($1.5M in savings), Hy-Tek ($1.2M in savings), </a:t>
            </a:r>
            <a:r>
              <a:rPr lang="en-US" sz="1000" dirty="0" err="1">
                <a:solidFill>
                  <a:srgbClr val="666666"/>
                </a:solidFill>
                <a:latin typeface="Avenir" pitchFamily="34" charset="0"/>
                <a:ea typeface="Avenir" pitchFamily="34" charset="-122"/>
                <a:cs typeface="Avenir" pitchFamily="34" charset="-120"/>
              </a:rPr>
              <a:t>Naturpak</a:t>
            </a:r>
            <a:r>
              <a:rPr lang="en-US" sz="1000" dirty="0">
                <a:solidFill>
                  <a:srgbClr val="666666"/>
                </a:solidFill>
                <a:latin typeface="Avenir" pitchFamily="34" charset="0"/>
                <a:ea typeface="Avenir" pitchFamily="34" charset="-122"/>
                <a:cs typeface="Avenir" pitchFamily="34" charset="-120"/>
              </a:rPr>
              <a:t> ($1.1M in savings), D&amp;H ($1.5M in savings)</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New industries: auto collision (</a:t>
            </a:r>
            <a:r>
              <a:rPr lang="en-US" sz="1000" dirty="0" err="1">
                <a:solidFill>
                  <a:srgbClr val="666666"/>
                </a:solidFill>
                <a:latin typeface="Avenir" pitchFamily="34" charset="0"/>
                <a:ea typeface="Avenir" pitchFamily="34" charset="-122"/>
                <a:cs typeface="Avenir" pitchFamily="34" charset="-120"/>
              </a:rPr>
              <a:t>OpenRoad</a:t>
            </a:r>
            <a:r>
              <a:rPr lang="en-US" sz="1000" dirty="0">
                <a:solidFill>
                  <a:srgbClr val="666666"/>
                </a:solidFill>
                <a:latin typeface="Avenir" pitchFamily="34" charset="0"/>
                <a:ea typeface="Avenir" pitchFamily="34" charset="-122"/>
                <a:cs typeface="Avenir" pitchFamily="34" charset="-120"/>
              </a:rPr>
              <a:t>), warehousing automation (Hy-Tek), pet food (</a:t>
            </a:r>
            <a:r>
              <a:rPr lang="en-US" sz="1000" dirty="0" err="1">
                <a:solidFill>
                  <a:srgbClr val="666666"/>
                </a:solidFill>
                <a:latin typeface="Avenir" pitchFamily="34" charset="0"/>
                <a:ea typeface="Avenir" pitchFamily="34" charset="-122"/>
                <a:cs typeface="Avenir" pitchFamily="34" charset="-120"/>
              </a:rPr>
              <a:t>NaturPak</a:t>
            </a:r>
            <a:r>
              <a:rPr lang="en-US" sz="1000" dirty="0">
                <a:solidFill>
                  <a:srgbClr val="666666"/>
                </a:solidFill>
                <a:latin typeface="Avenir" pitchFamily="34" charset="0"/>
                <a:ea typeface="Avenir" pitchFamily="34" charset="-122"/>
                <a:cs typeface="Avenir" pitchFamily="34" charset="-120"/>
              </a:rPr>
              <a:t>), </a:t>
            </a:r>
            <a:r>
              <a:rPr lang="en-US" sz="1000" dirty="0" err="1">
                <a:solidFill>
                  <a:srgbClr val="666666"/>
                </a:solidFill>
                <a:latin typeface="Avenir" pitchFamily="34" charset="0"/>
                <a:ea typeface="Avenir" pitchFamily="34" charset="-122"/>
                <a:cs typeface="Avenir" pitchFamily="34" charset="-120"/>
              </a:rPr>
              <a:t>nutritionals</a:t>
            </a:r>
            <a:r>
              <a:rPr lang="en-US" sz="1000" dirty="0">
                <a:solidFill>
                  <a:srgbClr val="666666"/>
                </a:solidFill>
                <a:latin typeface="Avenir" pitchFamily="34" charset="0"/>
                <a:ea typeface="Avenir" pitchFamily="34" charset="-122"/>
                <a:cs typeface="Avenir" pitchFamily="34" charset="-120"/>
              </a:rPr>
              <a:t> (K-1/Everest)</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COGS scope expansion successful and increasing across projects</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Strong client satisfaction – NPS results positive; enthusiastic participation in video customer testimonials</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Successful team development: 4 promotions; 8 new hires (3 departures) (Jan. ‘25 – ‘Feb. 26); Delivery Team-wide training held in October,  Delivery Manager team-building offsites held Jan. &amp; Sept. 2025 </a:t>
            </a:r>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rPr>
              <a:t>Colab91 (offshore India delivery) relationship; 3 resources (2 delivery, 1 AP support) starting between Feb. – May 2026</a:t>
            </a:r>
            <a:endParaRPr lang="en-US" sz="1000" dirty="0"/>
          </a:p>
        </p:txBody>
      </p:sp>
      <p:sp>
        <p:nvSpPr>
          <p:cNvPr id="9" name="Text 6"/>
          <p:cNvSpPr/>
          <p:nvPr/>
        </p:nvSpPr>
        <p:spPr>
          <a:xfrm>
            <a:off x="4617721" y="950119"/>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Only 13% of projects closed out on-time (in a 6 month time frame) - on-time delivery remains a challenge</a:t>
            </a:r>
            <a:endParaRPr lang="en-US" sz="1000" dirty="0">
              <a:solidFill>
                <a:srgbClr val="666666"/>
              </a:solidFill>
            </a:endParaRPr>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Revenue collection challenges on contingent/hybrid projects – baseline reductions impacted ROI achievement (while contractual language protects us when baselines fall more than 20%, this language is challenging to enforce)</a:t>
            </a:r>
            <a:endParaRPr lang="en-US" sz="1000" dirty="0">
              <a:solidFill>
                <a:srgbClr val="666666"/>
              </a:solidFill>
            </a:endParaRPr>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Managed spend offering gained minimal traction</a:t>
            </a:r>
            <a:endParaRPr lang="en-US" sz="1000" dirty="0">
              <a:solidFill>
                <a:srgbClr val="666666"/>
              </a:solidFill>
            </a:endParaRPr>
          </a:p>
        </p:txBody>
      </p:sp>
      <p:sp>
        <p:nvSpPr>
          <p:cNvPr id="10" name="Shape 7"/>
          <p:cNvSpPr/>
          <p:nvPr/>
        </p:nvSpPr>
        <p:spPr>
          <a:xfrm>
            <a:off x="728846" y="3365376"/>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525043" y="3425467"/>
            <a:ext cx="7589520" cy="274320"/>
          </a:xfrm>
          <a:prstGeom prst="rect">
            <a:avLst/>
          </a:prstGeom>
          <a:noFill/>
          <a:ln/>
        </p:spPr>
        <p:txBody>
          <a:bodyPr wrap="square" rtlCol="0" anchor="ctr"/>
          <a:lstStyle/>
          <a:p>
            <a:pPr marL="0" indent="0">
              <a:buNone/>
            </a:pPr>
            <a:r>
              <a:rPr lang="en-US" sz="1400" b="1" dirty="0">
                <a:solidFill>
                  <a:srgbClr val="E8642C"/>
                </a:solidFill>
                <a:latin typeface="Avenir" pitchFamily="34" charset="0"/>
                <a:ea typeface="Avenir" pitchFamily="34" charset="-122"/>
                <a:cs typeface="Avenir" pitchFamily="34" charset="-120"/>
              </a:rPr>
              <a:t>2026 Focus</a:t>
            </a:r>
            <a:endParaRPr lang="en-US" sz="1400" dirty="0"/>
          </a:p>
        </p:txBody>
      </p:sp>
      <p:sp>
        <p:nvSpPr>
          <p:cNvPr id="12" name="Text 9"/>
          <p:cNvSpPr/>
          <p:nvPr/>
        </p:nvSpPr>
        <p:spPr>
          <a:xfrm>
            <a:off x="640080" y="3712249"/>
            <a:ext cx="7589520" cy="128016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Improve consistency of delivery through New Hire training (to be held 2/24-2/25 in Chicago) and roll out of Delivery Principles (“The Treya Way”), Delivery Playbook, and slide template library by start of Q2 2026</a:t>
            </a:r>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Improve on-time delivery through granular Wrike milestone tracking and more proactive client communication re: delays</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100% revenue collection: obtain baseline/savings approval as early in project as possible; escalate unpaid invoices much earlier</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cs typeface="Avenir" pitchFamily="34" charset="-120"/>
              </a:rPr>
              <a:t>Continue COGS scope expansion as a differentiator</a:t>
            </a:r>
            <a:endParaRPr lang="en-US" sz="1000" dirty="0"/>
          </a:p>
          <a:p>
            <a:pPr marL="342900" indent="-342900">
              <a:spcAft>
                <a:spcPts val="400"/>
              </a:spcAft>
              <a:buClr>
                <a:srgbClr val="E8642C"/>
              </a:buClr>
              <a:buSzPct val="60000"/>
              <a:buChar char="■"/>
            </a:pPr>
            <a:r>
              <a:rPr lang="en-US" sz="1000" dirty="0">
                <a:solidFill>
                  <a:srgbClr val="666666"/>
                </a:solidFill>
                <a:latin typeface="Avenir" pitchFamily="34" charset="0"/>
                <a:ea typeface="Avenir" pitchFamily="34" charset="-122"/>
              </a:rPr>
              <a:t>Re-allocate CDO’s time through delegation and reprioritization to increase focus on client relationship development and business development support and decrease focus on day-to-day project management support</a:t>
            </a:r>
            <a:endParaRPr lang="en-US" sz="1000" dirty="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637CA00B-7DD0-4EFB-BD3A-2D8D8D0AEF91}" type="slidenum">
              <a:rPr lang="en-US" sz="1000" smtClean="0">
                <a:solidFill>
                  <a:srgbClr val="999999"/>
                </a:solidFill>
                <a:latin typeface="Avenir" pitchFamily="34" charset="0"/>
                <a:ea typeface="Avenir" pitchFamily="34" charset="-122"/>
                <a:cs typeface="Avenir" pitchFamily="34" charset="-120"/>
              </a:rPr>
              <a:t>4</a:t>
            </a:fld>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Marketing</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640080" y="1207008"/>
            <a:ext cx="3657600" cy="182880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Marketing plan established for 2026</a:t>
            </a:r>
            <a:endParaRPr lang="en-US" sz="1100"/>
          </a:p>
          <a:p>
            <a:pPr marL="342900" indent="-342900">
              <a:spcAft>
                <a:spcPts val="500"/>
              </a:spcAft>
              <a:buClr>
                <a:srgbClr val="E8642C"/>
              </a:buClr>
              <a:buSzPct val="60000"/>
              <a:buChar char="■"/>
            </a:pPr>
            <a:r>
              <a:rPr lang="en-US" sz="1100">
                <a:solidFill>
                  <a:srgbClr val="666666"/>
                </a:solidFill>
                <a:latin typeface="Avenir" pitchFamily="34" charset="0"/>
              </a:rPr>
              <a:t>Customer video testimonials (3/5 complete; 2 scheduled)</a:t>
            </a:r>
          </a:p>
          <a:p>
            <a:pPr marL="342900" indent="-342900">
              <a:spcAft>
                <a:spcPts val="500"/>
              </a:spcAft>
              <a:buClr>
                <a:srgbClr val="E8642C"/>
              </a:buClr>
              <a:buSzPct val="60000"/>
              <a:buChar char="■"/>
            </a:pPr>
            <a:r>
              <a:rPr lang="en-US" sz="1100">
                <a:solidFill>
                  <a:srgbClr val="666666"/>
                </a:solidFill>
                <a:latin typeface="Avenir" pitchFamily="34" charset="0"/>
              </a:rPr>
              <a:t>3/31 – 4/1 ”Treya PE Summit” </a:t>
            </a:r>
          </a:p>
          <a:p>
            <a:pPr marL="342900" indent="-342900">
              <a:spcAft>
                <a:spcPts val="500"/>
              </a:spcAft>
              <a:buClr>
                <a:srgbClr val="E8642C"/>
              </a:buClr>
              <a:buSzPct val="60000"/>
              <a:buChar char="■"/>
            </a:pPr>
            <a:r>
              <a:rPr lang="en-US" sz="1100">
                <a:solidFill>
                  <a:srgbClr val="666666"/>
                </a:solidFill>
                <a:latin typeface="Avenir" pitchFamily="34" charset="0"/>
              </a:rPr>
              <a:t>Initiated initial demand gen campaigns</a:t>
            </a:r>
          </a:p>
          <a:p>
            <a:pPr marL="342900" indent="-342900">
              <a:spcAft>
                <a:spcPts val="500"/>
              </a:spcAft>
              <a:buClr>
                <a:srgbClr val="E8642C"/>
              </a:buClr>
              <a:buSzPct val="60000"/>
              <a:buChar char="■"/>
            </a:pPr>
            <a:r>
              <a:rPr lang="en-US" sz="1100">
                <a:solidFill>
                  <a:srgbClr val="666666"/>
                </a:solidFill>
                <a:latin typeface="Avenir" pitchFamily="34" charset="0"/>
              </a:rPr>
              <a:t>LLM/AI based content generation - POC</a:t>
            </a:r>
            <a:endParaRPr lang="en-US" sz="1100"/>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Very sluggish initial progress with marketing plan and activities and an appropriate marketing cadence</a:t>
            </a:r>
          </a:p>
          <a:p>
            <a:pPr marL="342900" indent="-342900">
              <a:spcAft>
                <a:spcPts val="500"/>
              </a:spcAft>
              <a:buClr>
                <a:srgbClr val="E8642C"/>
              </a:buClr>
              <a:buSzPct val="60000"/>
              <a:buChar char="■"/>
            </a:pPr>
            <a:r>
              <a:rPr lang="en-US" sz="1100">
                <a:solidFill>
                  <a:srgbClr val="666666"/>
                </a:solidFill>
                <a:latin typeface="Avenir" pitchFamily="34" charset="0"/>
              </a:rPr>
              <a:t>Have not yet reached a 100% rhythm</a:t>
            </a:r>
            <a:endParaRPr lang="en-US" sz="1100"/>
          </a:p>
        </p:txBody>
      </p:sp>
      <p:sp>
        <p:nvSpPr>
          <p:cNvPr id="10" name="Shape 7"/>
          <p:cNvSpPr/>
          <p:nvPr/>
        </p:nvSpPr>
        <p:spPr>
          <a:xfrm>
            <a:off x="640080" y="3172968"/>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3282696"/>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557016"/>
            <a:ext cx="7589520" cy="1280160"/>
          </a:xfrm>
          <a:prstGeom prst="rect">
            <a:avLst/>
          </a:prstGeom>
          <a:noFill/>
          <a:ln/>
        </p:spPr>
        <p:txBody>
          <a:bodyPr wrap="square" lIns="0" tIns="0" rIns="0" bIns="0" rtlCol="0" anchor="t"/>
          <a:lstStyle/>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Support for KSA expansion; Improved demand gen (PVP, Parcel, Consulting); Sales Enablement</a:t>
            </a:r>
          </a:p>
          <a:p>
            <a:pPr marL="342900" indent="-342900">
              <a:spcAft>
                <a:spcPts val="500"/>
              </a:spcAft>
              <a:buClr>
                <a:srgbClr val="E8642C"/>
              </a:buClr>
              <a:buSzPct val="60000"/>
              <a:buChar char="■"/>
            </a:pPr>
            <a:r>
              <a:rPr lang="en-US" sz="1100">
                <a:solidFill>
                  <a:srgbClr val="666666"/>
                </a:solidFill>
                <a:latin typeface="Avenir" pitchFamily="34" charset="0"/>
                <a:ea typeface="Avenir" pitchFamily="34" charset="-122"/>
                <a:cs typeface="Avenir" pitchFamily="34" charset="-120"/>
              </a:rPr>
              <a:t>More details on slides 19-20</a:t>
            </a:r>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DFB9AACC-7922-4F03-81A3-ED3BF1C28FB6}" type="slidenum">
              <a:rPr lang="en-US" sz="1000" smtClean="0">
                <a:solidFill>
                  <a:srgbClr val="999999"/>
                </a:solidFill>
                <a:latin typeface="Avenir" pitchFamily="34" charset="0"/>
                <a:ea typeface="Avenir" pitchFamily="34" charset="-122"/>
                <a:cs typeface="Avenir" pitchFamily="34" charset="-120"/>
              </a:rPr>
              <a:t>5</a:t>
            </a:fld>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PVP</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569896" y="1196982"/>
            <a:ext cx="3858126" cy="1858878"/>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PVP concept validated: multiple vendor partners actively engaged in consulting projects</a:t>
            </a:r>
            <a:endParaRPr lang="en-US" sz="1000">
              <a:latin typeface="Avenir"/>
              <a:ea typeface="Avenir"/>
            </a:endParaRPr>
          </a:p>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Great buy-in from Delivery team driving widescale adoption in consulting channel</a:t>
            </a:r>
          </a:p>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Key hire of VP level sales position dedicated to PVP onboarded and producing</a:t>
            </a:r>
          </a:p>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More than $35M spend converted to date, with $40k revenue recognized in December</a:t>
            </a:r>
            <a:endParaRPr lang="en-US" sz="1000">
              <a:latin typeface="Avenir"/>
            </a:endParaRPr>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PVP revenue still modest relative to long-term potential</a:t>
            </a:r>
            <a:endParaRPr lang="en-US" sz="1000">
              <a:latin typeface="Avenir"/>
              <a:ea typeface="Avenir"/>
            </a:endParaRPr>
          </a:p>
          <a:p>
            <a:pPr marL="342900" indent="-342900">
              <a:spcAft>
                <a:spcPts val="400"/>
              </a:spcAft>
              <a:buClr>
                <a:srgbClr val="E8642C"/>
              </a:buClr>
              <a:buSzPct val="60000"/>
              <a:buFont typeface="Arial"/>
              <a:buChar char="■"/>
            </a:pPr>
            <a:r>
              <a:rPr lang="en-US" sz="1000">
                <a:solidFill>
                  <a:srgbClr val="666666"/>
                </a:solidFill>
                <a:ea typeface="+mn-lt"/>
                <a:cs typeface="+mn-lt"/>
              </a:rPr>
              <a:t>Pipeline and conversion tracking still to be formalized in Salesforce and beyond </a:t>
            </a:r>
            <a:endParaRPr lang="en-US" sz="1000">
              <a:solidFill>
                <a:srgbClr val="000000"/>
              </a:solidFill>
              <a:latin typeface="Avenir"/>
              <a:ea typeface="Avenir"/>
              <a:cs typeface="+mn-lt"/>
            </a:endParaRPr>
          </a:p>
          <a:p>
            <a:pPr marL="342900" indent="-342900">
              <a:spcAft>
                <a:spcPts val="400"/>
              </a:spcAft>
              <a:buClr>
                <a:srgbClr val="E8642C"/>
              </a:buClr>
              <a:buSzPct val="60000"/>
              <a:buFont typeface="Arial"/>
              <a:buChar char="■"/>
            </a:pPr>
            <a:r>
              <a:rPr lang="en-US" sz="1000">
                <a:solidFill>
                  <a:srgbClr val="666666"/>
                </a:solidFill>
                <a:latin typeface="Avenir"/>
              </a:rPr>
              <a:t>Slower conversion than expected:  time from "conversion" to first dollar shipped can drag out</a:t>
            </a:r>
          </a:p>
          <a:p>
            <a:pPr marL="342900" indent="-342900">
              <a:spcAft>
                <a:spcPts val="400"/>
              </a:spcAft>
              <a:buClr>
                <a:srgbClr val="E8642C"/>
              </a:buClr>
              <a:buSzPct val="60000"/>
              <a:buFont typeface="Arial"/>
              <a:buChar char="■"/>
            </a:pPr>
            <a:r>
              <a:rPr lang="en-US" sz="1000">
                <a:solidFill>
                  <a:srgbClr val="666666"/>
                </a:solidFill>
              </a:rPr>
              <a:t>No real outbound marketing plan in place</a:t>
            </a:r>
            <a:endParaRPr lang="en-US"/>
          </a:p>
          <a:p>
            <a:pPr marL="342900" indent="-342900">
              <a:spcAft>
                <a:spcPts val="400"/>
              </a:spcAft>
              <a:buClr>
                <a:srgbClr val="E8642C"/>
              </a:buClr>
              <a:buSzPct val="60000"/>
              <a:buFont typeface="Arial"/>
              <a:buChar char="■"/>
            </a:pPr>
            <a:r>
              <a:rPr lang="en-US" sz="1000">
                <a:solidFill>
                  <a:srgbClr val="666666"/>
                </a:solidFill>
              </a:rPr>
              <a:t>Adoption by PEs at the portfolio level has been limited to date</a:t>
            </a:r>
          </a:p>
          <a:p>
            <a:pPr marL="342900" indent="-342900">
              <a:spcAft>
                <a:spcPts val="400"/>
              </a:spcAft>
              <a:buClr>
                <a:srgbClr val="E8642C"/>
              </a:buClr>
              <a:buSzPct val="60000"/>
              <a:buChar char="■"/>
            </a:pPr>
            <a:endParaRPr lang="en-US" sz="1000">
              <a:solidFill>
                <a:srgbClr val="666666"/>
              </a:solidFill>
            </a:endParaRPr>
          </a:p>
          <a:p>
            <a:pPr marL="342900" indent="-342900">
              <a:spcAft>
                <a:spcPts val="400"/>
              </a:spcAft>
              <a:buClr>
                <a:srgbClr val="E8642C"/>
              </a:buClr>
              <a:buSzPct val="60000"/>
              <a:buChar char="■"/>
            </a:pPr>
            <a:endParaRPr lang="en-US" sz="1000">
              <a:solidFill>
                <a:srgbClr val="666666"/>
              </a:solidFill>
            </a:endParaRPr>
          </a:p>
          <a:p>
            <a:pPr marL="342900" indent="-342900">
              <a:spcAft>
                <a:spcPts val="400"/>
              </a:spcAft>
              <a:buClr>
                <a:srgbClr val="E8642C"/>
              </a:buClr>
              <a:buSzPct val="60000"/>
              <a:buChar char="■"/>
            </a:pPr>
            <a:endParaRPr lang="en-US" sz="1000">
              <a:solidFill>
                <a:srgbClr val="666666"/>
              </a:solidFill>
            </a:endParaRPr>
          </a:p>
        </p:txBody>
      </p:sp>
      <p:sp>
        <p:nvSpPr>
          <p:cNvPr id="10" name="Shape 7"/>
          <p:cNvSpPr/>
          <p:nvPr/>
        </p:nvSpPr>
        <p:spPr>
          <a:xfrm>
            <a:off x="640080" y="3146010"/>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3311398"/>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657279"/>
            <a:ext cx="7589520" cy="128016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100% PVP vendor engagement in eligible consulting project categories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Scale PVP revenue through increased portfolio company adoption and marketing-driven demand gen</a:t>
            </a:r>
            <a:endParaRPr lang="en-US" sz="1000"/>
          </a:p>
          <a:p>
            <a:pPr marL="342900" indent="-342900">
              <a:spcAft>
                <a:spcPts val="400"/>
              </a:spcAft>
              <a:buClr>
                <a:srgbClr val="E8642C"/>
              </a:buClr>
              <a:buSzPct val="60000"/>
              <a:buChar char="■"/>
            </a:pPr>
            <a:r>
              <a:rPr lang="en-US" sz="1000">
                <a:solidFill>
                  <a:srgbClr val="666666"/>
                </a:solidFill>
                <a:latin typeface="Avenir"/>
                <a:ea typeface="Avenir"/>
                <a:cs typeface="Avenir" pitchFamily="34" charset="-120"/>
              </a:rPr>
              <a:t>Add new PVP vendor categories to expand addressable market; specifically, nail down playbook in Telecom</a:t>
            </a:r>
            <a:endParaRPr lang="en-US" sz="1000">
              <a:solidFill>
                <a:srgbClr val="666666"/>
              </a:solidFill>
              <a:latin typeface="Avenir"/>
            </a:endParaRPr>
          </a:p>
          <a:p>
            <a:pPr marL="342900" indent="-342900">
              <a:spcAft>
                <a:spcPts val="400"/>
              </a:spcAft>
              <a:buClr>
                <a:srgbClr val="E8642C"/>
              </a:buClr>
              <a:buSzPct val="60000"/>
              <a:buChar char="■"/>
            </a:pPr>
            <a:r>
              <a:rPr lang="en-US" sz="1000">
                <a:solidFill>
                  <a:srgbClr val="666666"/>
                </a:solidFill>
              </a:rPr>
              <a:t>Establish 2-3 meaningful channel relationships with other service providers (e.g., Harbor, OOCFO Firms, IBs, etc.)</a:t>
            </a:r>
          </a:p>
          <a:p>
            <a:pPr marL="342900" indent="-342900">
              <a:spcAft>
                <a:spcPts val="400"/>
              </a:spcAft>
              <a:buClr>
                <a:srgbClr val="E8642C"/>
              </a:buClr>
              <a:buSzPct val="60000"/>
              <a:buChar char="■"/>
            </a:pPr>
            <a:endParaRPr lang="en-US" sz="1000">
              <a:solidFill>
                <a:srgbClr val="666666"/>
              </a:solidFill>
            </a:endParaRPr>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1B5531E0-B315-49E9-BC21-1A2813180E8B}" type="slidenum">
              <a:rPr lang="en-US" sz="1000" smtClean="0">
                <a:solidFill>
                  <a:srgbClr val="999999"/>
                </a:solidFill>
                <a:latin typeface="Avenir" pitchFamily="34" charset="0"/>
                <a:ea typeface="Avenir" pitchFamily="34" charset="-122"/>
                <a:cs typeface="Avenir" pitchFamily="34" charset="-120"/>
              </a:rPr>
              <a:t>6</a:t>
            </a:fld>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Org. Health</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640080" y="1207008"/>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Implemented equity comp structure for managers – aligns incentives and improves retention</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Significant delivery team build-out: added multiple new consultants and analysts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Stronger leadership alignment</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New sales leadership in place and performing well – stronger execution and accountability</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Adopted EOS (Entrepreneurial Operating System) for leadership alignment, accountability, and traction on strategic initiatives</a:t>
            </a:r>
            <a:endParaRPr lang="en-US" sz="1000"/>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CRO transition mid-year created short-term disruption</a:t>
            </a:r>
            <a:endParaRPr lang="en-US" sz="1000"/>
          </a:p>
        </p:txBody>
      </p:sp>
      <p:sp>
        <p:nvSpPr>
          <p:cNvPr id="10" name="Shape 7"/>
          <p:cNvSpPr/>
          <p:nvPr/>
        </p:nvSpPr>
        <p:spPr>
          <a:xfrm>
            <a:off x="640080" y="3172968"/>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3282696"/>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557016"/>
            <a:ext cx="7589520" cy="128016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Embed EOS operating rhythm: Level 10 meetings, quarterly rocks, scorecard tracking across all departments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Continue building bench strength in delivery – right-size team for projected 2026 revenue growth</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Formalize talent development and succession planning for key roles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Maintain and build on improved leadership and managers group alignment – quarterly strategic offsites</a:t>
            </a:r>
            <a:endParaRPr lang="en-US" sz="100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38A511D9-6F31-44E1-9D9E-BADFD535F10B}" type="slidenum">
              <a:rPr lang="en-US" sz="1000" smtClean="0">
                <a:solidFill>
                  <a:srgbClr val="999999"/>
                </a:solidFill>
                <a:latin typeface="Avenir" pitchFamily="34" charset="0"/>
                <a:ea typeface="Avenir" pitchFamily="34" charset="-122"/>
                <a:cs typeface="Avenir" pitchFamily="34" charset="-120"/>
              </a:rPr>
              <a:t>7</a:t>
            </a:fld>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Accent Bar"/>
          <p:cNvSpPr/>
          <p:nvPr/>
        </p:nvSpPr>
        <p:spPr>
          <a:xfrm>
            <a:off x="441300" y="2"/>
            <a:ext cx="55829" cy="652856"/>
          </a:xfrm>
          <a:prstGeom prst="rect">
            <a:avLst/>
          </a:prstGeom>
          <a:solidFill>
            <a:srgbClr val="F66C2E"/>
          </a:solidFill>
          <a:ln>
            <a:no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7692000" y="182880"/>
            <a:ext cx="1252732" cy="217467"/>
          </a:xfrm>
          <a:prstGeom prst="rect">
            <a:avLst/>
          </a:prstGeom>
        </p:spPr>
      </p:pic>
      <p:sp>
        <p:nvSpPr>
          <p:cNvPr id="4" name="Shape 1"/>
          <p:cNvSpPr/>
          <p:nvPr/>
        </p:nvSpPr>
        <p:spPr>
          <a:xfrm>
            <a:off x="7692000" y="430347"/>
            <a:ext cx="1252732" cy="36576"/>
          </a:xfrm>
          <a:prstGeom prst="rect">
            <a:avLst/>
          </a:prstGeom>
          <a:solidFill>
            <a:srgbClr val="E8642C"/>
          </a:solidFill>
          <a:ln/>
        </p:spPr>
        <p:txBody>
          <a:bodyPr/>
          <a:lstStyle/>
          <a:p>
            <a:endParaRPr lang="en-US"/>
          </a:p>
        </p:txBody>
      </p:sp>
      <p:sp>
        <p:nvSpPr>
          <p:cNvPr id="5" name="Text 2"/>
          <p:cNvSpPr/>
          <p:nvPr/>
        </p:nvSpPr>
        <p:spPr>
          <a:xfrm>
            <a:off x="548640" y="137160"/>
            <a:ext cx="6400800" cy="731520"/>
          </a:xfrm>
          <a:prstGeom prst="rect">
            <a:avLst/>
          </a:prstGeom>
          <a:noFill/>
          <a:ln/>
        </p:spPr>
        <p:txBody>
          <a:bodyPr wrap="square" rtlCol="0" anchor="ctr"/>
          <a:lstStyle/>
          <a:p>
            <a:pPr marL="0" indent="0">
              <a:buNone/>
            </a:pPr>
            <a:r>
              <a:rPr lang="en-US" sz="2800" b="1">
                <a:solidFill>
                  <a:srgbClr val="393941"/>
                </a:solidFill>
                <a:latin typeface="Avenir" pitchFamily="34" charset="0"/>
                <a:ea typeface="Avenir" pitchFamily="34" charset="-122"/>
                <a:cs typeface="Avenir" pitchFamily="34" charset="-120"/>
              </a:rPr>
              <a:t>2025 Look Back – M&amp;A</a:t>
            </a:r>
            <a:endParaRPr lang="en-US" sz="2800"/>
          </a:p>
        </p:txBody>
      </p:sp>
      <p:sp>
        <p:nvSpPr>
          <p:cNvPr id="6" name="Text 3"/>
          <p:cNvSpPr/>
          <p:nvPr/>
        </p:nvSpPr>
        <p:spPr>
          <a:xfrm>
            <a:off x="64008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Wins</a:t>
            </a:r>
            <a:endParaRPr lang="en-US" sz="1400"/>
          </a:p>
        </p:txBody>
      </p:sp>
      <p:sp>
        <p:nvSpPr>
          <p:cNvPr id="7" name="Text 4"/>
          <p:cNvSpPr/>
          <p:nvPr/>
        </p:nvSpPr>
        <p:spPr>
          <a:xfrm>
            <a:off x="4572000" y="914400"/>
            <a:ext cx="365760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Misses</a:t>
            </a:r>
            <a:endParaRPr lang="en-US" sz="1400"/>
          </a:p>
        </p:txBody>
      </p:sp>
      <p:sp>
        <p:nvSpPr>
          <p:cNvPr id="8" name="Text 5"/>
          <p:cNvSpPr/>
          <p:nvPr/>
        </p:nvSpPr>
        <p:spPr>
          <a:xfrm>
            <a:off x="640080" y="1207008"/>
            <a:ext cx="3657600" cy="197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Developed initial M&amp;A thesis and prioritization framework with market map across fit dimensions</a:t>
            </a:r>
          </a:p>
          <a:p>
            <a:pPr marL="342900" indent="-342900">
              <a:spcAft>
                <a:spcPts val="400"/>
              </a:spcAft>
              <a:buClr>
                <a:srgbClr val="E8642C"/>
              </a:buClr>
              <a:buSzPct val="60000"/>
              <a:buChar char="■"/>
            </a:pPr>
            <a:r>
              <a:rPr lang="en-US" sz="1000">
                <a:solidFill>
                  <a:srgbClr val="666666"/>
                </a:solidFill>
                <a:latin typeface="Avenir" pitchFamily="34" charset="0"/>
              </a:rPr>
              <a:t>Evaluated multiple opportunities (mostly inbound from bank processes), notable include: Moresby Group, Holden, </a:t>
            </a:r>
            <a:r>
              <a:rPr lang="en-US" sz="1000" err="1">
                <a:solidFill>
                  <a:srgbClr val="666666"/>
                </a:solidFill>
                <a:latin typeface="Avenir" pitchFamily="34" charset="0"/>
              </a:rPr>
              <a:t>Acustraetgy</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Refined acquisition strategy: </a:t>
            </a:r>
            <a:r>
              <a:rPr lang="en-US" sz="1000" err="1">
                <a:solidFill>
                  <a:srgbClr val="666666"/>
                </a:solidFill>
                <a:latin typeface="Avenir" pitchFamily="34" charset="0"/>
                <a:ea typeface="Avenir" pitchFamily="34" charset="-122"/>
                <a:cs typeface="Avenir" pitchFamily="34" charset="-120"/>
              </a:rPr>
              <a:t>acqui</a:t>
            </a:r>
            <a:r>
              <a:rPr lang="en-US" sz="1000">
                <a:solidFill>
                  <a:srgbClr val="666666"/>
                </a:solidFill>
                <a:latin typeface="Avenir" pitchFamily="34" charset="0"/>
                <a:ea typeface="Avenir" pitchFamily="34" charset="-122"/>
                <a:cs typeface="Avenir" pitchFamily="34" charset="-120"/>
              </a:rPr>
              <a:t>-hire identified as lower-risk, higher-probability path for building pricing capability</a:t>
            </a:r>
            <a:endParaRPr lang="en-US" sz="1000"/>
          </a:p>
        </p:txBody>
      </p:sp>
      <p:sp>
        <p:nvSpPr>
          <p:cNvPr id="9" name="Text 6"/>
          <p:cNvSpPr/>
          <p:nvPr/>
        </p:nvSpPr>
        <p:spPr>
          <a:xfrm>
            <a:off x="4572000" y="1207008"/>
            <a:ext cx="3657600" cy="182880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Did not close any acquisitions in 2025 </a:t>
            </a:r>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Moresby Group IOI withdrawn due to elevated valuation expectations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Holden and </a:t>
            </a:r>
            <a:r>
              <a:rPr lang="en-US" sz="1000" err="1">
                <a:solidFill>
                  <a:srgbClr val="666666"/>
                </a:solidFill>
                <a:latin typeface="Avenir" pitchFamily="34" charset="0"/>
                <a:ea typeface="Avenir" pitchFamily="34" charset="-122"/>
                <a:cs typeface="Avenir" pitchFamily="34" charset="-120"/>
              </a:rPr>
              <a:t>Acustrategy</a:t>
            </a:r>
            <a:r>
              <a:rPr lang="en-US" sz="1000">
                <a:solidFill>
                  <a:srgbClr val="666666"/>
                </a:solidFill>
                <a:latin typeface="Avenir" pitchFamily="34" charset="0"/>
                <a:ea typeface="Avenir" pitchFamily="34" charset="-122"/>
                <a:cs typeface="Avenir" pitchFamily="34" charset="-120"/>
              </a:rPr>
              <a:t> both ruled out after deeper evaluation (fit and interest gaps respectively)</a:t>
            </a:r>
            <a:endParaRPr lang="en-US" sz="1000"/>
          </a:p>
        </p:txBody>
      </p:sp>
      <p:sp>
        <p:nvSpPr>
          <p:cNvPr id="10" name="Shape 7"/>
          <p:cNvSpPr/>
          <p:nvPr/>
        </p:nvSpPr>
        <p:spPr>
          <a:xfrm>
            <a:off x="640080" y="2814083"/>
            <a:ext cx="7589520" cy="0"/>
          </a:xfrm>
          <a:prstGeom prst="line">
            <a:avLst/>
          </a:prstGeom>
          <a:noFill/>
          <a:ln w="12700">
            <a:solidFill>
              <a:srgbClr val="999999"/>
            </a:solidFill>
            <a:prstDash val="solid"/>
          </a:ln>
        </p:spPr>
        <p:txBody>
          <a:bodyPr/>
          <a:lstStyle/>
          <a:p>
            <a:endParaRPr lang="en-US"/>
          </a:p>
        </p:txBody>
      </p:sp>
      <p:sp>
        <p:nvSpPr>
          <p:cNvPr id="11" name="Text 8"/>
          <p:cNvSpPr/>
          <p:nvPr/>
        </p:nvSpPr>
        <p:spPr>
          <a:xfrm>
            <a:off x="640080" y="2955615"/>
            <a:ext cx="7589520" cy="274320"/>
          </a:xfrm>
          <a:prstGeom prst="rect">
            <a:avLst/>
          </a:prstGeom>
          <a:noFill/>
          <a:ln/>
        </p:spPr>
        <p:txBody>
          <a:bodyPr wrap="square" rtlCol="0" anchor="ctr"/>
          <a:lstStyle/>
          <a:p>
            <a:pPr marL="0" indent="0">
              <a:buNone/>
            </a:pPr>
            <a:r>
              <a:rPr lang="en-US" sz="1400" b="1">
                <a:solidFill>
                  <a:srgbClr val="E8642C"/>
                </a:solidFill>
                <a:latin typeface="Avenir" pitchFamily="34" charset="0"/>
                <a:ea typeface="Avenir" pitchFamily="34" charset="-122"/>
                <a:cs typeface="Avenir" pitchFamily="34" charset="-120"/>
              </a:rPr>
              <a:t>2026 Focus</a:t>
            </a:r>
            <a:endParaRPr lang="en-US" sz="1400"/>
          </a:p>
        </p:txBody>
      </p:sp>
      <p:sp>
        <p:nvSpPr>
          <p:cNvPr id="12" name="Text 9"/>
          <p:cNvSpPr/>
          <p:nvPr/>
        </p:nvSpPr>
        <p:spPr>
          <a:xfrm>
            <a:off x="640080" y="3253788"/>
            <a:ext cx="7589520" cy="1280160"/>
          </a:xfrm>
          <a:prstGeom prst="rect">
            <a:avLst/>
          </a:prstGeom>
          <a:noFill/>
          <a:ln/>
        </p:spPr>
        <p:txBody>
          <a:bodyPr wrap="square" lIns="0" tIns="0" rIns="0" bIns="0" rtlCol="0" anchor="t"/>
          <a:lstStyle/>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Pricing capability remains high priority – </a:t>
            </a:r>
            <a:r>
              <a:rPr lang="en-US" sz="1000" err="1">
                <a:solidFill>
                  <a:srgbClr val="666666"/>
                </a:solidFill>
                <a:latin typeface="Avenir" pitchFamily="34" charset="0"/>
                <a:ea typeface="Avenir" pitchFamily="34" charset="-122"/>
                <a:cs typeface="Avenir" pitchFamily="34" charset="-120"/>
              </a:rPr>
              <a:t>acqui</a:t>
            </a:r>
            <a:r>
              <a:rPr lang="en-US" sz="1000">
                <a:solidFill>
                  <a:srgbClr val="666666"/>
                </a:solidFill>
                <a:latin typeface="Avenir" pitchFamily="34" charset="0"/>
                <a:ea typeface="Avenir" pitchFamily="34" charset="-122"/>
                <a:cs typeface="Avenir" pitchFamily="34" charset="-120"/>
              </a:rPr>
              <a:t>-hire as preferred path, with 4 active candidates in pipeline</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Continue sourcing right-sized targets with strong complementary fit (product and market synergies) at attractive valuations</a:t>
            </a:r>
            <a:endParaRPr lang="en-US" sz="1000"/>
          </a:p>
          <a:p>
            <a:pPr marL="342900" indent="-342900">
              <a:spcAft>
                <a:spcPts val="400"/>
              </a:spcAft>
              <a:buClr>
                <a:srgbClr val="E8642C"/>
              </a:buClr>
              <a:buSzPct val="60000"/>
              <a:buChar char="■"/>
            </a:pPr>
            <a:r>
              <a:rPr lang="en-US" sz="1000">
                <a:solidFill>
                  <a:srgbClr val="666666"/>
                </a:solidFill>
                <a:latin typeface="Avenir" pitchFamily="34" charset="0"/>
                <a:ea typeface="Avenir" pitchFamily="34" charset="-122"/>
                <a:cs typeface="Avenir" pitchFamily="34" charset="-120"/>
              </a:rPr>
              <a:t>Maintain valuation discipline</a:t>
            </a:r>
            <a:endParaRPr lang="en-US" sz="1000"/>
          </a:p>
        </p:txBody>
      </p:sp>
      <p:sp>
        <p:nvSpPr>
          <p:cNvPr id="100" name="Slide Number Placeholder 100"/>
          <p:cNvSpPr/>
          <p:nvPr/>
        </p:nvSpPr>
        <p:spPr>
          <a:xfrm>
            <a:off x="8503920" y="4754880"/>
            <a:ext cx="457200" cy="274320"/>
          </a:xfrm>
          <a:prstGeom prst="rect">
            <a:avLst/>
          </a:prstGeom>
          <a:noFill/>
          <a:ln/>
        </p:spPr>
        <p:txBody>
          <a:bodyPr wrap="square" rtlCol="0" anchor="ctr"/>
          <a:lstStyle/>
          <a:p>
            <a:pPr marL="0" indent="0" algn="r">
              <a:buNone/>
            </a:pPr>
            <a:fld id="{8E7BC7A3-36C7-4A0C-86C4-B7B8F3FA1877}" type="slidenum">
              <a:rPr lang="en-US" sz="1000" smtClean="0">
                <a:solidFill>
                  <a:srgbClr val="999999"/>
                </a:solidFill>
                <a:latin typeface="Avenir" pitchFamily="34" charset="0"/>
                <a:ea typeface="Avenir" pitchFamily="34" charset="-122"/>
                <a:cs typeface="Avenir" pitchFamily="34" charset="-120"/>
              </a:rPr>
              <a:t>8</a:t>
            </a:fld>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0A3F0C-4E05-098E-16FA-C5B6AD91037F}"/>
              </a:ext>
            </a:extLst>
          </p:cNvPr>
          <p:cNvSpPr txBox="1"/>
          <p:nvPr/>
        </p:nvSpPr>
        <p:spPr>
          <a:xfrm>
            <a:off x="541475" y="87826"/>
            <a:ext cx="3688895" cy="438581"/>
          </a:xfrm>
          <a:prstGeom prst="rect">
            <a:avLst/>
          </a:prstGeom>
          <a:noFill/>
        </p:spPr>
        <p:txBody>
          <a:bodyPr wrap="square" lIns="68580" tIns="34290" rIns="68580" bIns="3429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a:solidFill>
                  <a:srgbClr val="393941"/>
                </a:solidFill>
                <a:latin typeface="Avenir Black"/>
              </a:rPr>
              <a:t>2025 Financial Summary</a:t>
            </a:r>
            <a:endParaRPr lang="en-US" sz="2400" b="1">
              <a:solidFill>
                <a:srgbClr val="393941"/>
              </a:solidFill>
              <a:latin typeface="Avenir Black" panose="02000503020000020003" pitchFamily="2" charset="0"/>
            </a:endParaRPr>
          </a:p>
        </p:txBody>
      </p:sp>
      <p:sp>
        <p:nvSpPr>
          <p:cNvPr id="9" name="TextBox 8">
            <a:extLst>
              <a:ext uri="{FF2B5EF4-FFF2-40B4-BE49-F238E27FC236}">
                <a16:creationId xmlns:a16="http://schemas.microsoft.com/office/drawing/2014/main" id="{ACCEF8D1-C414-4E84-E937-F425570B79B1}"/>
              </a:ext>
            </a:extLst>
          </p:cNvPr>
          <p:cNvSpPr txBox="1"/>
          <p:nvPr/>
        </p:nvSpPr>
        <p:spPr>
          <a:xfrm>
            <a:off x="5891951" y="748989"/>
            <a:ext cx="2823078" cy="3587929"/>
          </a:xfrm>
          <a:prstGeom prst="rect">
            <a:avLst/>
          </a:prstGeom>
          <a:noFill/>
        </p:spPr>
        <p:txBody>
          <a:bodyPr wrap="square" lIns="68580" tIns="34290" rIns="68580" bIns="34290" rtlCol="0" anchor="t">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3995" indent="-213995">
              <a:buClr>
                <a:srgbClr val="F66C2E"/>
              </a:buClr>
              <a:buFont typeface="Wingdings" panose="05000000000000000000" pitchFamily="2" charset="2"/>
              <a:buChar char="§"/>
            </a:pPr>
            <a:r>
              <a:rPr lang="en-US" sz="1200" b="1">
                <a:solidFill>
                  <a:srgbClr val="393941"/>
                </a:solidFill>
                <a:latin typeface="Calibri"/>
                <a:ea typeface="Calibri"/>
                <a:cs typeface="Calibri"/>
              </a:rPr>
              <a:t>Revenue:  </a:t>
            </a:r>
            <a:r>
              <a:rPr lang="en-US" sz="1200">
                <a:solidFill>
                  <a:srgbClr val="393941"/>
                </a:solidFill>
                <a:latin typeface="Calibri"/>
                <a:ea typeface="Calibri"/>
                <a:cs typeface="Calibri"/>
              </a:rPr>
              <a:t>Good growth in consulting revenue in post-audit numbers despite a large miss in bookings ($11.9M vs. $16.3M budget). UPS largely stabilized after significant declines through Q3; PVP revenue starting to offset losses ($150k run rate as of 12/31/25).</a:t>
            </a:r>
          </a:p>
          <a:p>
            <a:pPr marL="213995" indent="-213995">
              <a:buClr>
                <a:srgbClr val="F66C2E"/>
              </a:buClr>
              <a:buFont typeface="Wingdings" panose="05000000000000000000" pitchFamily="2" charset="2"/>
              <a:buChar char="§"/>
            </a:pPr>
            <a:endParaRPr lang="en-US" sz="1200">
              <a:solidFill>
                <a:srgbClr val="393941"/>
              </a:solidFill>
              <a:latin typeface="Calibri"/>
              <a:ea typeface="Calibri"/>
              <a:cs typeface="Calibri"/>
            </a:endParaRPr>
          </a:p>
          <a:p>
            <a:pPr marL="213995" indent="-213995">
              <a:buClr>
                <a:srgbClr val="F66C2E"/>
              </a:buClr>
              <a:buFont typeface="Wingdings" panose="05000000000000000000" pitchFamily="2" charset="2"/>
              <a:buChar char="§"/>
            </a:pPr>
            <a:r>
              <a:rPr lang="en-US" sz="1200" b="1">
                <a:solidFill>
                  <a:srgbClr val="393941"/>
                </a:solidFill>
                <a:latin typeface="Calibri"/>
                <a:ea typeface="Calibri"/>
                <a:cs typeface="Calibri"/>
              </a:rPr>
              <a:t>Cost of Sales &amp; Gross Profit:  </a:t>
            </a:r>
            <a:r>
              <a:rPr lang="en-US" sz="1200">
                <a:solidFill>
                  <a:srgbClr val="393941"/>
                </a:solidFill>
                <a:latin typeface="Calibri"/>
                <a:ea typeface="Calibri"/>
                <a:cs typeface="Calibri"/>
              </a:rPr>
              <a:t>Good cost control vs. Budget, with hiring largely deferred to Q4 2025 and Q1 2026.</a:t>
            </a:r>
          </a:p>
          <a:p>
            <a:pPr>
              <a:buClr>
                <a:srgbClr val="F66C2E"/>
              </a:buClr>
            </a:pPr>
            <a:endParaRPr lang="en-US" sz="1200" b="1">
              <a:solidFill>
                <a:srgbClr val="393941"/>
              </a:solidFill>
              <a:latin typeface="Calibri"/>
              <a:ea typeface="Calibri"/>
              <a:cs typeface="Calibri"/>
            </a:endParaRPr>
          </a:p>
          <a:p>
            <a:pPr marL="213995" indent="-213995">
              <a:buClr>
                <a:srgbClr val="F66C2E"/>
              </a:buClr>
              <a:buFont typeface="Wingdings" panose="05000000000000000000" pitchFamily="2" charset="2"/>
              <a:buChar char="§"/>
            </a:pPr>
            <a:r>
              <a:rPr lang="en-US" sz="1200" b="1" err="1">
                <a:solidFill>
                  <a:srgbClr val="393941"/>
                </a:solidFill>
                <a:latin typeface="Calibri"/>
                <a:ea typeface="Calibri" panose="020F0502020204030204"/>
                <a:cs typeface="Calibri" panose="020F0502020204030204"/>
              </a:rPr>
              <a:t>Opex</a:t>
            </a:r>
            <a:r>
              <a:rPr lang="en-US" sz="1200" b="1">
                <a:solidFill>
                  <a:srgbClr val="393941"/>
                </a:solidFill>
                <a:latin typeface="Calibri"/>
                <a:ea typeface="Calibri" panose="020F0502020204030204"/>
                <a:cs typeface="Calibri" panose="020F0502020204030204"/>
              </a:rPr>
              <a:t>: </a:t>
            </a:r>
            <a:r>
              <a:rPr lang="en-US" sz="1200">
                <a:solidFill>
                  <a:srgbClr val="393941"/>
                </a:solidFill>
                <a:latin typeface="Calibri"/>
                <a:ea typeface="Calibri" panose="020F0502020204030204"/>
                <a:cs typeface="Calibri" panose="020F0502020204030204"/>
              </a:rPr>
              <a:t>Costs significantly lower than plan but higher than the prior year, in line with expanded sales function and infrastructure to support planned growth. Positive variance on wages due to bonus accrual true-up. Under invested in marketing in 2025.</a:t>
            </a:r>
          </a:p>
        </p:txBody>
      </p:sp>
      <p:sp>
        <p:nvSpPr>
          <p:cNvPr id="7" name="TextBox 6">
            <a:extLst>
              <a:ext uri="{FF2B5EF4-FFF2-40B4-BE49-F238E27FC236}">
                <a16:creationId xmlns:a16="http://schemas.microsoft.com/office/drawing/2014/main" id="{67FF58C9-AAA6-E2B6-5611-EC7B8F89A3AF}"/>
              </a:ext>
            </a:extLst>
          </p:cNvPr>
          <p:cNvSpPr txBox="1"/>
          <p:nvPr/>
        </p:nvSpPr>
        <p:spPr>
          <a:xfrm>
            <a:off x="541267" y="473816"/>
            <a:ext cx="2057400" cy="225126"/>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013" i="1">
                <a:ea typeface="Calibri"/>
                <a:cs typeface="Calibri"/>
              </a:rPr>
              <a:t>($ in Thousands)</a:t>
            </a:r>
            <a:endParaRPr lang="en-US" sz="1013" i="1"/>
          </a:p>
        </p:txBody>
      </p:sp>
      <p:pic>
        <p:nvPicPr>
          <p:cNvPr id="8" name="Picture 7" descr="A screenshot of a computer screen  AI-generated content may be incorrect.">
            <a:extLst>
              <a:ext uri="{FF2B5EF4-FFF2-40B4-BE49-F238E27FC236}">
                <a16:creationId xmlns:a16="http://schemas.microsoft.com/office/drawing/2014/main" id="{558CDC0A-0BB5-A9D0-D010-9D881A154D84}"/>
              </a:ext>
            </a:extLst>
          </p:cNvPr>
          <p:cNvPicPr>
            <a:picLocks noChangeAspect="1"/>
          </p:cNvPicPr>
          <p:nvPr/>
        </p:nvPicPr>
        <p:blipFill>
          <a:blip r:embed="rId2"/>
          <a:stretch>
            <a:fillRect/>
          </a:stretch>
        </p:blipFill>
        <p:spPr>
          <a:xfrm>
            <a:off x="541709" y="701841"/>
            <a:ext cx="5223134" cy="4070686"/>
          </a:xfrm>
          <a:prstGeom prst="rect">
            <a:avLst/>
          </a:prstGeom>
        </p:spPr>
      </p:pic>
      <p:sp>
        <p:nvSpPr>
          <p:cNvPr id="12" name="Slide Number Placeholder 12"/>
          <p:cNvSpPr/>
          <p:nvPr/>
        </p:nvSpPr>
        <p:spPr>
          <a:xfrm>
            <a:off x="8503920" y="4754880"/>
            <a:ext cx="457200" cy="274320"/>
          </a:xfrm>
          <a:prstGeom prst="rect">
            <a:avLst/>
          </a:prstGeom>
          <a:noFill/>
          <a:ln/>
        </p:spPr>
        <p:txBody>
          <a:bodyPr wrap="square" rtlCol="0" anchor="ctr"/>
          <a:lstStyle/>
          <a:p>
            <a:pPr marL="0" indent="0" algn="r">
              <a:buNone/>
            </a:pPr>
            <a:fld id="{9BE534C2-ADFB-48A5-B52D-D63E821C312A}" type="slidenum">
              <a:rPr lang="en-US" sz="1000" smtClean="0">
                <a:solidFill>
                  <a:srgbClr val="999999"/>
                </a:solidFill>
                <a:latin typeface="Avenir" pitchFamily="34" charset="0"/>
                <a:ea typeface="Avenir" pitchFamily="34" charset="-122"/>
                <a:cs typeface="Avenir" pitchFamily="34" charset="-120"/>
              </a:rPr>
              <a:t>9</a:t>
            </a:fld>
            <a:endParaRPr lang="en-US" sz="1000"/>
          </a:p>
        </p:txBody>
      </p:sp>
    </p:spTree>
    <p:extLst>
      <p:ext uri="{BB962C8B-B14F-4D97-AF65-F5344CB8AC3E}">
        <p14:creationId xmlns:p14="http://schemas.microsoft.com/office/powerpoint/2010/main" val="929681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1475" y="174699"/>
            <a:ext cx="4266681" cy="523220"/>
          </a:xfrm>
          <a:prstGeom prst="rect">
            <a:avLst/>
          </a:prstGeom>
          <a:noFill/>
        </p:spPr>
        <p:txBody>
          <a:bodyPr wrap="none">
            <a:spAutoFit/>
          </a:bodyPr>
          <a:lstStyle/>
          <a:p>
            <a:r>
              <a:rPr lang="en-US" sz="2800" b="1">
                <a:solidFill>
                  <a:srgbClr val="393941"/>
                </a:solidFill>
              </a:rPr>
              <a:t>FY 2025 </a:t>
            </a:r>
            <a:r>
              <a:rPr sz="2800" b="1">
                <a:solidFill>
                  <a:srgbClr val="393941"/>
                </a:solidFill>
              </a:rPr>
              <a:t>Consulting </a:t>
            </a:r>
            <a:r>
              <a:rPr lang="en-US" sz="2800" b="1">
                <a:solidFill>
                  <a:srgbClr val="393941"/>
                </a:solidFill>
              </a:rPr>
              <a:t>Sales</a:t>
            </a:r>
            <a:endParaRPr sz="2800" b="1">
              <a:solidFill>
                <a:srgbClr val="393941"/>
              </a:solidFill>
            </a:endParaRPr>
          </a:p>
        </p:txBody>
      </p:sp>
      <p:sp>
        <p:nvSpPr>
          <p:cNvPr id="3" name="TextBox 2"/>
          <p:cNvSpPr txBox="1"/>
          <p:nvPr/>
        </p:nvSpPr>
        <p:spPr>
          <a:xfrm>
            <a:off x="634417" y="624343"/>
            <a:ext cx="1149674" cy="261610"/>
          </a:xfrm>
          <a:prstGeom prst="rect">
            <a:avLst/>
          </a:prstGeom>
          <a:noFill/>
        </p:spPr>
        <p:txBody>
          <a:bodyPr wrap="none">
            <a:spAutoFit/>
          </a:bodyPr>
          <a:lstStyle/>
          <a:p>
            <a:r>
              <a:rPr lang="en-US" sz="1100" b="1">
                <a:solidFill>
                  <a:srgbClr val="F66C2E"/>
                </a:solidFill>
                <a:latin typeface="Calibri"/>
              </a:rPr>
              <a:t>Sales</a:t>
            </a:r>
            <a:r>
              <a:rPr sz="1100" b="1">
                <a:solidFill>
                  <a:srgbClr val="F66C2E"/>
                </a:solidFill>
                <a:latin typeface="Calibri"/>
              </a:rPr>
              <a:t> by Quarter</a:t>
            </a:r>
          </a:p>
        </p:txBody>
      </p:sp>
      <p:sp>
        <p:nvSpPr>
          <p:cNvPr id="4" name="TextBox 3"/>
          <p:cNvSpPr txBox="1"/>
          <p:nvPr/>
        </p:nvSpPr>
        <p:spPr>
          <a:xfrm>
            <a:off x="4747294" y="624343"/>
            <a:ext cx="1499128" cy="261610"/>
          </a:xfrm>
          <a:prstGeom prst="rect">
            <a:avLst/>
          </a:prstGeom>
          <a:noFill/>
        </p:spPr>
        <p:txBody>
          <a:bodyPr wrap="none">
            <a:spAutoFit/>
          </a:bodyPr>
          <a:lstStyle/>
          <a:p>
            <a:r>
              <a:rPr lang="en-US" sz="1100" b="1">
                <a:solidFill>
                  <a:srgbClr val="F66C2E"/>
                </a:solidFill>
                <a:latin typeface="Calibri"/>
              </a:rPr>
              <a:t>Sales </a:t>
            </a:r>
            <a:r>
              <a:rPr sz="1100" b="1">
                <a:solidFill>
                  <a:srgbClr val="F66C2E"/>
                </a:solidFill>
                <a:latin typeface="Calibri"/>
              </a:rPr>
              <a:t>by </a:t>
            </a:r>
            <a:r>
              <a:rPr lang="en-US" sz="1100" b="1">
                <a:solidFill>
                  <a:srgbClr val="F66C2E"/>
                </a:solidFill>
                <a:latin typeface="Calibri"/>
              </a:rPr>
              <a:t>Pricing Model</a:t>
            </a:r>
            <a:endParaRPr sz="1100" b="1">
              <a:solidFill>
                <a:srgbClr val="F66C2E"/>
              </a:solidFill>
              <a:latin typeface="Calibri"/>
            </a:endParaRPr>
          </a:p>
        </p:txBody>
      </p:sp>
      <p:graphicFrame>
        <p:nvGraphicFramePr>
          <p:cNvPr id="5" name="Chart 4"/>
          <p:cNvGraphicFramePr>
            <a:graphicFrameLocks noGrp="1"/>
          </p:cNvGraphicFramePr>
          <p:nvPr/>
        </p:nvGraphicFramePr>
        <p:xfrm>
          <a:off x="380000" y="930000"/>
          <a:ext cx="4000000" cy="25000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1131425" y="3314096"/>
            <a:ext cx="542135" cy="200055"/>
          </a:xfrm>
          <a:prstGeom prst="rect">
            <a:avLst/>
          </a:prstGeom>
          <a:noFill/>
        </p:spPr>
        <p:txBody>
          <a:bodyPr wrap="none">
            <a:spAutoFit/>
          </a:bodyPr>
          <a:lstStyle/>
          <a:p>
            <a:pPr algn="ctr"/>
            <a:r>
              <a:rPr lang="en-US" sz="700" i="1">
                <a:solidFill>
                  <a:srgbClr val="F66C2E"/>
                </a:solidFill>
                <a:latin typeface="Calibri"/>
              </a:rPr>
              <a:t>(12 deals)</a:t>
            </a:r>
          </a:p>
        </p:txBody>
      </p:sp>
      <p:sp>
        <p:nvSpPr>
          <p:cNvPr id="7" name="TextBox 6"/>
          <p:cNvSpPr txBox="1">
            <a:spLocks/>
          </p:cNvSpPr>
          <p:nvPr/>
        </p:nvSpPr>
        <p:spPr>
          <a:xfrm>
            <a:off x="1980257" y="3314096"/>
            <a:ext cx="497251" cy="200055"/>
          </a:xfrm>
          <a:prstGeom prst="rect">
            <a:avLst/>
          </a:prstGeom>
          <a:noFill/>
        </p:spPr>
        <p:txBody>
          <a:bodyPr wrap="none">
            <a:spAutoFit/>
          </a:bodyPr>
          <a:lstStyle/>
          <a:p>
            <a:pPr algn="ctr"/>
            <a:r>
              <a:rPr lang="en-US" sz="700" i="1">
                <a:solidFill>
                  <a:srgbClr val="F66C2E"/>
                </a:solidFill>
                <a:latin typeface="Calibri"/>
              </a:rPr>
              <a:t>(8 deals)</a:t>
            </a:r>
          </a:p>
        </p:txBody>
      </p:sp>
      <p:sp>
        <p:nvSpPr>
          <p:cNvPr id="8" name="TextBox 7"/>
          <p:cNvSpPr txBox="1"/>
          <p:nvPr/>
        </p:nvSpPr>
        <p:spPr>
          <a:xfrm>
            <a:off x="2808060" y="3314096"/>
            <a:ext cx="542135" cy="200055"/>
          </a:xfrm>
          <a:prstGeom prst="rect">
            <a:avLst/>
          </a:prstGeom>
          <a:noFill/>
        </p:spPr>
        <p:txBody>
          <a:bodyPr wrap="none">
            <a:spAutoFit/>
          </a:bodyPr>
          <a:lstStyle/>
          <a:p>
            <a:pPr algn="ctr"/>
            <a:r>
              <a:rPr lang="en-US" sz="700" i="1">
                <a:solidFill>
                  <a:srgbClr val="F66C2E"/>
                </a:solidFill>
                <a:latin typeface="Calibri"/>
              </a:rPr>
              <a:t>(10 deals)</a:t>
            </a:r>
          </a:p>
        </p:txBody>
      </p:sp>
      <p:sp>
        <p:nvSpPr>
          <p:cNvPr id="9" name="TextBox 8"/>
          <p:cNvSpPr txBox="1"/>
          <p:nvPr/>
        </p:nvSpPr>
        <p:spPr>
          <a:xfrm>
            <a:off x="3634449" y="3314096"/>
            <a:ext cx="542135" cy="200055"/>
          </a:xfrm>
          <a:prstGeom prst="rect">
            <a:avLst/>
          </a:prstGeom>
          <a:noFill/>
        </p:spPr>
        <p:txBody>
          <a:bodyPr wrap="none">
            <a:spAutoFit/>
          </a:bodyPr>
          <a:lstStyle/>
          <a:p>
            <a:pPr algn="ctr"/>
            <a:r>
              <a:rPr lang="en-US" sz="700" i="1">
                <a:solidFill>
                  <a:srgbClr val="F66C2E"/>
                </a:solidFill>
                <a:latin typeface="Calibri"/>
              </a:rPr>
              <a:t>(10 deals)</a:t>
            </a:r>
          </a:p>
        </p:txBody>
      </p:sp>
      <p:sp>
        <p:nvSpPr>
          <p:cNvPr id="10" name="TextBox 9"/>
          <p:cNvSpPr txBox="1"/>
          <p:nvPr/>
        </p:nvSpPr>
        <p:spPr>
          <a:xfrm>
            <a:off x="630272" y="796891"/>
            <a:ext cx="1212191" cy="215444"/>
          </a:xfrm>
          <a:prstGeom prst="rect">
            <a:avLst/>
          </a:prstGeom>
          <a:noFill/>
        </p:spPr>
        <p:txBody>
          <a:bodyPr wrap="none">
            <a:spAutoFit/>
          </a:bodyPr>
          <a:lstStyle/>
          <a:p>
            <a:r>
              <a:rPr sz="800" b="1">
                <a:solidFill>
                  <a:srgbClr val="F66C2E"/>
                </a:solidFill>
                <a:latin typeface="Calibri"/>
              </a:rPr>
              <a:t>Total: $12.0M (40 deals)</a:t>
            </a:r>
          </a:p>
        </p:txBody>
      </p:sp>
      <p:graphicFrame>
        <p:nvGraphicFramePr>
          <p:cNvPr id="11" name="Chart 10"/>
          <p:cNvGraphicFramePr>
            <a:graphicFrameLocks noGrp="1"/>
          </p:cNvGraphicFramePr>
          <p:nvPr/>
        </p:nvGraphicFramePr>
        <p:xfrm>
          <a:off x="4600000" y="930000"/>
          <a:ext cx="4200000" cy="2400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612180" y="3226633"/>
            <a:ext cx="413896" cy="215444"/>
          </a:xfrm>
          <a:prstGeom prst="rect">
            <a:avLst/>
          </a:prstGeom>
          <a:noFill/>
        </p:spPr>
        <p:txBody>
          <a:bodyPr wrap="none">
            <a:spAutoFit/>
          </a:bodyPr>
          <a:lstStyle/>
          <a:p>
            <a:pPr algn="ctr"/>
            <a:r>
              <a:rPr lang="en-US" sz="800">
                <a:solidFill>
                  <a:srgbClr val="F66C2E"/>
                </a:solidFill>
                <a:latin typeface="Calibri"/>
              </a:rPr>
              <a:t>(</a:t>
            </a:r>
            <a:r>
              <a:rPr lang="en-US" sz="700">
                <a:solidFill>
                  <a:srgbClr val="F66C2E"/>
                </a:solidFill>
                <a:latin typeface="Calibri"/>
              </a:rPr>
              <a:t>55</a:t>
            </a:r>
            <a:r>
              <a:rPr lang="en-US" sz="800">
                <a:solidFill>
                  <a:srgbClr val="F66C2E"/>
                </a:solidFill>
                <a:latin typeface="Calibri"/>
              </a:rPr>
              <a:t>%)</a:t>
            </a:r>
          </a:p>
        </p:txBody>
      </p:sp>
      <p:sp>
        <p:nvSpPr>
          <p:cNvPr id="13" name="TextBox 12"/>
          <p:cNvSpPr txBox="1">
            <a:spLocks/>
          </p:cNvSpPr>
          <p:nvPr/>
        </p:nvSpPr>
        <p:spPr>
          <a:xfrm>
            <a:off x="6772873" y="3226633"/>
            <a:ext cx="394660" cy="200055"/>
          </a:xfrm>
          <a:prstGeom prst="rect">
            <a:avLst/>
          </a:prstGeom>
          <a:noFill/>
        </p:spPr>
        <p:txBody>
          <a:bodyPr wrap="none">
            <a:spAutoFit/>
          </a:bodyPr>
          <a:lstStyle/>
          <a:p>
            <a:pPr algn="ctr"/>
            <a:r>
              <a:rPr lang="en-US" sz="700">
                <a:solidFill>
                  <a:srgbClr val="F66C2E"/>
                </a:solidFill>
                <a:latin typeface="Calibri"/>
              </a:rPr>
              <a:t>(29%)</a:t>
            </a:r>
          </a:p>
        </p:txBody>
      </p:sp>
      <p:sp>
        <p:nvSpPr>
          <p:cNvPr id="14" name="TextBox 13"/>
          <p:cNvSpPr txBox="1"/>
          <p:nvPr/>
        </p:nvSpPr>
        <p:spPr>
          <a:xfrm>
            <a:off x="7868286" y="3226633"/>
            <a:ext cx="394660" cy="200055"/>
          </a:xfrm>
          <a:prstGeom prst="rect">
            <a:avLst/>
          </a:prstGeom>
          <a:noFill/>
        </p:spPr>
        <p:txBody>
          <a:bodyPr wrap="none">
            <a:spAutoFit/>
          </a:bodyPr>
          <a:lstStyle/>
          <a:p>
            <a:pPr algn="ctr"/>
            <a:r>
              <a:rPr lang="en-US" sz="700">
                <a:solidFill>
                  <a:srgbClr val="F66C2E"/>
                </a:solidFill>
                <a:latin typeface="Calibri"/>
              </a:rPr>
              <a:t>(16%)</a:t>
            </a:r>
          </a:p>
        </p:txBody>
      </p:sp>
      <p:sp>
        <p:nvSpPr>
          <p:cNvPr id="15" name="Isosceles Triangle 14"/>
          <p:cNvSpPr/>
          <p:nvPr/>
        </p:nvSpPr>
        <p:spPr>
          <a:xfrm rot="5400000">
            <a:off x="1052899" y="4130386"/>
            <a:ext cx="800430" cy="166229"/>
          </a:xfrm>
          <a:prstGeom prst="triangle">
            <a:avLst/>
          </a:prstGeom>
          <a:solidFill>
            <a:srgbClr val="F66C2E"/>
          </a:solidFill>
          <a:ln>
            <a:solidFill>
              <a:srgbClr val="F66C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13770" y="3953074"/>
            <a:ext cx="6500000" cy="430887"/>
          </a:xfrm>
          <a:prstGeom prst="rect">
            <a:avLst/>
          </a:prstGeom>
          <a:noFill/>
        </p:spPr>
        <p:txBody>
          <a:bodyPr wrap="square">
            <a:spAutoFit/>
          </a:bodyPr>
          <a:lstStyle/>
          <a:p>
            <a:pPr marL="257175" indent="-257175">
              <a:buClr>
                <a:srgbClr val="F66C2E"/>
              </a:buClr>
              <a:buFont typeface="Wingdings" pitchFamily="2" charset="2"/>
              <a:buChar char="§"/>
            </a:pPr>
            <a:r>
              <a:rPr lang="en-US" sz="1100">
                <a:solidFill>
                  <a:srgbClr val="595959"/>
                </a:solidFill>
                <a:latin typeface="Calibri"/>
              </a:rPr>
              <a:t>Bookings steady at ~$3m / quarter [avg. deal size (booked): $300K]</a:t>
            </a:r>
          </a:p>
          <a:p>
            <a:pPr marL="257175" indent="-257175">
              <a:buClr>
                <a:srgbClr val="F66C2E"/>
              </a:buClr>
              <a:buFont typeface="Wingdings" pitchFamily="2" charset="2"/>
              <a:buChar char="§"/>
            </a:pPr>
            <a:r>
              <a:rPr lang="en-US" sz="1100">
                <a:solidFill>
                  <a:srgbClr val="595959"/>
                </a:solidFill>
                <a:latin typeface="Calibri"/>
              </a:rPr>
              <a:t>Increasing pivot to hybrid pricing (~55% by booking amount)</a:t>
            </a:r>
          </a:p>
        </p:txBody>
      </p:sp>
      <p:sp>
        <p:nvSpPr>
          <p:cNvPr id="17" name="TextBox 16">
            <a:extLst>
              <a:ext uri="{FF2B5EF4-FFF2-40B4-BE49-F238E27FC236}">
                <a16:creationId xmlns:a16="http://schemas.microsoft.com/office/drawing/2014/main" id="{8D363CBF-BC22-AC75-6847-17C262D24E39}"/>
              </a:ext>
            </a:extLst>
          </p:cNvPr>
          <p:cNvSpPr txBox="1"/>
          <p:nvPr/>
        </p:nvSpPr>
        <p:spPr>
          <a:xfrm>
            <a:off x="4782176" y="790265"/>
            <a:ext cx="1212191" cy="215444"/>
          </a:xfrm>
          <a:prstGeom prst="rect">
            <a:avLst/>
          </a:prstGeom>
          <a:noFill/>
        </p:spPr>
        <p:txBody>
          <a:bodyPr wrap="none">
            <a:spAutoFit/>
          </a:bodyPr>
          <a:lstStyle/>
          <a:p>
            <a:r>
              <a:rPr sz="800" b="1">
                <a:solidFill>
                  <a:srgbClr val="F66C2E"/>
                </a:solidFill>
                <a:latin typeface="Calibri"/>
              </a:rPr>
              <a:t>Total: $12.0M (40 deals)</a:t>
            </a:r>
          </a:p>
        </p:txBody>
      </p:sp>
      <p:sp>
        <p:nvSpPr>
          <p:cNvPr id="18" name="Slide Number Placeholder 18"/>
          <p:cNvSpPr/>
          <p:nvPr/>
        </p:nvSpPr>
        <p:spPr>
          <a:xfrm>
            <a:off x="8503920" y="4754880"/>
            <a:ext cx="457200" cy="274320"/>
          </a:xfrm>
          <a:prstGeom prst="rect">
            <a:avLst/>
          </a:prstGeom>
          <a:noFill/>
          <a:ln/>
        </p:spPr>
        <p:txBody>
          <a:bodyPr wrap="square" rtlCol="0" anchor="ctr"/>
          <a:lstStyle/>
          <a:p>
            <a:pPr marL="0" indent="0" algn="r">
              <a:buNone/>
            </a:pPr>
            <a:fld id="{F160359B-8799-46DC-B054-F16308AD9DB2}" type="slidenum">
              <a:rPr lang="en-US" sz="1000" smtClean="0">
                <a:solidFill>
                  <a:srgbClr val="999999"/>
                </a:solidFill>
                <a:latin typeface="Avenir" pitchFamily="34" charset="0"/>
                <a:ea typeface="Avenir" pitchFamily="34" charset="-122"/>
                <a:cs typeface="Avenir" pitchFamily="34" charset="-120"/>
              </a:rPr>
              <a:t>10</a:t>
            </a:fld>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Macintosh PowerPoint</Application>
  <PresentationFormat>On-screen Show (16:9)</PresentationFormat>
  <Paragraphs>142</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Avenir</vt:lpstr>
      <vt:lpstr>Avenir Black</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Supplier Intelligence - Healthcare</dc:title>
  <dc:subject>PptxGenJS Presentation</dc:subject>
  <dc:creator>Treya Partners</dc:creator>
  <cp:lastModifiedBy>Rahul Ahuja</cp:lastModifiedBy>
  <cp:revision>2</cp:revision>
  <dcterms:created xsi:type="dcterms:W3CDTF">2026-02-10T05:10:41Z</dcterms:created>
  <dcterms:modified xsi:type="dcterms:W3CDTF">2026-02-23T19:22:29Z</dcterms:modified>
</cp:coreProperties>
</file>