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8"/>
    <p:sldId id="258" r:id="rId9"/>
    <p:sldId id="259" r:id="rId10"/>
    <p:sldId id="26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19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BA67-1F22-644D-AE6A-574CB0E3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FA9A5-CB43-47AC-B31C-A09F9783E567}"/>
              </a:ext>
            </a:extLst>
          </p:cNvPr>
          <p:cNvSpPr/>
          <p:nvPr userDrawn="1"/>
        </p:nvSpPr>
        <p:spPr>
          <a:xfrm>
            <a:off x="441301" y="2"/>
            <a:ext cx="55829" cy="652856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A2A4AA-C3A4-4CBB-839C-3A483B7E4D74}"/>
              </a:ext>
            </a:extLst>
          </p:cNvPr>
          <p:cNvGrpSpPr/>
          <p:nvPr userDrawn="1"/>
        </p:nvGrpSpPr>
        <p:grpSpPr>
          <a:xfrm>
            <a:off x="7690996" y="147430"/>
            <a:ext cx="1453004" cy="346253"/>
            <a:chOff x="10254660" y="302588"/>
            <a:chExt cx="1937339" cy="4616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4C7CF4C-39C3-49D9-BA23-80A6A0F5B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302588"/>
              <a:ext cx="1670310" cy="28995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B3CDD8-14C8-403A-A88C-DC41719ECD88}"/>
                </a:ext>
              </a:extLst>
            </p:cNvPr>
            <p:cNvSpPr/>
            <p:nvPr/>
          </p:nvSpPr>
          <p:spPr>
            <a:xfrm rot="5400000">
              <a:off x="11548427" y="120687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9482433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0" y="10972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sz="4000" b="1">
                <a:solidFill>
                  <a:srgbClr val="FFFFFF"/>
                </a:solidFill>
                <a:latin typeface="Avenir"/>
              </a:rPr>
              <a:t>Procurement Savings Opportunity</a:t>
            </a:r>
            <a:endParaRPr lang="en-US" sz="5200" dirty="0"/>
          </a:p>
          <a:p>
            <a:pPr>
              <a:spcBef>
                <a:spcPts val="1574"/>
              </a:spcBef>
            </a:pPr>
            <a:r>
              <a:rPr sz="2800" b="0">
                <a:solidFill>
                  <a:srgbClr val="FFFFFF"/>
                </a:solidFill>
                <a:latin typeface="Avenir"/>
              </a:rPr>
              <a:t>Legacy Service Partners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114800"/>
            <a:ext cx="25603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93941"/>
                </a:solidFill>
                <a:latin typeface="Avenir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Aveni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66C2E"/>
                </a:solidFill>
                <a:latin typeface="Avenir"/>
              </a:rPr>
              <a:t>Company Overview</a:t>
            </a:r>
          </a:p>
          <a:p>
            <a:pPr>
              <a:spcBef>
                <a:spcPts val="393"/>
              </a:spcBef>
            </a:pPr>
            <a:r>
              <a:rPr sz="1000">
                <a:solidFill>
                  <a:srgbClr val="555555"/>
                </a:solidFill>
                <a:latin typeface="Avenir"/>
              </a:rPr>
              <a:t>Legacy Service Partners is a residential home services (hvac, plumbing, electrical) company. Legacy Service Partners is a PE-backed platform that partners with local HVAC, plumbing, and electrical service companies across the U.S., providing capital, centralized platform services and go-to-market support while preserving local operators. Founded in 2021 and backed by Gridiron Capital, Legacy has rapidly scaled via add-on partnerships and now operates across ~19 states with 22–33+ partner brands and a large installed customer base. Estimated revenue: $250MM.</a:t>
            </a:r>
          </a:p>
          <a:p>
            <a:pPr>
              <a:spcBef>
                <a:spcPts val="1574"/>
              </a:spcBef>
            </a:pPr>
            <a:r>
              <a:rPr sz="1200" b="1">
                <a:solidFill>
                  <a:srgbClr val="F66C2E"/>
                </a:solidFill>
                <a:latin typeface="Avenir"/>
              </a:rPr>
              <a:t>Savings Opportunity</a:t>
            </a:r>
          </a:p>
          <a:p>
            <a:pPr>
              <a:spcBef>
                <a:spcPts val="393"/>
              </a:spcBef>
            </a:pPr>
            <a:r>
              <a:rPr sz="1000">
                <a:solidFill>
                  <a:srgbClr val="555555"/>
                </a:solidFill>
                <a:latin typeface="Avenir"/>
              </a:rPr>
              <a:t>Based on our outside-in assessment, we estimate a total procurement savings opportunity of $6.0MM (2.4% of revenue) across addressable direct and indirect spend categories.</a:t>
            </a:r>
          </a:p>
          <a:p>
            <a:pPr>
              <a:spcBef>
                <a:spcPts val="1574"/>
              </a:spcBef>
            </a:pPr>
            <a:r>
              <a:rPr sz="1200" b="1">
                <a:solidFill>
                  <a:srgbClr val="F66C2E"/>
                </a:solidFill>
                <a:latin typeface="Avenir"/>
              </a:rPr>
              <a:t>Treya Experience</a:t>
            </a:r>
          </a:p>
          <a:p>
            <a:pPr>
              <a:spcBef>
                <a:spcPts val="393"/>
              </a:spcBef>
            </a:pPr>
            <a:r>
              <a:rPr sz="1000">
                <a:solidFill>
                  <a:srgbClr val="555555"/>
                </a:solidFill>
                <a:latin typeface="Avenir"/>
              </a:rPr>
              <a:t>Treya has completed similar engagements with 6 comparable companies including HomeTown Services, Cascade Services, Friendly Home Service Group. Our direct experience in this sector enables faster time-to-value and higher confidence in savings delivery.</a:t>
            </a:r>
          </a:p>
          <a:p>
            <a:pPr>
              <a:spcBef>
                <a:spcPts val="1574"/>
              </a:spcBef>
            </a:pPr>
            <a:r>
              <a:rPr sz="1200" b="1">
                <a:solidFill>
                  <a:srgbClr val="F66C2E"/>
                </a:solidFill>
                <a:latin typeface="Avenir"/>
              </a:rPr>
              <a:t>Recommended Next Steps</a:t>
            </a:r>
          </a:p>
          <a:p>
            <a:pPr>
              <a:spcBef>
                <a:spcPts val="393"/>
              </a:spcBef>
            </a:pPr>
            <a:r>
              <a:rPr sz="1000">
                <a:solidFill>
                  <a:srgbClr val="555555"/>
                </a:solidFill>
                <a:latin typeface="Avenir"/>
              </a:rPr>
              <a:t>Conduct a detailed spend assessment with actual data to validate savings estimates, identify quick-win categories for immediate sourcing events, and develop a phased implementation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55555"/>
                </a:solidFill>
                <a:latin typeface="Avenir"/>
              </a:rPr>
              <a:t>Note: All estimates based on outside-in analysis of publicly available revenue and spend data. Actual results will vary.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93941"/>
                </a:solidFill>
                <a:latin typeface="Avenir"/>
              </a:rPr>
              <a:t>Treya Experience: Comparable Engagements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Avenir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5303520"/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Treya Client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Comparability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Company Description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HomeTown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Platform roll-up of residential HVAC/plumbing/electrical brands — same tri‑trade residential services model.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Cascade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Residential HVAC, plumbing &amp; electrical platform — identical business model and channel.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Friendly Home Service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Multi-brand residential HVAC/plumbing/electrical platform — similar roll-up strategy and services mix.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User-Friendly Home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Residential HVAC &amp; plumbing platform — same sector and operational footprint.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Thermal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High</a:t>
                      </a:r>
                    </a:p>
                  </a:txBody>
                  <a:tcPr anchor="ctr">
                    <a:solidFill>
                      <a:srgbClr val="52B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Commercial HVAC &amp; building controls — similar HVAC service lines but focused on commercial customers.</a:t>
                      </a:r>
                    </a:p>
                  </a:txBody>
                  <a:tcPr anchor="ctr"/>
                </a:tc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Norlee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venir"/>
                        </a:rPr>
                        <a:t>High</a:t>
                      </a:r>
                    </a:p>
                  </a:txBody>
                  <a:tcPr anchor="ctr">
                    <a:solidFill>
                      <a:srgbClr val="52B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Electrical &amp; specialty contracting — overlap on electrical services and skilled-trades field operations.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93941"/>
                </a:solidFill>
                <a:latin typeface="Avenir"/>
              </a:rPr>
              <a:t>Savings Opportunity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Avenir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93941"/>
                </a:solidFill>
                <a:latin typeface="Avenir"/>
              </a:rPr>
              <a:t>Est. Revenue: $250MM  |  Est. Savings: $6.0MM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828800"/>
                <a:gridCol w="1097280"/>
                <a:gridCol w="15544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Category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Est. Addressable
Spend ($MM)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Savings
(%)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Est. Savings
($MM)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COGS (Direct Materials &amp; Major Equipment)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$30.0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$1.4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Freight / Inbound Logistics (receiving parts, unit deliveries)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$7.5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MRO / Maintenance / Shop 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$0.3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Fleet / Vehicles &amp; Fuel (fuel, maintenance, vehicle procurement)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$2.6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Marketing &amp; Advertising (digital PPC, local SEO, brand marketing)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$0.6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IT Services &amp; Software (ServiceTitan, scheduling, CRM, SaaS)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$5.7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Employee Benefits (medical/dental/vision plan design &amp; brokerage)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$0.4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Telecom &amp; Connectivity (mobile, data plans, connectivity for field ops)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20%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Temp Labor / Contingent Workforce (seasonal helpers, call center temp staff)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$0.3</a:t>
                      </a:r>
                    </a:p>
                  </a:txBody>
                  <a:tcPr anchor="ctr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Other Indirects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$7.5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12%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$0.9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venir"/>
                        </a:rPr>
                        <a:t>TOTAL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venir"/>
                        </a:rPr>
                        <a:t>$71.4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venir"/>
                        </a:rPr>
                        <a:t/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venir"/>
                        </a:rPr>
                        <a:t>$6.0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55555"/>
                </a:solidFill>
                <a:latin typeface="Avenir"/>
              </a:rPr>
              <a:t>Note: Estimates based on outside-in analysis of publicly available data. Actual spend and savings will vary based on detailed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93941"/>
                </a:solidFill>
                <a:latin typeface="Avenir"/>
              </a:rPr>
              <a:t>Key Savings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Avenir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Savings Category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"/>
                        </a:rPr>
                        <a:t>Key Savings Levers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Direct Materials &amp; Major Equipment (parts, HVAC units, water heaters)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License rationalization, competitive rebid of managed services, consolidate vendors, renegotiate renewals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Freight / Inbound Logistics (receiving parts, unit deliveries)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Consolidate carriers, renegotiate lane rates, optimize mode mix, implement competitive bidding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Temp Labor / Contingent Workforce (seasonal helpers, call center temp staff)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Rate card renegotiation, supplier consolidation, conversion-to-hire programs, MSP implementation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MRO / Maintenance / Shop Supplies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Consolidate suppliers, implement catalog programs, standardize specifications, competitive bidding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Fleet / Vehicles &amp; Fuel (fuel, maintenance, vehicle procurement)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Lifecycle optimization, fuel program negotiation, maintenance consolidation, telematics-driven savings</a:t>
                      </a:r>
                    </a:p>
                  </a:txBody>
                  <a:tcPr anchor="ctr"/>
                </a:tc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venir"/>
                        </a:rPr>
                        <a:t>Uniforms / Workwear / Safety PPE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venir"/>
                        </a:rPr>
                        <a:t>Competitive rebid, program standardization, inventory optimization, direct purchasing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Macintosh PowerPoint</Application>
  <PresentationFormat>On-screen Show (16:9)</PresentationFormat>
  <Paragraphs>142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</vt:lpstr>
      <vt:lpstr>Avenir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Intelligence - Healthcare</dc:title>
  <dc:subject>PptxGenJS Presentation</dc:subject>
  <dc:creator>Treya Partners</dc:creator>
  <cp:lastModifiedBy>Rahul Ahuja</cp:lastModifiedBy>
  <cp:revision>2</cp:revision>
  <dcterms:created xsi:type="dcterms:W3CDTF">2026-02-10T05:10:41Z</dcterms:created>
  <dcterms:modified xsi:type="dcterms:W3CDTF">2026-02-23T19:22:29Z</dcterms:modified>
</cp:coreProperties>
</file>