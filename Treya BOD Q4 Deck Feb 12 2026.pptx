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1001062" r:id="rId9"/>
    <p:sldId id="4275" r:id="rId10"/>
    <p:sldId id="266" r:id="rId11"/>
    <p:sldId id="4276" r:id="rId12"/>
    <p:sldId id="1001041" r:id="rId13"/>
    <p:sldId id="1001040" r:id="rId14"/>
    <p:sldId id="4376" r:id="rId15"/>
    <p:sldId id="1001039" r:id="rId16"/>
    <p:sldId id="1001042" r:id="rId17"/>
    <p:sldId id="275" r:id="rId18"/>
    <p:sldId id="1001064" r:id="rId19"/>
    <p:sldId id="280" r:id="rId20"/>
    <p:sldId id="1001061" r:id="rId21"/>
    <p:sldId id="283"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6C2E"/>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90"/>
    <p:restoredTop sz="94694"/>
  </p:normalViewPr>
  <p:slideViewPr>
    <p:cSldViewPr snapToGrid="0">
      <p:cViewPr varScale="1">
        <p:scale>
          <a:sx n="161" d="100"/>
          <a:sy n="161" d="100"/>
        </p:scale>
        <p:origin x="36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Ahuja" userId="8a5ff04f-61a1-4d56-a445-567342436c59" providerId="ADAL" clId="{F41462AE-5311-52BF-9225-796ADED99D74}"/>
    <pc:docChg chg="custSel modSld">
      <pc:chgData name="Rahul Ahuja" userId="8a5ff04f-61a1-4d56-a445-567342436c59" providerId="ADAL" clId="{F41462AE-5311-52BF-9225-796ADED99D74}" dt="2026-02-12T11:37:41.024" v="118" actId="20577"/>
      <pc:docMkLst>
        <pc:docMk/>
      </pc:docMkLst>
      <pc:sldChg chg="modSp mod">
        <pc:chgData name="Rahul Ahuja" userId="8a5ff04f-61a1-4d56-a445-567342436c59" providerId="ADAL" clId="{F41462AE-5311-52BF-9225-796ADED99D74}" dt="2026-02-11T02:22:12.051" v="31" actId="20577"/>
        <pc:sldMkLst>
          <pc:docMk/>
          <pc:sldMk cId="0" sldId="257"/>
        </pc:sldMkLst>
        <pc:spChg chg="mod">
          <ac:chgData name="Rahul Ahuja" userId="8a5ff04f-61a1-4d56-a445-567342436c59" providerId="ADAL" clId="{F41462AE-5311-52BF-9225-796ADED99D74}" dt="2026-02-11T02:22:12.051" v="31" actId="20577"/>
          <ac:spMkLst>
            <pc:docMk/>
            <pc:sldMk cId="0" sldId="257"/>
            <ac:spMk id="7" creationId="{00000000-0000-0000-0000-000000000000}"/>
          </ac:spMkLst>
        </pc:spChg>
      </pc:sldChg>
      <pc:sldChg chg="modSp mod">
        <pc:chgData name="Rahul Ahuja" userId="8a5ff04f-61a1-4d56-a445-567342436c59" providerId="ADAL" clId="{F41462AE-5311-52BF-9225-796ADED99D74}" dt="2026-02-12T11:37:41.024" v="118" actId="20577"/>
        <pc:sldMkLst>
          <pc:docMk/>
          <pc:sldMk cId="0" sldId="258"/>
        </pc:sldMkLst>
        <pc:spChg chg="mod">
          <ac:chgData name="Rahul Ahuja" userId="8a5ff04f-61a1-4d56-a445-567342436c59" providerId="ADAL" clId="{F41462AE-5311-52BF-9225-796ADED99D74}" dt="2026-02-12T11:37:41.024" v="118" actId="20577"/>
          <ac:spMkLst>
            <pc:docMk/>
            <pc:sldMk cId="0" sldId="258"/>
            <ac:spMk id="8" creationId="{00000000-0000-0000-0000-000000000000}"/>
          </ac:spMkLst>
        </pc:spChg>
      </pc:sldChg>
      <pc:sldChg chg="delSp mod">
        <pc:chgData name="Rahul Ahuja" userId="8a5ff04f-61a1-4d56-a445-567342436c59" providerId="ADAL" clId="{F41462AE-5311-52BF-9225-796ADED99D74}" dt="2026-02-11T02:00:10.349" v="0" actId="478"/>
        <pc:sldMkLst>
          <pc:docMk/>
          <pc:sldMk cId="1222609076" sldId="1001061"/>
        </pc:sldMkLst>
        <pc:spChg chg="del">
          <ac:chgData name="Rahul Ahuja" userId="8a5ff04f-61a1-4d56-a445-567342436c59" providerId="ADAL" clId="{F41462AE-5311-52BF-9225-796ADED99D74}" dt="2026-02-11T02:00:10.349" v="0" actId="478"/>
          <ac:spMkLst>
            <pc:docMk/>
            <pc:sldMk cId="1222609076" sldId="1001061"/>
            <ac:spMk id="7" creationId="{FB8955D8-E242-E64A-2428-F5C890836CA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 by Quarter</c:v>
                </c:pt>
              </c:strCache>
            </c:strRef>
          </c:tx>
          <c:spPr>
            <a:solidFill>
              <a:srgbClr val="1B3A4B"/>
            </a:solidFill>
            <a:ln>
              <a:noFill/>
            </a:ln>
          </c:spPr>
          <c:invertIfNegative val="1"/>
          <c:dLbls>
            <c:numFmt formatCode="\$#,##0.0,,&quot;M&quot;" sourceLinked="0"/>
            <c:spPr>
              <a:noFill/>
              <a:ln>
                <a:noFill/>
              </a:ln>
              <a:effectLst/>
            </c:spPr>
            <c:txPr>
              <a:bodyPr/>
              <a:lstStyle/>
              <a:p>
                <a:pPr>
                  <a:defRPr sz="800" b="1">
                    <a:solidFill>
                      <a:srgbClr val="39394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3340667</c:v>
                </c:pt>
                <c:pt idx="1">
                  <c:v>2987039</c:v>
                </c:pt>
                <c:pt idx="2">
                  <c:v>2845166</c:v>
                </c:pt>
                <c:pt idx="3">
                  <c:v>2810650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CA00-394D-BDCE-56F240C3903F}"/>
            </c:ext>
          </c:extLst>
        </c:ser>
        <c:dLbls>
          <c:showLegendKey val="0"/>
          <c:showVal val="0"/>
          <c:showCatName val="0"/>
          <c:showSerName val="0"/>
          <c:showPercent val="0"/>
          <c:showBubbleSize val="0"/>
        </c:dLbls>
        <c:gapWidth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800">
                <a:solidFill>
                  <a:srgbClr val="595959"/>
                </a:solidFill>
              </a:defRPr>
            </a:pPr>
            <a:endParaRPr lang="en-US"/>
          </a:p>
        </c:txPr>
        <c:crossAx val="-2113994440"/>
        <c:crosses val="autoZero"/>
        <c:auto val="1"/>
        <c:lblAlgn val="ctr"/>
        <c:lblOffset val="100"/>
        <c:noMultiLvlLbl val="0"/>
      </c:catAx>
      <c:valAx>
        <c:axId val="-2113994440"/>
        <c:scaling>
          <c:orientation val="minMax"/>
          <c:max val="4000000"/>
          <c:min val="0"/>
        </c:scaling>
        <c:delete val="0"/>
        <c:axPos val="l"/>
        <c:majorGridlines>
          <c:spPr>
            <a:ln>
              <a:solidFill>
                <a:srgbClr val="D9D9D9"/>
              </a:solidFill>
            </a:ln>
          </c:spPr>
        </c:majorGridlines>
        <c:numFmt formatCode="\$#,##0" sourceLinked="0"/>
        <c:majorTickMark val="out"/>
        <c:minorTickMark val="none"/>
        <c:tickLblPos val="nextTo"/>
        <c:spPr>
          <a:ln>
            <a:solidFill>
              <a:srgbClr val="D9D9D9"/>
            </a:solidFill>
          </a:ln>
        </c:spPr>
        <c:txPr>
          <a:bodyPr/>
          <a:lstStyle/>
          <a:p>
            <a:pPr>
              <a:defRPr sz="700">
                <a:solidFill>
                  <a:srgbClr val="595959"/>
                </a:solidFill>
              </a:defRPr>
            </a:pPr>
            <a:endParaRPr lang="en-US"/>
          </a:p>
        </c:txPr>
        <c:crossAx val="-2068027336"/>
        <c:crosses val="autoZero"/>
        <c:crossBetween val="between"/>
        <c:majorUnit val="500000"/>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 by Pricing Model</c:v>
                </c:pt>
              </c:strCache>
            </c:strRef>
          </c:tx>
          <c:spPr>
            <a:solidFill>
              <a:srgbClr val="1B3A4B"/>
            </a:solidFill>
            <a:ln>
              <a:noFill/>
            </a:ln>
          </c:spPr>
          <c:invertIfNegative val="1"/>
          <c:dLbls>
            <c:dLbl>
              <c:idx val="0"/>
              <c:layout>
                <c:manualLayout>
                  <c:x val="-3.0238095238095514E-3"/>
                  <c:y val="2.64583333333333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04E-0845-AC22-410A4E448008}"/>
                </c:ext>
              </c:extLst>
            </c:dLbl>
            <c:numFmt formatCode="\$#,##0.0,,&quot;M&quot;" sourceLinked="0"/>
            <c:spPr>
              <a:noFill/>
              <a:ln>
                <a:noFill/>
              </a:ln>
              <a:effectLst/>
            </c:spPr>
            <c:txPr>
              <a:bodyPr/>
              <a:lstStyle/>
              <a:p>
                <a:pPr>
                  <a:defRPr sz="800" b="1">
                    <a:solidFill>
                      <a:srgbClr val="39394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Hybrid</c:v>
                </c:pt>
                <c:pt idx="1">
                  <c:v>Fixed Fee</c:v>
                </c:pt>
                <c:pt idx="2">
                  <c:v>Contingent</c:v>
                </c:pt>
              </c:strCache>
            </c:strRef>
          </c:cat>
          <c:val>
            <c:numRef>
              <c:f>Sheet1!$B$2:$B$4</c:f>
              <c:numCache>
                <c:formatCode>General</c:formatCode>
                <c:ptCount val="3"/>
                <c:pt idx="0">
                  <c:v>6562728</c:v>
                </c:pt>
                <c:pt idx="1">
                  <c:v>3475000</c:v>
                </c:pt>
                <c:pt idx="2">
                  <c:v>1945794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A04E-0845-AC22-410A4E448008}"/>
            </c:ext>
          </c:extLst>
        </c:ser>
        <c:dLbls>
          <c:showLegendKey val="0"/>
          <c:showVal val="0"/>
          <c:showCatName val="0"/>
          <c:showSerName val="0"/>
          <c:showPercent val="0"/>
          <c:showBubbleSize val="0"/>
        </c:dLbls>
        <c:gapWidth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800">
                <a:solidFill>
                  <a:srgbClr val="595959"/>
                </a:solidFill>
              </a:defRPr>
            </a:pPr>
            <a:endParaRPr lang="en-US"/>
          </a:p>
        </c:txPr>
        <c:crossAx val="-2113994440"/>
        <c:crosses val="autoZero"/>
        <c:auto val="1"/>
        <c:lblAlgn val="ctr"/>
        <c:lblOffset val="100"/>
        <c:noMultiLvlLbl val="0"/>
      </c:catAx>
      <c:valAx>
        <c:axId val="-2113994440"/>
        <c:scaling>
          <c:orientation val="minMax"/>
          <c:max val="7000000"/>
          <c:min val="0"/>
        </c:scaling>
        <c:delete val="0"/>
        <c:axPos val="l"/>
        <c:majorGridlines>
          <c:spPr>
            <a:ln>
              <a:solidFill>
                <a:srgbClr val="D9D9D9"/>
              </a:solidFill>
            </a:ln>
          </c:spPr>
        </c:majorGridlines>
        <c:numFmt formatCode="\$#,##0" sourceLinked="0"/>
        <c:majorTickMark val="out"/>
        <c:minorTickMark val="none"/>
        <c:tickLblPos val="nextTo"/>
        <c:spPr>
          <a:ln>
            <a:solidFill>
              <a:srgbClr val="D9D9D9"/>
            </a:solidFill>
          </a:ln>
        </c:spPr>
        <c:txPr>
          <a:bodyPr/>
          <a:lstStyle/>
          <a:p>
            <a:pPr>
              <a:defRPr sz="700">
                <a:solidFill>
                  <a:srgbClr val="595959"/>
                </a:solidFill>
              </a:defRPr>
            </a:pPr>
            <a:endParaRPr lang="en-US"/>
          </a:p>
        </c:txPr>
        <c:crossAx val="-2068027336"/>
        <c:crosses val="autoZero"/>
        <c:crossBetween val="between"/>
        <c:majorUnit val="1000000"/>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Amount</c:v>
                </c:pt>
              </c:strCache>
            </c:strRef>
          </c:tx>
          <c:spPr>
            <a:solidFill>
              <a:srgbClr val="1B3A4B"/>
            </a:solidFill>
          </c:spPr>
          <c:invertIfNegative val="1"/>
          <c:dLbls>
            <c:numFmt formatCode="\$#,##0.0,,&quot;M&quot;" sourceLinked="0"/>
            <c:spPr>
              <a:noFill/>
              <a:ln>
                <a:noFill/>
              </a:ln>
              <a:effectLst/>
            </c:spPr>
            <c:txPr>
              <a:bodyPr/>
              <a:lstStyle/>
              <a:p>
                <a:pPr>
                  <a:defRPr sz="900" b="1">
                    <a:solidFill>
                      <a:srgbClr val="39394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9353258</c:v>
                </c:pt>
                <c:pt idx="1">
                  <c:v>11606736</c:v>
                </c:pt>
                <c:pt idx="2">
                  <c:v>12109458</c:v>
                </c:pt>
                <c:pt idx="3">
                  <c:v>9770334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B10-6346-9002-6857D13D0641}"/>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in"/>
        <c:minorTickMark val="none"/>
        <c:tickLblPos val="nextTo"/>
        <c:spPr>
          <a:ln>
            <a:noFill/>
          </a:ln>
        </c:spPr>
        <c:txPr>
          <a:bodyPr/>
          <a:lstStyle/>
          <a:p>
            <a:pPr>
              <a:defRPr sz="900">
                <a:solidFill>
                  <a:srgbClr val="595959"/>
                </a:solidFill>
              </a:defRPr>
            </a:pPr>
            <a:endParaRPr lang="en-US"/>
          </a:p>
        </c:txPr>
        <c:crossAx val="-2113994440"/>
        <c:crosses val="autoZero"/>
        <c:auto val="1"/>
        <c:lblAlgn val="ctr"/>
        <c:lblOffset val="100"/>
        <c:noMultiLvlLbl val="0"/>
      </c:catAx>
      <c:valAx>
        <c:axId val="-2113994440"/>
        <c:scaling>
          <c:orientation val="minMax"/>
          <c:max val="14000000"/>
        </c:scaling>
        <c:delete val="0"/>
        <c:axPos val="l"/>
        <c:majorGridlines>
          <c:spPr>
            <a:ln>
              <a:noFill/>
            </a:ln>
          </c:spPr>
        </c:majorGridlines>
        <c:numFmt formatCode="\$#,##0,,&quot;M&quot;" sourceLinked="0"/>
        <c:majorTickMark val="out"/>
        <c:minorTickMark val="none"/>
        <c:tickLblPos val="nextTo"/>
        <c:spPr>
          <a:ln>
            <a:noFill/>
          </a:ln>
        </c:spPr>
        <c:txPr>
          <a:bodyPr/>
          <a:lstStyle/>
          <a:p>
            <a:pPr>
              <a:defRPr sz="800">
                <a:solidFill>
                  <a:srgbClr val="595959"/>
                </a:solidFill>
              </a:defRPr>
            </a:pPr>
            <a:endParaRPr lang="en-US"/>
          </a:p>
        </c:txPr>
        <c:crossAx val="-2068027336"/>
        <c:crosses val="autoZero"/>
        <c:crossBetween val="between"/>
        <c:majorUnit val="2000000"/>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PE</c:v>
                </c:pt>
              </c:strCache>
            </c:strRef>
          </c:tx>
          <c:dPt>
            <c:idx val="0"/>
            <c:bubble3D val="0"/>
            <c:spPr>
              <a:solidFill>
                <a:srgbClr val="1B3A4B"/>
              </a:solidFill>
            </c:spPr>
            <c:extLst>
              <c:ext xmlns:c16="http://schemas.microsoft.com/office/drawing/2014/chart" uri="{C3380CC4-5D6E-409C-BE32-E72D297353CC}">
                <c16:uniqueId val="{00000001-5ED8-9C46-B7CA-01D35BBAE82C}"/>
              </c:ext>
            </c:extLst>
          </c:dPt>
          <c:dPt>
            <c:idx val="1"/>
            <c:bubble3D val="0"/>
            <c:spPr>
              <a:solidFill>
                <a:srgbClr val="F66C2E"/>
              </a:solidFill>
            </c:spPr>
            <c:extLst>
              <c:ext xmlns:c16="http://schemas.microsoft.com/office/drawing/2014/chart" uri="{C3380CC4-5D6E-409C-BE32-E72D297353CC}">
                <c16:uniqueId val="{00000003-5ED8-9C46-B7CA-01D35BBAE82C}"/>
              </c:ext>
            </c:extLst>
          </c:dPt>
          <c:dPt>
            <c:idx val="2"/>
            <c:bubble3D val="0"/>
            <c:spPr>
              <a:solidFill>
                <a:srgbClr val="4E79A7"/>
              </a:solidFill>
            </c:spPr>
            <c:extLst>
              <c:ext xmlns:c16="http://schemas.microsoft.com/office/drawing/2014/chart" uri="{C3380CC4-5D6E-409C-BE32-E72D297353CC}">
                <c16:uniqueId val="{00000005-5ED8-9C46-B7CA-01D35BBAE82C}"/>
              </c:ext>
            </c:extLst>
          </c:dPt>
          <c:dPt>
            <c:idx val="3"/>
            <c:bubble3D val="0"/>
            <c:spPr>
              <a:solidFill>
                <a:srgbClr val="59A14F"/>
              </a:solidFill>
            </c:spPr>
            <c:extLst>
              <c:ext xmlns:c16="http://schemas.microsoft.com/office/drawing/2014/chart" uri="{C3380CC4-5D6E-409C-BE32-E72D297353CC}">
                <c16:uniqueId val="{00000007-5ED8-9C46-B7CA-01D35BBAE82C}"/>
              </c:ext>
            </c:extLst>
          </c:dPt>
          <c:dPt>
            <c:idx val="4"/>
            <c:bubble3D val="0"/>
            <c:spPr>
              <a:solidFill>
                <a:srgbClr val="E15759"/>
              </a:solidFill>
            </c:spPr>
            <c:extLst>
              <c:ext xmlns:c16="http://schemas.microsoft.com/office/drawing/2014/chart" uri="{C3380CC4-5D6E-409C-BE32-E72D297353CC}">
                <c16:uniqueId val="{00000009-5ED8-9C46-B7CA-01D35BBAE82C}"/>
              </c:ext>
            </c:extLst>
          </c:dPt>
          <c:dPt>
            <c:idx val="5"/>
            <c:bubble3D val="0"/>
            <c:spPr>
              <a:solidFill>
                <a:srgbClr val="76B7B2"/>
              </a:solidFill>
            </c:spPr>
            <c:extLst>
              <c:ext xmlns:c16="http://schemas.microsoft.com/office/drawing/2014/chart" uri="{C3380CC4-5D6E-409C-BE32-E72D297353CC}">
                <c16:uniqueId val="{0000000B-5ED8-9C46-B7CA-01D35BBAE82C}"/>
              </c:ext>
            </c:extLst>
          </c:dPt>
          <c:dPt>
            <c:idx val="6"/>
            <c:bubble3D val="0"/>
            <c:spPr>
              <a:solidFill>
                <a:srgbClr val="EDC948"/>
              </a:solidFill>
            </c:spPr>
            <c:extLst>
              <c:ext xmlns:c16="http://schemas.microsoft.com/office/drawing/2014/chart" uri="{C3380CC4-5D6E-409C-BE32-E72D297353CC}">
                <c16:uniqueId val="{0000000D-5ED8-9C46-B7CA-01D35BBAE82C}"/>
              </c:ext>
            </c:extLst>
          </c:dPt>
          <c:dPt>
            <c:idx val="7"/>
            <c:bubble3D val="0"/>
            <c:spPr>
              <a:solidFill>
                <a:srgbClr val="AF7AA1"/>
              </a:solidFill>
            </c:spPr>
            <c:extLst>
              <c:ext xmlns:c16="http://schemas.microsoft.com/office/drawing/2014/chart" uri="{C3380CC4-5D6E-409C-BE32-E72D297353CC}">
                <c16:uniqueId val="{0000000F-5ED8-9C46-B7CA-01D35BBAE82C}"/>
              </c:ext>
            </c:extLst>
          </c:dPt>
          <c:dPt>
            <c:idx val="8"/>
            <c:bubble3D val="0"/>
            <c:spPr>
              <a:solidFill>
                <a:srgbClr val="FF9DA7"/>
              </a:solidFill>
            </c:spPr>
            <c:extLst>
              <c:ext xmlns:c16="http://schemas.microsoft.com/office/drawing/2014/chart" uri="{C3380CC4-5D6E-409C-BE32-E72D297353CC}">
                <c16:uniqueId val="{00000011-5ED8-9C46-B7CA-01D35BBAE82C}"/>
              </c:ext>
            </c:extLst>
          </c:dPt>
          <c:dPt>
            <c:idx val="9"/>
            <c:bubble3D val="0"/>
            <c:spPr>
              <a:solidFill>
                <a:srgbClr val="9C9C9C"/>
              </a:solidFill>
            </c:spPr>
            <c:extLst>
              <c:ext xmlns:c16="http://schemas.microsoft.com/office/drawing/2014/chart" uri="{C3380CC4-5D6E-409C-BE32-E72D297353CC}">
                <c16:uniqueId val="{00000013-5ED8-9C46-B7CA-01D35BBAE82C}"/>
              </c:ext>
            </c:extLst>
          </c:dPt>
          <c:cat>
            <c:strRef>
              <c:f>Sheet1!$A$2:$A$11</c:f>
              <c:strCache>
                <c:ptCount val="10"/>
                <c:pt idx="0">
                  <c:v>Trivest Partners</c:v>
                </c:pt>
                <c:pt idx="1">
                  <c:v>Levine Leichtman Capital Partners</c:v>
                </c:pt>
                <c:pt idx="2">
                  <c:v>Non-PE</c:v>
                </c:pt>
                <c:pt idx="3">
                  <c:v>Shoreline Equity Partners LLC</c:v>
                </c:pt>
                <c:pt idx="4">
                  <c:v>Wind Point Partners</c:v>
                </c:pt>
                <c:pt idx="5">
                  <c:v>Dunes Point Capital</c:v>
                </c:pt>
                <c:pt idx="6">
                  <c:v>44 Maple Group</c:v>
                </c:pt>
                <c:pt idx="7">
                  <c:v>Incline Equity Partners</c:v>
                </c:pt>
                <c:pt idx="8">
                  <c:v>HPS Investment Partners LLC</c:v>
                </c:pt>
                <c:pt idx="9">
                  <c:v>62 Others</c:v>
                </c:pt>
              </c:strCache>
            </c:strRef>
          </c:cat>
          <c:val>
            <c:numRef>
              <c:f>Sheet1!$B$2:$B$11</c:f>
              <c:numCache>
                <c:formatCode>General</c:formatCode>
                <c:ptCount val="10"/>
                <c:pt idx="0">
                  <c:v>3513976</c:v>
                </c:pt>
                <c:pt idx="1">
                  <c:v>2469215</c:v>
                </c:pt>
                <c:pt idx="2">
                  <c:v>2016148</c:v>
                </c:pt>
                <c:pt idx="3">
                  <c:v>1755605</c:v>
                </c:pt>
                <c:pt idx="4">
                  <c:v>1629337</c:v>
                </c:pt>
                <c:pt idx="5">
                  <c:v>1627000</c:v>
                </c:pt>
                <c:pt idx="6">
                  <c:v>1550960</c:v>
                </c:pt>
                <c:pt idx="7">
                  <c:v>1520000</c:v>
                </c:pt>
                <c:pt idx="8">
                  <c:v>1351005</c:v>
                </c:pt>
                <c:pt idx="9">
                  <c:v>25406540</c:v>
                </c:pt>
              </c:numCache>
            </c:numRef>
          </c:val>
          <c:extLst>
            <c:ext xmlns:c16="http://schemas.microsoft.com/office/drawing/2014/chart" uri="{C3380CC4-5D6E-409C-BE32-E72D297353CC}">
              <c16:uniqueId val="{00000014-5ED8-9C46-B7CA-01D35BBAE82C}"/>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464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3E9CE-D274-BC5B-EF5B-26B98517F0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E702F-B73F-3A81-8958-1C7E1101B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92D615-19DC-33B7-4512-E1E4B00A78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2A91E3-3783-8227-40E6-D8D253B5F60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31348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29EC3-73F1-0A52-0E11-E1F0A9558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94083-D3C3-6258-6889-7B72AE8668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F64405-B960-2B69-E8E0-282D0CAEDA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4001DA-57D5-2901-DF7E-074C219EE01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133076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0084F-5876-C752-5524-FEA4EB424C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65019-F0AC-4FF9-6D2C-3A940AE16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5EB6F7-F3FB-DFA6-9B17-F48EA6EB85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41DD4B-DADA-0DA1-0A10-6FBD2213AF15}"/>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067552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2F68E-064B-F3B2-FE1C-98964FFCC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3DAB95-9456-6344-AD07-C0C110AAE1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5AC72-DD31-6920-443D-A0BD6F1F6C9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C304FB-FA53-BF9E-7A8B-EE7E67DCCD94}"/>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5921932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86ABA67-1F22-644D-AE6A-574CB0E3D573}"/>
              </a:ext>
            </a:extLst>
          </p:cNvPr>
          <p:cNvSpPr>
            <a:spLocks noGrp="1"/>
          </p:cNvSpPr>
          <p:nvPr>
            <p:ph type="sldNum" sz="quarter" idx="12"/>
          </p:nvPr>
        </p:nvSpPr>
        <p:spPr/>
        <p:txBody>
          <a:bodyPr/>
          <a:lstStyle/>
          <a:p>
            <a:fld id="{77563BD6-6453-A74A-949B-3A0DFACDA8F0}" type="slidenum">
              <a:rPr lang="en-US" smtClean="0"/>
              <a:t>‹#›</a:t>
            </a:fld>
            <a:endParaRPr lang="en-US"/>
          </a:p>
        </p:txBody>
      </p:sp>
      <p:sp>
        <p:nvSpPr>
          <p:cNvPr id="7" name="Rectangle 6">
            <a:extLst>
              <a:ext uri="{FF2B5EF4-FFF2-40B4-BE49-F238E27FC236}">
                <a16:creationId xmlns:a16="http://schemas.microsoft.com/office/drawing/2014/main" id="{8ECFA9A5-CB43-47AC-B31C-A09F9783E567}"/>
              </a:ext>
            </a:extLst>
          </p:cNvPr>
          <p:cNvSpPr/>
          <p:nvPr userDrawn="1"/>
        </p:nvSpPr>
        <p:spPr>
          <a:xfrm>
            <a:off x="441301" y="2"/>
            <a:ext cx="55829" cy="652856"/>
          </a:xfrm>
          <a:prstGeom prst="rect">
            <a:avLst/>
          </a:prstGeom>
          <a:solidFill>
            <a:srgbClr val="F66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8" name="Group 7">
            <a:extLst>
              <a:ext uri="{FF2B5EF4-FFF2-40B4-BE49-F238E27FC236}">
                <a16:creationId xmlns:a16="http://schemas.microsoft.com/office/drawing/2014/main" id="{03A2A4AA-C3A4-4CBB-839C-3A483B7E4D74}"/>
              </a:ext>
            </a:extLst>
          </p:cNvPr>
          <p:cNvGrpSpPr/>
          <p:nvPr userDrawn="1"/>
        </p:nvGrpSpPr>
        <p:grpSpPr>
          <a:xfrm>
            <a:off x="7690996" y="147430"/>
            <a:ext cx="1453004" cy="346253"/>
            <a:chOff x="10254660" y="302588"/>
            <a:chExt cx="1937339" cy="461671"/>
          </a:xfrm>
        </p:grpSpPr>
        <p:pic>
          <p:nvPicPr>
            <p:cNvPr id="9" name="Picture 8">
              <a:extLst>
                <a:ext uri="{FF2B5EF4-FFF2-40B4-BE49-F238E27FC236}">
                  <a16:creationId xmlns:a16="http://schemas.microsoft.com/office/drawing/2014/main" id="{44C7CF4C-39C3-49D9-BA23-80A6A0F5B298}"/>
                </a:ext>
              </a:extLst>
            </p:cNvPr>
            <p:cNvPicPr>
              <a:picLocks noChangeAspect="1"/>
            </p:cNvPicPr>
            <p:nvPr/>
          </p:nvPicPr>
          <p:blipFill>
            <a:blip r:embed="rId2"/>
            <a:stretch>
              <a:fillRect/>
            </a:stretch>
          </p:blipFill>
          <p:spPr>
            <a:xfrm>
              <a:off x="10254660" y="302588"/>
              <a:ext cx="1670310" cy="289956"/>
            </a:xfrm>
            <a:prstGeom prst="rect">
              <a:avLst/>
            </a:prstGeom>
          </p:spPr>
        </p:pic>
        <p:sp>
          <p:nvSpPr>
            <p:cNvPr id="10" name="Rectangle 9">
              <a:extLst>
                <a:ext uri="{FF2B5EF4-FFF2-40B4-BE49-F238E27FC236}">
                  <a16:creationId xmlns:a16="http://schemas.microsoft.com/office/drawing/2014/main" id="{E7B3CDD8-14C8-403A-A88C-DC41719ECD88}"/>
                </a:ext>
              </a:extLst>
            </p:cNvPr>
            <p:cNvSpPr/>
            <p:nvPr/>
          </p:nvSpPr>
          <p:spPr>
            <a:xfrm rot="5400000">
              <a:off x="11548427" y="120687"/>
              <a:ext cx="45719" cy="1241425"/>
            </a:xfrm>
            <a:prstGeom prst="rect">
              <a:avLst/>
            </a:prstGeom>
            <a:solidFill>
              <a:srgbClr val="F66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Tree>
    <p:extLst>
      <p:ext uri="{BB962C8B-B14F-4D97-AF65-F5344CB8AC3E}">
        <p14:creationId xmlns:p14="http://schemas.microsoft.com/office/powerpoint/2010/main" val="31439530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2">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CE2319-2268-4A65-AD21-89CD02CF3835}"/>
              </a:ext>
            </a:extLst>
          </p:cNvPr>
          <p:cNvPicPr>
            <a:picLocks noChangeAspect="1"/>
          </p:cNvPicPr>
          <p:nvPr userDrawn="1"/>
        </p:nvPicPr>
        <p:blipFill>
          <a:blip r:embed="rId2"/>
          <a:stretch>
            <a:fillRect/>
          </a:stretch>
        </p:blipFill>
        <p:spPr>
          <a:xfrm>
            <a:off x="0" y="2897700"/>
            <a:ext cx="9144000" cy="2242609"/>
          </a:xfrm>
          <a:prstGeom prst="rect">
            <a:avLst/>
          </a:prstGeom>
        </p:spPr>
      </p:pic>
      <p:pic>
        <p:nvPicPr>
          <p:cNvPr id="7" name="Picture 6">
            <a:extLst>
              <a:ext uri="{FF2B5EF4-FFF2-40B4-BE49-F238E27FC236}">
                <a16:creationId xmlns:a16="http://schemas.microsoft.com/office/drawing/2014/main" id="{9816156C-2138-4CDF-80CC-9BB9A42950CB}"/>
              </a:ext>
            </a:extLst>
          </p:cNvPr>
          <p:cNvPicPr>
            <a:picLocks noChangeAspect="1"/>
          </p:cNvPicPr>
          <p:nvPr userDrawn="1"/>
        </p:nvPicPr>
        <p:blipFill>
          <a:blip r:embed="rId3"/>
          <a:stretch>
            <a:fillRect/>
          </a:stretch>
        </p:blipFill>
        <p:spPr>
          <a:xfrm>
            <a:off x="0" y="-3190"/>
            <a:ext cx="9144000" cy="5143499"/>
          </a:xfrm>
          <a:prstGeom prst="rect">
            <a:avLst/>
          </a:prstGeom>
        </p:spPr>
      </p:pic>
      <p:sp>
        <p:nvSpPr>
          <p:cNvPr id="8" name="Rectangle 7">
            <a:extLst>
              <a:ext uri="{FF2B5EF4-FFF2-40B4-BE49-F238E27FC236}">
                <a16:creationId xmlns:a16="http://schemas.microsoft.com/office/drawing/2014/main" id="{F70FB9EC-BB6C-4569-AFCA-D8F3BA980B84}"/>
              </a:ext>
            </a:extLst>
          </p:cNvPr>
          <p:cNvSpPr/>
          <p:nvPr userDrawn="1"/>
        </p:nvSpPr>
        <p:spPr>
          <a:xfrm flipH="1">
            <a:off x="441301" y="1"/>
            <a:ext cx="51314" cy="5143499"/>
          </a:xfrm>
          <a:prstGeom prst="rect">
            <a:avLst/>
          </a:prstGeom>
          <a:solidFill>
            <a:srgbClr val="F66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 name="Picture 8">
            <a:extLst>
              <a:ext uri="{FF2B5EF4-FFF2-40B4-BE49-F238E27FC236}">
                <a16:creationId xmlns:a16="http://schemas.microsoft.com/office/drawing/2014/main" id="{67C56798-324C-4CC0-9E45-11C25F487C0F}"/>
              </a:ext>
            </a:extLst>
          </p:cNvPr>
          <p:cNvPicPr>
            <a:picLocks noChangeAspect="1"/>
          </p:cNvPicPr>
          <p:nvPr userDrawn="1"/>
        </p:nvPicPr>
        <p:blipFill>
          <a:blip r:embed="rId4"/>
          <a:stretch>
            <a:fillRect/>
          </a:stretch>
        </p:blipFill>
        <p:spPr>
          <a:xfrm>
            <a:off x="492615" y="3134022"/>
            <a:ext cx="3895682" cy="676715"/>
          </a:xfrm>
          <a:prstGeom prst="rect">
            <a:avLst/>
          </a:prstGeom>
        </p:spPr>
      </p:pic>
      <p:sp>
        <p:nvSpPr>
          <p:cNvPr id="11" name="TextBox 10">
            <a:extLst>
              <a:ext uri="{FF2B5EF4-FFF2-40B4-BE49-F238E27FC236}">
                <a16:creationId xmlns:a16="http://schemas.microsoft.com/office/drawing/2014/main" id="{1B401096-47EC-492A-B31B-F446C320FE6A}"/>
              </a:ext>
            </a:extLst>
          </p:cNvPr>
          <p:cNvSpPr txBox="1"/>
          <p:nvPr userDrawn="1"/>
        </p:nvSpPr>
        <p:spPr>
          <a:xfrm>
            <a:off x="623407" y="3943351"/>
            <a:ext cx="2796391" cy="1061829"/>
          </a:xfrm>
          <a:prstGeom prst="rect">
            <a:avLst/>
          </a:prstGeom>
          <a:noFill/>
        </p:spPr>
        <p:txBody>
          <a:bodyPr wrap="square" rtlCol="0">
            <a:spAutoFit/>
          </a:bodyPr>
          <a:lstStyle/>
          <a:p>
            <a:r>
              <a:rPr lang="en-US" sz="2100" b="1">
                <a:solidFill>
                  <a:schemeClr val="tx1"/>
                </a:solidFill>
                <a:latin typeface="Avenir Black" panose="02000503020000020003" pitchFamily="2" charset="0"/>
              </a:rPr>
              <a:t>Q3 2025 Board Meeting</a:t>
            </a:r>
          </a:p>
          <a:p>
            <a:r>
              <a:rPr lang="en-US" sz="2100" b="1">
                <a:solidFill>
                  <a:schemeClr val="tx1"/>
                </a:solidFill>
                <a:latin typeface="Avenir Black" panose="02000503020000020003" pitchFamily="2" charset="0"/>
              </a:rPr>
              <a:t>July 17</a:t>
            </a:r>
            <a:r>
              <a:rPr lang="en-US" sz="2100" b="1" baseline="30000">
                <a:solidFill>
                  <a:schemeClr val="tx1"/>
                </a:solidFill>
                <a:latin typeface="Avenir Black" panose="02000503020000020003" pitchFamily="2" charset="0"/>
              </a:rPr>
              <a:t>th</a:t>
            </a:r>
            <a:r>
              <a:rPr lang="en-US" sz="2100" b="1">
                <a:solidFill>
                  <a:schemeClr val="tx1"/>
                </a:solidFill>
                <a:latin typeface="Avenir Black" panose="02000503020000020003" pitchFamily="2" charset="0"/>
              </a:rPr>
              <a:t> 2025</a:t>
            </a:r>
          </a:p>
        </p:txBody>
      </p:sp>
    </p:spTree>
    <p:extLst>
      <p:ext uri="{BB962C8B-B14F-4D97-AF65-F5344CB8AC3E}">
        <p14:creationId xmlns:p14="http://schemas.microsoft.com/office/powerpoint/2010/main" val="355640124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10" name="Full Bar"/>
          <p:cNvSpPr/>
          <p:nvPr/>
        </p:nvSpPr>
        <p:spPr>
          <a:xfrm>
            <a:off x="441300" y="1"/>
            <a:ext cx="55829" cy="5143499"/>
          </a:xfrm>
          <a:prstGeom prst="rect">
            <a:avLst/>
          </a:prstGeom>
          <a:solidFill>
            <a:srgbClr val="F66C2E"/>
          </a:solidFill>
          <a:ln>
            <a:noFill/>
          </a:ln>
        </p:spPr>
        <p:txBody>
          <a:bodyPr/>
          <a:lstStyle/>
          <a:p>
            <a:endParaRPr lang="en-US"/>
          </a:p>
        </p:txBody>
      </p:sp>
      <p:pic>
        <p:nvPicPr>
          <p:cNvPr id="4" name="Logo" descr="preencoded.png"/>
          <p:cNvPicPr>
            <a:picLocks noChangeAspect="1"/>
          </p:cNvPicPr>
          <p:nvPr/>
        </p:nvPicPr>
        <p:blipFill>
          <a:blip r:embed="rId3"/>
          <a:stretch>
            <a:fillRect/>
          </a:stretch>
        </p:blipFill>
        <p:spPr>
          <a:xfrm>
            <a:off x="7692000" y="182880"/>
            <a:ext cx="1252732" cy="217467"/>
          </a:xfrm>
          <a:prstGeom prst="rect">
            <a:avLst/>
          </a:prstGeom>
        </p:spPr>
      </p:pic>
      <p:sp>
        <p:nvSpPr>
          <p:cNvPr id="11" name="Logo Underline"/>
          <p:cNvSpPr/>
          <p:nvPr/>
        </p:nvSpPr>
        <p:spPr>
          <a:xfrm>
            <a:off x="7692000" y="430347"/>
            <a:ext cx="1252732" cy="36576"/>
          </a:xfrm>
          <a:prstGeom prst="rect">
            <a:avLst/>
          </a:prstGeom>
          <a:solidFill>
            <a:srgbClr val="E8642C"/>
          </a:solidFill>
          <a:ln>
            <a:noFill/>
          </a:ln>
        </p:spPr>
        <p:txBody>
          <a:bodyPr/>
          <a:lstStyle/>
          <a:p>
            <a:endParaRPr lang="en-US"/>
          </a:p>
        </p:txBody>
      </p:sp>
      <p:sp>
        <p:nvSpPr>
          <p:cNvPr id="5" name="Title Text"/>
          <p:cNvSpPr/>
          <p:nvPr/>
        </p:nvSpPr>
        <p:spPr>
          <a:xfrm>
            <a:off x="1000000" y="1400000"/>
            <a:ext cx="7144000" cy="2400000"/>
          </a:xfrm>
          <a:prstGeom prst="rect">
            <a:avLst/>
          </a:prstGeom>
          <a:noFill/>
          <a:ln/>
        </p:spPr>
        <p:txBody>
          <a:bodyPr wrap="square" rtlCol="0" anchor="ctr"/>
          <a:lstStyle/>
          <a:p>
            <a:pPr marL="0" indent="0" algn="ctr">
              <a:spcAft>
                <a:spcPts val="600"/>
              </a:spcAft>
              <a:buNone/>
            </a:pPr>
            <a:r>
              <a:rPr lang="en-US" sz="3200" b="1" dirty="0">
                <a:solidFill>
                  <a:srgbClr val="F66C2E"/>
                </a:solidFill>
                <a:latin typeface="+mj-lt"/>
                <a:ea typeface="Avenir" pitchFamily="34" charset="-122"/>
                <a:cs typeface="Avenir" pitchFamily="34" charset="-120"/>
              </a:rPr>
              <a:t>Q1 2026 Board Meeting</a:t>
            </a:r>
            <a:endParaRPr lang="en-US" sz="3200" b="1" dirty="0">
              <a:solidFill>
                <a:srgbClr val="F66C2E"/>
              </a:solidFill>
              <a:latin typeface="+mj-lt"/>
            </a:endParaRPr>
          </a:p>
          <a:p>
            <a:pPr marL="0" indent="0" algn="ctr">
              <a:buNone/>
            </a:pPr>
            <a:r>
              <a:rPr lang="en-US" sz="2000" dirty="0">
                <a:solidFill>
                  <a:srgbClr val="999999"/>
                </a:solidFill>
                <a:latin typeface="Avenir" pitchFamily="34" charset="0"/>
              </a:rPr>
              <a:t>February 12, 2026</a:t>
            </a:r>
          </a:p>
          <a:p>
            <a:pPr marL="0" indent="0" algn="ctr">
              <a:buNone/>
            </a:pPr>
            <a:endParaRPr lang="en-US" sz="2000" dirty="0">
              <a:solidFill>
                <a:srgbClr val="999999"/>
              </a:solidFill>
              <a:latin typeface="Avenir" pitchFamily="34" charset="0"/>
            </a:endParaRPr>
          </a:p>
          <a:p>
            <a:pPr algn="ctr"/>
            <a:r>
              <a:rPr lang="en-US" sz="2000" b="1" dirty="0">
                <a:solidFill>
                  <a:srgbClr val="393941"/>
                </a:solidFill>
                <a:latin typeface="Avenir" pitchFamily="34" charset="0"/>
                <a:ea typeface="Avenir" pitchFamily="34" charset="-122"/>
                <a:cs typeface="Avenir" pitchFamily="34" charset="-120"/>
              </a:rPr>
              <a:t>Q4 2025 Review / FY 2025 Look Back</a:t>
            </a:r>
            <a:endParaRPr lang="en-US" sz="2000" dirty="0"/>
          </a:p>
          <a:p>
            <a:pPr marL="0" indent="0" algn="ctr">
              <a:buNone/>
            </a:pP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5" name="Shape 2"/>
          <p:cNvSpPr/>
          <p:nvPr/>
        </p:nvSpPr>
        <p:spPr>
          <a:xfrm>
            <a:off x="7692000" y="430347"/>
            <a:ext cx="1252732" cy="36576"/>
          </a:xfrm>
          <a:prstGeom prst="rect">
            <a:avLst/>
          </a:prstGeom>
          <a:solidFill>
            <a:srgbClr val="E8642C"/>
          </a:solidFill>
          <a:ln/>
        </p:spPr>
        <p:txBody>
          <a:bodyPr/>
          <a:lstStyle/>
          <a:p>
            <a:endParaRPr lang="en-US"/>
          </a:p>
        </p:txBody>
      </p:sp>
      <p:sp>
        <p:nvSpPr>
          <p:cNvPr id="6" name="Text 3"/>
          <p:cNvSpPr/>
          <p:nvPr/>
        </p:nvSpPr>
        <p:spPr>
          <a:xfrm>
            <a:off x="548640" y="137160"/>
            <a:ext cx="4572000" cy="54864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Agenda</a:t>
            </a:r>
            <a:endParaRPr lang="en-US" sz="2800"/>
          </a:p>
        </p:txBody>
      </p:sp>
      <p:sp>
        <p:nvSpPr>
          <p:cNvPr id="7" name="Text 4"/>
          <p:cNvSpPr/>
          <p:nvPr/>
        </p:nvSpPr>
        <p:spPr>
          <a:xfrm>
            <a:off x="640080" y="1097280"/>
            <a:ext cx="5486400" cy="3200400"/>
          </a:xfrm>
          <a:prstGeom prst="rect">
            <a:avLst/>
          </a:prstGeom>
          <a:noFill/>
          <a:ln/>
        </p:spPr>
        <p:txBody>
          <a:bodyPr wrap="square" rtlCol="0" anchor="t"/>
          <a:lstStyle/>
          <a:p>
            <a:pPr marL="342900" indent="-342900">
              <a:spcAft>
                <a:spcPts val="800"/>
              </a:spcAft>
              <a:buClr>
                <a:srgbClr val="E8642C"/>
              </a:buClr>
              <a:buSzPct val="60000"/>
              <a:buChar char="■"/>
            </a:pPr>
            <a:r>
              <a:rPr lang="en-US" sz="1600" dirty="0">
                <a:solidFill>
                  <a:srgbClr val="666666"/>
                </a:solidFill>
                <a:latin typeface="Avenir" pitchFamily="34" charset="0"/>
                <a:ea typeface="Avenir" pitchFamily="34" charset="-122"/>
                <a:cs typeface="Avenir" pitchFamily="34" charset="-120"/>
              </a:rPr>
              <a:t>2025 Look Back</a:t>
            </a:r>
            <a:endParaRPr lang="en-US" sz="1600" dirty="0"/>
          </a:p>
          <a:p>
            <a:pPr marL="342900" indent="-342900">
              <a:spcAft>
                <a:spcPts val="800"/>
              </a:spcAft>
              <a:buClr>
                <a:srgbClr val="E8642C"/>
              </a:buClr>
              <a:buSzPct val="60000"/>
              <a:buChar char="■"/>
            </a:pPr>
            <a:r>
              <a:rPr lang="en-US" sz="1600" dirty="0">
                <a:solidFill>
                  <a:srgbClr val="666666"/>
                </a:solidFill>
                <a:latin typeface="Avenir" pitchFamily="34" charset="0"/>
                <a:ea typeface="Avenir" pitchFamily="34" charset="-122"/>
                <a:cs typeface="Avenir" pitchFamily="34" charset="-120"/>
              </a:rPr>
              <a:t>Financial Review (Q4, FY 2025, Budget 2026)</a:t>
            </a:r>
            <a:endParaRPr lang="en-US" sz="1600" dirty="0"/>
          </a:p>
          <a:p>
            <a:pPr marL="342900" indent="-342900">
              <a:spcAft>
                <a:spcPts val="800"/>
              </a:spcAft>
              <a:buClr>
                <a:srgbClr val="E8642C"/>
              </a:buClr>
              <a:buSzPct val="60000"/>
              <a:buChar char="■"/>
            </a:pPr>
            <a:r>
              <a:rPr lang="en-US" sz="1600" dirty="0">
                <a:solidFill>
                  <a:srgbClr val="666666"/>
                </a:solidFill>
                <a:latin typeface="Avenir" pitchFamily="34" charset="0"/>
                <a:ea typeface="Avenir" pitchFamily="34" charset="-122"/>
                <a:cs typeface="Avenir" pitchFamily="34" charset="-120"/>
              </a:rPr>
              <a:t>Consulting Sales Review</a:t>
            </a:r>
            <a:endParaRPr lang="en-US" sz="1600" dirty="0"/>
          </a:p>
          <a:p>
            <a:pPr marL="342900" indent="-342900">
              <a:spcAft>
                <a:spcPts val="800"/>
              </a:spcAft>
              <a:buClr>
                <a:srgbClr val="E8642C"/>
              </a:buClr>
              <a:buSzPct val="60000"/>
              <a:buChar char="■"/>
            </a:pPr>
            <a:r>
              <a:rPr lang="en-US" sz="1600" dirty="0">
                <a:solidFill>
                  <a:srgbClr val="666666"/>
                </a:solidFill>
                <a:latin typeface="Avenir" pitchFamily="34" charset="0"/>
                <a:ea typeface="Avenir" pitchFamily="34" charset="-122"/>
                <a:cs typeface="Avenir" pitchFamily="34" charset="-120"/>
              </a:rPr>
              <a:t>Delivery Update</a:t>
            </a:r>
            <a:endParaRPr lang="en-US" sz="1600" dirty="0"/>
          </a:p>
          <a:p>
            <a:pPr marL="342900" indent="-342900">
              <a:spcAft>
                <a:spcPts val="800"/>
              </a:spcAft>
              <a:buClr>
                <a:srgbClr val="E8642C"/>
              </a:buClr>
              <a:buSzPct val="60000"/>
              <a:buChar char="■"/>
            </a:pPr>
            <a:r>
              <a:rPr lang="en-US" sz="1600" dirty="0">
                <a:solidFill>
                  <a:srgbClr val="666666"/>
                </a:solidFill>
                <a:latin typeface="Avenir" pitchFamily="34" charset="0"/>
                <a:ea typeface="Avenir" pitchFamily="34" charset="-122"/>
                <a:cs typeface="Avenir" pitchFamily="34" charset="-120"/>
              </a:rPr>
              <a:t>Marketing Update</a:t>
            </a:r>
            <a:endParaRPr lang="en-US" sz="1600" dirty="0"/>
          </a:p>
          <a:p>
            <a:pPr marL="342900" indent="-342900">
              <a:spcAft>
                <a:spcPts val="800"/>
              </a:spcAft>
              <a:buClr>
                <a:srgbClr val="E8642C"/>
              </a:buClr>
              <a:buSzPct val="60000"/>
              <a:buChar char="■"/>
            </a:pPr>
            <a:r>
              <a:rPr lang="en-US" sz="1600" dirty="0">
                <a:solidFill>
                  <a:srgbClr val="666666"/>
                </a:solidFill>
                <a:latin typeface="Avenir" pitchFamily="34" charset="0"/>
                <a:ea typeface="Avenir" pitchFamily="34" charset="-122"/>
                <a:cs typeface="Avenir" pitchFamily="34" charset="-120"/>
              </a:rPr>
              <a:t>Q1 2026 Company Goals</a:t>
            </a:r>
            <a:endParaRPr lang="en-US" sz="1600" dirty="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6ED30CD0-7237-4FD6-A8D6-ABD270ED26B2}" type="slidenum">
              <a:rPr lang="en-US" sz="1000" smtClean="0">
                <a:solidFill>
                  <a:srgbClr val="999999"/>
                </a:solidFill>
                <a:latin typeface="Avenir" pitchFamily="34" charset="0"/>
                <a:ea typeface="Avenir" pitchFamily="34" charset="-122"/>
                <a:cs typeface="Avenir" pitchFamily="34" charset="-120"/>
              </a:rPr>
              <a:t>2</a:t>
            </a:fld>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2025 Look Back – Sales</a:t>
            </a:r>
            <a:endParaRPr lang="en-US" sz="2800"/>
          </a:p>
        </p:txBody>
      </p:sp>
      <p:sp>
        <p:nvSpPr>
          <p:cNvPr id="6" name="Text 3"/>
          <p:cNvSpPr/>
          <p:nvPr/>
        </p:nvSpPr>
        <p:spPr>
          <a:xfrm>
            <a:off x="64008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Wins</a:t>
            </a:r>
            <a:endParaRPr lang="en-US" sz="1400"/>
          </a:p>
        </p:txBody>
      </p:sp>
      <p:sp>
        <p:nvSpPr>
          <p:cNvPr id="7" name="Text 4"/>
          <p:cNvSpPr/>
          <p:nvPr/>
        </p:nvSpPr>
        <p:spPr>
          <a:xfrm>
            <a:off x="457200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Misses</a:t>
            </a:r>
            <a:endParaRPr lang="en-US" sz="1400"/>
          </a:p>
        </p:txBody>
      </p:sp>
      <p:sp>
        <p:nvSpPr>
          <p:cNvPr id="8" name="Text 5"/>
          <p:cNvSpPr/>
          <p:nvPr/>
        </p:nvSpPr>
        <p:spPr>
          <a:xfrm>
            <a:off x="640080" y="1207008"/>
            <a:ext cx="3657600" cy="1828800"/>
          </a:xfrm>
          <a:prstGeom prst="rect">
            <a:avLst/>
          </a:prstGeom>
          <a:noFill/>
          <a:ln/>
        </p:spPr>
        <p:txBody>
          <a:bodyPr wrap="square" lIns="0" tIns="0" rIns="0" bIns="0" rtlCol="0" anchor="t"/>
          <a:lstStyle/>
          <a:p>
            <a:pPr marL="342900" indent="-342900">
              <a:spcAft>
                <a:spcPts val="500"/>
              </a:spcAft>
              <a:buClr>
                <a:srgbClr val="E8642C"/>
              </a:buClr>
              <a:buSzPct val="60000"/>
              <a:buChar char="■"/>
            </a:pPr>
            <a:r>
              <a:rPr lang="en-US" sz="1100" dirty="0">
                <a:solidFill>
                  <a:srgbClr val="666666"/>
                </a:solidFill>
                <a:latin typeface="Avenir" pitchFamily="34" charset="0"/>
                <a:ea typeface="Avenir" pitchFamily="34" charset="-122"/>
                <a:cs typeface="Avenir" pitchFamily="34" charset="-120"/>
              </a:rPr>
              <a:t>Consulting bookings steady at ~$3M/quarter; pipeline adds trending favorably throughout the year</a:t>
            </a:r>
            <a:endParaRPr lang="en-US" sz="1100" dirty="0"/>
          </a:p>
          <a:p>
            <a:pPr marL="342900" indent="-342900">
              <a:spcAft>
                <a:spcPts val="500"/>
              </a:spcAft>
              <a:buClr>
                <a:srgbClr val="E8642C"/>
              </a:buClr>
              <a:buSzPct val="60000"/>
              <a:buChar char="■"/>
            </a:pPr>
            <a:r>
              <a:rPr lang="en-US" sz="1100" dirty="0">
                <a:solidFill>
                  <a:srgbClr val="666666"/>
                </a:solidFill>
                <a:latin typeface="Avenir" pitchFamily="34" charset="0"/>
                <a:ea typeface="Avenir" pitchFamily="34" charset="-122"/>
                <a:cs typeface="Avenir" pitchFamily="34" charset="-120"/>
              </a:rPr>
              <a:t>KSA pipeline growing: LLCP emerged as a strong KSA; Core Industrial similarly situated (using x-portfolio as a blueprint)</a:t>
            </a:r>
          </a:p>
          <a:p>
            <a:pPr marL="342900" indent="-342900">
              <a:spcAft>
                <a:spcPts val="500"/>
              </a:spcAft>
              <a:buClr>
                <a:srgbClr val="E8642C"/>
              </a:buClr>
              <a:buSzPct val="60000"/>
              <a:buChar char="■"/>
            </a:pPr>
            <a:r>
              <a:rPr lang="en-US" sz="1100" dirty="0">
                <a:solidFill>
                  <a:srgbClr val="666666"/>
                </a:solidFill>
                <a:latin typeface="Avenir" pitchFamily="34" charset="0"/>
              </a:rPr>
              <a:t>GP Stakes – Ridge Lake (Gridiron, Gauge)</a:t>
            </a:r>
            <a:endParaRPr lang="en-US" sz="1100" dirty="0"/>
          </a:p>
          <a:p>
            <a:pPr marL="342900" indent="-342900">
              <a:spcAft>
                <a:spcPts val="500"/>
              </a:spcAft>
              <a:buClr>
                <a:srgbClr val="E8642C"/>
              </a:buClr>
              <a:buSzPct val="60000"/>
              <a:buChar char="■"/>
            </a:pPr>
            <a:r>
              <a:rPr lang="en-US" sz="1100" dirty="0">
                <a:solidFill>
                  <a:srgbClr val="666666"/>
                </a:solidFill>
                <a:latin typeface="Avenir" pitchFamily="34" charset="0"/>
                <a:ea typeface="Avenir" pitchFamily="34" charset="-122"/>
                <a:cs typeface="Avenir" pitchFamily="34" charset="-120"/>
              </a:rPr>
              <a:t>15 new PE logos; 40 consulting projects sold </a:t>
            </a:r>
          </a:p>
          <a:p>
            <a:pPr marL="342900" indent="-342900">
              <a:spcAft>
                <a:spcPts val="500"/>
              </a:spcAft>
              <a:buClr>
                <a:srgbClr val="E8642C"/>
              </a:buClr>
              <a:buSzPct val="60000"/>
              <a:buChar char="■"/>
            </a:pPr>
            <a:r>
              <a:rPr lang="en-US" sz="1100" dirty="0">
                <a:solidFill>
                  <a:srgbClr val="666666"/>
                </a:solidFill>
                <a:latin typeface="Avenir" pitchFamily="34" charset="0"/>
                <a:ea typeface="Avenir" pitchFamily="34" charset="-122"/>
                <a:cs typeface="Avenir" pitchFamily="34" charset="-120"/>
              </a:rPr>
              <a:t>Greater involvement of delivery/SME in scoping/closing calls</a:t>
            </a:r>
          </a:p>
          <a:p>
            <a:pPr marL="342900" indent="-342900">
              <a:spcAft>
                <a:spcPts val="500"/>
              </a:spcAft>
              <a:buClr>
                <a:srgbClr val="E8642C"/>
              </a:buClr>
              <a:buSzPct val="60000"/>
              <a:buChar char="■"/>
            </a:pPr>
            <a:r>
              <a:rPr lang="en-US" sz="1100" dirty="0">
                <a:solidFill>
                  <a:srgbClr val="666666"/>
                </a:solidFill>
                <a:latin typeface="Avenir" pitchFamily="34" charset="0"/>
              </a:rPr>
              <a:t>Additions: David (CT), Jake (</a:t>
            </a:r>
            <a:r>
              <a:rPr lang="en-US" sz="1100" dirty="0" err="1">
                <a:solidFill>
                  <a:srgbClr val="666666"/>
                </a:solidFill>
                <a:latin typeface="Avenir" pitchFamily="34" charset="0"/>
              </a:rPr>
              <a:t>Bluwave</a:t>
            </a:r>
            <a:r>
              <a:rPr lang="en-US" sz="1100" dirty="0">
                <a:solidFill>
                  <a:srgbClr val="666666"/>
                </a:solidFill>
                <a:latin typeface="Avenir" pitchFamily="34" charset="0"/>
              </a:rPr>
              <a:t>).  </a:t>
            </a:r>
            <a:r>
              <a:rPr lang="en-US" sz="1100">
                <a:solidFill>
                  <a:srgbClr val="666666"/>
                </a:solidFill>
                <a:latin typeface="Avenir" pitchFamily="34" charset="0"/>
              </a:rPr>
              <a:t>Offer out to </a:t>
            </a:r>
            <a:r>
              <a:rPr lang="en-US" sz="1100" dirty="0">
                <a:solidFill>
                  <a:srgbClr val="666666"/>
                </a:solidFill>
                <a:latin typeface="Avenir" pitchFamily="34" charset="0"/>
              </a:rPr>
              <a:t>Kevin Buckley (ex-Grant Thornton PE sales)</a:t>
            </a:r>
            <a:endParaRPr lang="en-US" sz="1100" dirty="0"/>
          </a:p>
        </p:txBody>
      </p:sp>
      <p:sp>
        <p:nvSpPr>
          <p:cNvPr id="9" name="Text 6"/>
          <p:cNvSpPr/>
          <p:nvPr/>
        </p:nvSpPr>
        <p:spPr>
          <a:xfrm>
            <a:off x="4572000" y="1207008"/>
            <a:ext cx="3657600" cy="1828800"/>
          </a:xfrm>
          <a:prstGeom prst="rect">
            <a:avLst/>
          </a:prstGeom>
          <a:noFill/>
          <a:ln/>
        </p:spPr>
        <p:txBody>
          <a:bodyPr wrap="square" lIns="0" tIns="0" rIns="0" bIns="0" rtlCol="0" anchor="t"/>
          <a:lstStyle/>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Consulting bookings consistently below budget ($3M actual vs. $4.8–$5.3M budget each quarter)</a:t>
            </a:r>
            <a:endParaRPr lang="en-US" sz="1100"/>
          </a:p>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Small parcel bookings significantly below plan + churn</a:t>
            </a:r>
            <a:endParaRPr lang="en-US" sz="1100"/>
          </a:p>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BDR turnover: Jack/CJ (underperformance) and Shaun departure</a:t>
            </a:r>
            <a:endParaRPr lang="en-US" sz="1100"/>
          </a:p>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Close rate at ~30%</a:t>
            </a:r>
            <a:endParaRPr lang="en-US" sz="1100"/>
          </a:p>
        </p:txBody>
      </p:sp>
      <p:sp>
        <p:nvSpPr>
          <p:cNvPr id="10" name="Shape 7"/>
          <p:cNvSpPr/>
          <p:nvPr/>
        </p:nvSpPr>
        <p:spPr>
          <a:xfrm>
            <a:off x="640080" y="3429906"/>
            <a:ext cx="7589520" cy="0"/>
          </a:xfrm>
          <a:prstGeom prst="line">
            <a:avLst/>
          </a:prstGeom>
          <a:noFill/>
          <a:ln w="12700">
            <a:solidFill>
              <a:srgbClr val="999999"/>
            </a:solidFill>
            <a:prstDash val="solid"/>
          </a:ln>
        </p:spPr>
        <p:txBody>
          <a:bodyPr/>
          <a:lstStyle/>
          <a:p>
            <a:endParaRPr lang="en-US"/>
          </a:p>
        </p:txBody>
      </p:sp>
      <p:sp>
        <p:nvSpPr>
          <p:cNvPr id="11" name="Text 8"/>
          <p:cNvSpPr/>
          <p:nvPr/>
        </p:nvSpPr>
        <p:spPr>
          <a:xfrm>
            <a:off x="640080" y="3539634"/>
            <a:ext cx="758952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2026 Focus</a:t>
            </a:r>
            <a:endParaRPr lang="en-US" sz="1400"/>
          </a:p>
        </p:txBody>
      </p:sp>
      <p:sp>
        <p:nvSpPr>
          <p:cNvPr id="12" name="Text 9"/>
          <p:cNvSpPr/>
          <p:nvPr/>
        </p:nvSpPr>
        <p:spPr>
          <a:xfrm>
            <a:off x="640080" y="3844182"/>
            <a:ext cx="7589520" cy="1280160"/>
          </a:xfrm>
          <a:prstGeom prst="rect">
            <a:avLst/>
          </a:prstGeom>
          <a:noFill/>
          <a:ln/>
        </p:spPr>
        <p:txBody>
          <a:bodyPr wrap="square" lIns="0" tIns="0" rIns="0" bIns="0" rtlCol="0" anchor="t"/>
          <a:lstStyle/>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Add 6–8 new KSAs; continue to improve KSA opportunity contributions to improve pipeline consistency</a:t>
            </a:r>
            <a:endParaRPr lang="en-US" sz="1100"/>
          </a:p>
          <a:p>
            <a:pPr marL="342900" indent="-342900">
              <a:spcAft>
                <a:spcPts val="500"/>
              </a:spcAft>
              <a:buClr>
                <a:srgbClr val="E8642C"/>
              </a:buClr>
              <a:buSzPct val="60000"/>
              <a:buChar char="■"/>
            </a:pPr>
            <a:r>
              <a:rPr lang="en-US" sz="1100">
                <a:solidFill>
                  <a:srgbClr val="666666"/>
                </a:solidFill>
                <a:latin typeface="Avenir" pitchFamily="34" charset="0"/>
                <a:ea typeface="Avenir"/>
                <a:cs typeface="Avenir" pitchFamily="34" charset="-120"/>
              </a:rPr>
              <a:t>Continue to iterate on BDM </a:t>
            </a:r>
            <a:r>
              <a:rPr lang="en-US" sz="1100">
                <a:solidFill>
                  <a:srgbClr val="666666"/>
                </a:solidFill>
                <a:latin typeface="Avenir"/>
                <a:ea typeface="Avenir" pitchFamily="34" charset="-122"/>
                <a:cs typeface="Avenir" pitchFamily="34" charset="-120"/>
              </a:rPr>
              <a:t>model: NYC-based hires, improved comp model, senior pairing</a:t>
            </a:r>
            <a:endParaRPr lang="en-US" sz="1100">
              <a:latin typeface="Avenir"/>
            </a:endParaRPr>
          </a:p>
          <a:p>
            <a:pPr marL="342900" indent="-342900">
              <a:spcAft>
                <a:spcPts val="500"/>
              </a:spcAft>
              <a:buClr>
                <a:srgbClr val="E8642C"/>
              </a:buClr>
              <a:buSzPct val="60000"/>
              <a:buChar char="■"/>
            </a:pPr>
            <a:r>
              <a:rPr lang="en-US" sz="1100">
                <a:solidFill>
                  <a:srgbClr val="666666"/>
                </a:solidFill>
                <a:latin typeface="Avenir"/>
                <a:ea typeface="Avenir"/>
                <a:cs typeface="Avenir" pitchFamily="34" charset="-120"/>
              </a:rPr>
              <a:t>Prioritizing X-Portfolio data collection; creating value/goodwill through PVP</a:t>
            </a:r>
          </a:p>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Verticalization of sales approach for top verticals (multi-site healthcare, HVAC, manufacturing)</a:t>
            </a:r>
            <a:endParaRPr lang="en-US" sz="110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841CDD57-226C-43A2-ABA0-FDC4691B40A0}" type="slidenum">
              <a:rPr lang="en-US" sz="1000" smtClean="0">
                <a:solidFill>
                  <a:srgbClr val="999999"/>
                </a:solidFill>
                <a:latin typeface="Avenir" pitchFamily="34" charset="0"/>
                <a:ea typeface="Avenir" pitchFamily="34" charset="-122"/>
                <a:cs typeface="Avenir" pitchFamily="34" charset="-120"/>
              </a:rPr>
              <a:t>3</a:t>
            </a:fld>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469214" y="-96579"/>
            <a:ext cx="6400800" cy="731520"/>
          </a:xfrm>
          <a:prstGeom prst="rect">
            <a:avLst/>
          </a:prstGeom>
          <a:noFill/>
          <a:ln/>
        </p:spPr>
        <p:txBody>
          <a:bodyPr wrap="square" rtlCol="0" anchor="ctr"/>
          <a:lstStyle/>
          <a:p>
            <a:pPr marL="0" indent="0">
              <a:buNone/>
            </a:pPr>
            <a:r>
              <a:rPr lang="en-US" sz="2800" b="1" dirty="0">
                <a:solidFill>
                  <a:srgbClr val="393941"/>
                </a:solidFill>
                <a:latin typeface="Avenir" pitchFamily="34" charset="0"/>
                <a:ea typeface="Avenir" pitchFamily="34" charset="-122"/>
                <a:cs typeface="Avenir" pitchFamily="34" charset="-120"/>
              </a:rPr>
              <a:t>2025 Look Back – Delivery</a:t>
            </a:r>
            <a:endParaRPr lang="en-US" sz="2800" dirty="0"/>
          </a:p>
        </p:txBody>
      </p:sp>
      <p:sp>
        <p:nvSpPr>
          <p:cNvPr id="6" name="Text 3"/>
          <p:cNvSpPr/>
          <p:nvPr/>
        </p:nvSpPr>
        <p:spPr>
          <a:xfrm>
            <a:off x="525043" y="605444"/>
            <a:ext cx="3657600" cy="274320"/>
          </a:xfrm>
          <a:prstGeom prst="rect">
            <a:avLst/>
          </a:prstGeom>
          <a:noFill/>
          <a:ln/>
        </p:spPr>
        <p:txBody>
          <a:bodyPr wrap="square" rtlCol="0" anchor="ctr"/>
          <a:lstStyle/>
          <a:p>
            <a:pPr marL="0" indent="0">
              <a:buNone/>
            </a:pPr>
            <a:r>
              <a:rPr lang="en-US" sz="1400" b="1" dirty="0">
                <a:solidFill>
                  <a:srgbClr val="E8642C"/>
                </a:solidFill>
                <a:latin typeface="Avenir" pitchFamily="34" charset="0"/>
                <a:ea typeface="Avenir" pitchFamily="34" charset="-122"/>
                <a:cs typeface="Avenir" pitchFamily="34" charset="-120"/>
              </a:rPr>
              <a:t>Wins</a:t>
            </a:r>
            <a:endParaRPr lang="en-US" sz="1400" dirty="0"/>
          </a:p>
        </p:txBody>
      </p:sp>
      <p:sp>
        <p:nvSpPr>
          <p:cNvPr id="7" name="Text 4"/>
          <p:cNvSpPr/>
          <p:nvPr/>
        </p:nvSpPr>
        <p:spPr>
          <a:xfrm>
            <a:off x="4617721" y="636040"/>
            <a:ext cx="3657600" cy="274320"/>
          </a:xfrm>
          <a:prstGeom prst="rect">
            <a:avLst/>
          </a:prstGeom>
          <a:noFill/>
          <a:ln/>
        </p:spPr>
        <p:txBody>
          <a:bodyPr wrap="square" rtlCol="0" anchor="ctr"/>
          <a:lstStyle/>
          <a:p>
            <a:pPr marL="0" indent="0">
              <a:buNone/>
            </a:pPr>
            <a:r>
              <a:rPr lang="en-US" sz="1400" b="1" dirty="0">
                <a:solidFill>
                  <a:srgbClr val="E8642C"/>
                </a:solidFill>
                <a:latin typeface="Avenir" pitchFamily="34" charset="0"/>
                <a:ea typeface="Avenir" pitchFamily="34" charset="-122"/>
                <a:cs typeface="Avenir" pitchFamily="34" charset="-120"/>
              </a:rPr>
              <a:t>Misses</a:t>
            </a:r>
            <a:endParaRPr lang="en-US" sz="1400" dirty="0"/>
          </a:p>
        </p:txBody>
      </p:sp>
      <p:sp>
        <p:nvSpPr>
          <p:cNvPr id="8" name="Text 5"/>
          <p:cNvSpPr/>
          <p:nvPr/>
        </p:nvSpPr>
        <p:spPr>
          <a:xfrm>
            <a:off x="395582" y="879764"/>
            <a:ext cx="4130699" cy="197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Strong project delivery, with highlights including </a:t>
            </a:r>
            <a:r>
              <a:rPr lang="en-US" sz="1000" dirty="0" err="1">
                <a:solidFill>
                  <a:srgbClr val="666666"/>
                </a:solidFill>
                <a:latin typeface="Avenir" pitchFamily="34" charset="0"/>
                <a:ea typeface="Avenir" pitchFamily="34" charset="-122"/>
                <a:cs typeface="Avenir" pitchFamily="34" charset="-120"/>
              </a:rPr>
              <a:t>RoadSafe</a:t>
            </a:r>
            <a:r>
              <a:rPr lang="en-US" sz="1000" dirty="0">
                <a:solidFill>
                  <a:srgbClr val="666666"/>
                </a:solidFill>
                <a:latin typeface="Avenir" pitchFamily="34" charset="0"/>
                <a:ea typeface="Avenir" pitchFamily="34" charset="-122"/>
                <a:cs typeface="Avenir" pitchFamily="34" charset="-120"/>
              </a:rPr>
              <a:t> ($5.7M savings across 3 phases), </a:t>
            </a:r>
            <a:r>
              <a:rPr lang="en-US" sz="1000" dirty="0" err="1">
                <a:solidFill>
                  <a:srgbClr val="666666"/>
                </a:solidFill>
                <a:latin typeface="Avenir" pitchFamily="34" charset="0"/>
                <a:ea typeface="Avenir" pitchFamily="34" charset="-122"/>
                <a:cs typeface="Avenir" pitchFamily="34" charset="-120"/>
              </a:rPr>
              <a:t>Epika</a:t>
            </a:r>
            <a:r>
              <a:rPr lang="en-US" sz="1000" dirty="0">
                <a:solidFill>
                  <a:srgbClr val="666666"/>
                </a:solidFill>
                <a:latin typeface="Avenir" pitchFamily="34" charset="0"/>
                <a:ea typeface="Avenir" pitchFamily="34" charset="-122"/>
                <a:cs typeface="Avenir" pitchFamily="34" charset="-120"/>
              </a:rPr>
              <a:t> ($1.5M in savings), Hy-Tek ($1.2M in savings), </a:t>
            </a:r>
            <a:r>
              <a:rPr lang="en-US" sz="1000" dirty="0" err="1">
                <a:solidFill>
                  <a:srgbClr val="666666"/>
                </a:solidFill>
                <a:latin typeface="Avenir" pitchFamily="34" charset="0"/>
                <a:ea typeface="Avenir" pitchFamily="34" charset="-122"/>
                <a:cs typeface="Avenir" pitchFamily="34" charset="-120"/>
              </a:rPr>
              <a:t>Naturpak</a:t>
            </a:r>
            <a:r>
              <a:rPr lang="en-US" sz="1000" dirty="0">
                <a:solidFill>
                  <a:srgbClr val="666666"/>
                </a:solidFill>
                <a:latin typeface="Avenir" pitchFamily="34" charset="0"/>
                <a:ea typeface="Avenir" pitchFamily="34" charset="-122"/>
                <a:cs typeface="Avenir" pitchFamily="34" charset="-120"/>
              </a:rPr>
              <a:t> ($1.1M in savings), D&amp;H ($1.5M in savings)</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New industries: auto collision (</a:t>
            </a:r>
            <a:r>
              <a:rPr lang="en-US" sz="1000" dirty="0" err="1">
                <a:solidFill>
                  <a:srgbClr val="666666"/>
                </a:solidFill>
                <a:latin typeface="Avenir" pitchFamily="34" charset="0"/>
                <a:ea typeface="Avenir" pitchFamily="34" charset="-122"/>
                <a:cs typeface="Avenir" pitchFamily="34" charset="-120"/>
              </a:rPr>
              <a:t>OpenRoad</a:t>
            </a:r>
            <a:r>
              <a:rPr lang="en-US" sz="1000" dirty="0">
                <a:solidFill>
                  <a:srgbClr val="666666"/>
                </a:solidFill>
                <a:latin typeface="Avenir" pitchFamily="34" charset="0"/>
                <a:ea typeface="Avenir" pitchFamily="34" charset="-122"/>
                <a:cs typeface="Avenir" pitchFamily="34" charset="-120"/>
              </a:rPr>
              <a:t>), warehousing automation (Hy-Tek), pet food (</a:t>
            </a:r>
            <a:r>
              <a:rPr lang="en-US" sz="1000" dirty="0" err="1">
                <a:solidFill>
                  <a:srgbClr val="666666"/>
                </a:solidFill>
                <a:latin typeface="Avenir" pitchFamily="34" charset="0"/>
                <a:ea typeface="Avenir" pitchFamily="34" charset="-122"/>
                <a:cs typeface="Avenir" pitchFamily="34" charset="-120"/>
              </a:rPr>
              <a:t>NaturPak</a:t>
            </a:r>
            <a:r>
              <a:rPr lang="en-US" sz="1000" dirty="0">
                <a:solidFill>
                  <a:srgbClr val="666666"/>
                </a:solidFill>
                <a:latin typeface="Avenir" pitchFamily="34" charset="0"/>
                <a:ea typeface="Avenir" pitchFamily="34" charset="-122"/>
                <a:cs typeface="Avenir" pitchFamily="34" charset="-120"/>
              </a:rPr>
              <a:t>), </a:t>
            </a:r>
            <a:r>
              <a:rPr lang="en-US" sz="1000" dirty="0" err="1">
                <a:solidFill>
                  <a:srgbClr val="666666"/>
                </a:solidFill>
                <a:latin typeface="Avenir" pitchFamily="34" charset="0"/>
                <a:ea typeface="Avenir" pitchFamily="34" charset="-122"/>
                <a:cs typeface="Avenir" pitchFamily="34" charset="-120"/>
              </a:rPr>
              <a:t>nutritionals</a:t>
            </a:r>
            <a:r>
              <a:rPr lang="en-US" sz="1000" dirty="0">
                <a:solidFill>
                  <a:srgbClr val="666666"/>
                </a:solidFill>
                <a:latin typeface="Avenir" pitchFamily="34" charset="0"/>
                <a:ea typeface="Avenir" pitchFamily="34" charset="-122"/>
                <a:cs typeface="Avenir" pitchFamily="34" charset="-120"/>
              </a:rPr>
              <a:t> (K-1/Everest)</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COGS scope expansion successful and increasing across projects</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Strong client satisfaction – NPS results positive; enthusiastic participation in video customer testimonials</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Successful team development: 4 promotions; 8 new hires (3 departures) (Jan. ‘25 – ‘Feb. 26); Delivery Team-wide training held in October,  Delivery Manager team-building offsites held Jan. &amp; Sept. 2025 </a:t>
            </a:r>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rPr>
              <a:t>Colab91 (offshore India delivery) relationship; 3 resources (2 delivery, 1 AP support) starting between Feb. – May 2026</a:t>
            </a:r>
            <a:endParaRPr lang="en-US" sz="1000" dirty="0"/>
          </a:p>
        </p:txBody>
      </p:sp>
      <p:sp>
        <p:nvSpPr>
          <p:cNvPr id="9" name="Text 6"/>
          <p:cNvSpPr/>
          <p:nvPr/>
        </p:nvSpPr>
        <p:spPr>
          <a:xfrm>
            <a:off x="4617721" y="950119"/>
            <a:ext cx="3657600" cy="182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Only 13% of projects closed out on-time (in a 6 month time frame) - on-time delivery remains a challenge</a:t>
            </a:r>
            <a:endParaRPr lang="en-US" sz="1000" dirty="0">
              <a:solidFill>
                <a:srgbClr val="666666"/>
              </a:solidFill>
            </a:endParaRPr>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Revenue collection challenges on contingent/hybrid projects – baseline reductions impacted ROI achievement (while contractual language protects us when baselines fall more than 20%, this language is challenging to enforce)</a:t>
            </a:r>
            <a:endParaRPr lang="en-US" sz="1000" dirty="0">
              <a:solidFill>
                <a:srgbClr val="666666"/>
              </a:solidFill>
            </a:endParaRPr>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Managed spend offering gained minimal traction</a:t>
            </a:r>
            <a:endParaRPr lang="en-US" sz="1000" dirty="0">
              <a:solidFill>
                <a:srgbClr val="666666"/>
              </a:solidFill>
            </a:endParaRPr>
          </a:p>
        </p:txBody>
      </p:sp>
      <p:sp>
        <p:nvSpPr>
          <p:cNvPr id="10" name="Shape 7"/>
          <p:cNvSpPr/>
          <p:nvPr/>
        </p:nvSpPr>
        <p:spPr>
          <a:xfrm>
            <a:off x="728846" y="3365376"/>
            <a:ext cx="7589520" cy="0"/>
          </a:xfrm>
          <a:prstGeom prst="line">
            <a:avLst/>
          </a:prstGeom>
          <a:noFill/>
          <a:ln w="12700">
            <a:solidFill>
              <a:srgbClr val="999999"/>
            </a:solidFill>
            <a:prstDash val="solid"/>
          </a:ln>
        </p:spPr>
        <p:txBody>
          <a:bodyPr/>
          <a:lstStyle/>
          <a:p>
            <a:endParaRPr lang="en-US"/>
          </a:p>
        </p:txBody>
      </p:sp>
      <p:sp>
        <p:nvSpPr>
          <p:cNvPr id="11" name="Text 8"/>
          <p:cNvSpPr/>
          <p:nvPr/>
        </p:nvSpPr>
        <p:spPr>
          <a:xfrm>
            <a:off x="525043" y="3425467"/>
            <a:ext cx="7589520" cy="274320"/>
          </a:xfrm>
          <a:prstGeom prst="rect">
            <a:avLst/>
          </a:prstGeom>
          <a:noFill/>
          <a:ln/>
        </p:spPr>
        <p:txBody>
          <a:bodyPr wrap="square" rtlCol="0" anchor="ctr"/>
          <a:lstStyle/>
          <a:p>
            <a:pPr marL="0" indent="0">
              <a:buNone/>
            </a:pPr>
            <a:r>
              <a:rPr lang="en-US" sz="1400" b="1" dirty="0">
                <a:solidFill>
                  <a:srgbClr val="E8642C"/>
                </a:solidFill>
                <a:latin typeface="Avenir" pitchFamily="34" charset="0"/>
                <a:ea typeface="Avenir" pitchFamily="34" charset="-122"/>
                <a:cs typeface="Avenir" pitchFamily="34" charset="-120"/>
              </a:rPr>
              <a:t>2026 Focus</a:t>
            </a:r>
            <a:endParaRPr lang="en-US" sz="1400" dirty="0"/>
          </a:p>
        </p:txBody>
      </p:sp>
      <p:sp>
        <p:nvSpPr>
          <p:cNvPr id="12" name="Text 9"/>
          <p:cNvSpPr/>
          <p:nvPr/>
        </p:nvSpPr>
        <p:spPr>
          <a:xfrm>
            <a:off x="640080" y="3712249"/>
            <a:ext cx="7589520" cy="128016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Improve consistency of delivery through New Hire training (to be held 2/24-2/25 in Chicago) and roll out of Delivery Principles (“The Treya Way”), Delivery Playbook, and slide template library by start of Q2 2026</a:t>
            </a:r>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Improve on-time delivery through granular Wrike milestone tracking and more proactive client communication re: delays</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100% revenue collection: obtain baseline/savings approval as early in project as possible; escalate unpaid invoices much earlier</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Continue COGS scope expansion as a differentiator</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rPr>
              <a:t>Re-allocate CDO’s time through delegation and reprioritization to increase focus on client relationship development and business development support and decrease focus on day-to-day project management support</a:t>
            </a:r>
            <a:endParaRPr lang="en-US" sz="1000" dirty="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637CA00B-7DD0-4EFB-BD3A-2D8D8D0AEF91}" type="slidenum">
              <a:rPr lang="en-US" sz="1000" smtClean="0">
                <a:solidFill>
                  <a:srgbClr val="999999"/>
                </a:solidFill>
                <a:latin typeface="Avenir" pitchFamily="34" charset="0"/>
                <a:ea typeface="Avenir" pitchFamily="34" charset="-122"/>
                <a:cs typeface="Avenir" pitchFamily="34" charset="-120"/>
              </a:rPr>
              <a:t>4</a:t>
            </a:fld>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2025 Look Back – Marketing</a:t>
            </a:r>
            <a:endParaRPr lang="en-US" sz="2800"/>
          </a:p>
        </p:txBody>
      </p:sp>
      <p:sp>
        <p:nvSpPr>
          <p:cNvPr id="6" name="Text 3"/>
          <p:cNvSpPr/>
          <p:nvPr/>
        </p:nvSpPr>
        <p:spPr>
          <a:xfrm>
            <a:off x="64008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Wins</a:t>
            </a:r>
            <a:endParaRPr lang="en-US" sz="1400"/>
          </a:p>
        </p:txBody>
      </p:sp>
      <p:sp>
        <p:nvSpPr>
          <p:cNvPr id="7" name="Text 4"/>
          <p:cNvSpPr/>
          <p:nvPr/>
        </p:nvSpPr>
        <p:spPr>
          <a:xfrm>
            <a:off x="457200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Misses</a:t>
            </a:r>
            <a:endParaRPr lang="en-US" sz="1400"/>
          </a:p>
        </p:txBody>
      </p:sp>
      <p:sp>
        <p:nvSpPr>
          <p:cNvPr id="8" name="Text 5"/>
          <p:cNvSpPr/>
          <p:nvPr/>
        </p:nvSpPr>
        <p:spPr>
          <a:xfrm>
            <a:off x="640080" y="1207008"/>
            <a:ext cx="3657600" cy="1828800"/>
          </a:xfrm>
          <a:prstGeom prst="rect">
            <a:avLst/>
          </a:prstGeom>
          <a:noFill/>
          <a:ln/>
        </p:spPr>
        <p:txBody>
          <a:bodyPr wrap="square" lIns="0" tIns="0" rIns="0" bIns="0" rtlCol="0" anchor="t"/>
          <a:lstStyle/>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Marketing plan established for 2026</a:t>
            </a:r>
            <a:endParaRPr lang="en-US" sz="1100"/>
          </a:p>
          <a:p>
            <a:pPr marL="342900" indent="-342900">
              <a:spcAft>
                <a:spcPts val="500"/>
              </a:spcAft>
              <a:buClr>
                <a:srgbClr val="E8642C"/>
              </a:buClr>
              <a:buSzPct val="60000"/>
              <a:buChar char="■"/>
            </a:pPr>
            <a:r>
              <a:rPr lang="en-US" sz="1100">
                <a:solidFill>
                  <a:srgbClr val="666666"/>
                </a:solidFill>
                <a:latin typeface="Avenir" pitchFamily="34" charset="0"/>
              </a:rPr>
              <a:t>Customer video testimonials (3/5 complete; 2 scheduled)</a:t>
            </a:r>
          </a:p>
          <a:p>
            <a:pPr marL="342900" indent="-342900">
              <a:spcAft>
                <a:spcPts val="500"/>
              </a:spcAft>
              <a:buClr>
                <a:srgbClr val="E8642C"/>
              </a:buClr>
              <a:buSzPct val="60000"/>
              <a:buChar char="■"/>
            </a:pPr>
            <a:r>
              <a:rPr lang="en-US" sz="1100">
                <a:solidFill>
                  <a:srgbClr val="666666"/>
                </a:solidFill>
                <a:latin typeface="Avenir" pitchFamily="34" charset="0"/>
              </a:rPr>
              <a:t>3/31 – 4/1 ”Treya PE Summit” </a:t>
            </a:r>
          </a:p>
          <a:p>
            <a:pPr marL="342900" indent="-342900">
              <a:spcAft>
                <a:spcPts val="500"/>
              </a:spcAft>
              <a:buClr>
                <a:srgbClr val="E8642C"/>
              </a:buClr>
              <a:buSzPct val="60000"/>
              <a:buChar char="■"/>
            </a:pPr>
            <a:r>
              <a:rPr lang="en-US" sz="1100">
                <a:solidFill>
                  <a:srgbClr val="666666"/>
                </a:solidFill>
                <a:latin typeface="Avenir" pitchFamily="34" charset="0"/>
              </a:rPr>
              <a:t>Initiated initial demand gen campaigns</a:t>
            </a:r>
          </a:p>
          <a:p>
            <a:pPr marL="342900" indent="-342900">
              <a:spcAft>
                <a:spcPts val="500"/>
              </a:spcAft>
              <a:buClr>
                <a:srgbClr val="E8642C"/>
              </a:buClr>
              <a:buSzPct val="60000"/>
              <a:buChar char="■"/>
            </a:pPr>
            <a:r>
              <a:rPr lang="en-US" sz="1100">
                <a:solidFill>
                  <a:srgbClr val="666666"/>
                </a:solidFill>
                <a:latin typeface="Avenir" pitchFamily="34" charset="0"/>
              </a:rPr>
              <a:t>LLM/AI based content generation - POC</a:t>
            </a:r>
            <a:endParaRPr lang="en-US" sz="1100"/>
          </a:p>
        </p:txBody>
      </p:sp>
      <p:sp>
        <p:nvSpPr>
          <p:cNvPr id="9" name="Text 6"/>
          <p:cNvSpPr/>
          <p:nvPr/>
        </p:nvSpPr>
        <p:spPr>
          <a:xfrm>
            <a:off x="4572000" y="1207008"/>
            <a:ext cx="3657600" cy="1828800"/>
          </a:xfrm>
          <a:prstGeom prst="rect">
            <a:avLst/>
          </a:prstGeom>
          <a:noFill/>
          <a:ln/>
        </p:spPr>
        <p:txBody>
          <a:bodyPr wrap="square" lIns="0" tIns="0" rIns="0" bIns="0" rtlCol="0" anchor="t"/>
          <a:lstStyle/>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Very sluggish initial progress with marketing plan and activities and an appropriate marketing cadence</a:t>
            </a:r>
          </a:p>
          <a:p>
            <a:pPr marL="342900" indent="-342900">
              <a:spcAft>
                <a:spcPts val="500"/>
              </a:spcAft>
              <a:buClr>
                <a:srgbClr val="E8642C"/>
              </a:buClr>
              <a:buSzPct val="60000"/>
              <a:buChar char="■"/>
            </a:pPr>
            <a:r>
              <a:rPr lang="en-US" sz="1100">
                <a:solidFill>
                  <a:srgbClr val="666666"/>
                </a:solidFill>
                <a:latin typeface="Avenir" pitchFamily="34" charset="0"/>
              </a:rPr>
              <a:t>Have not yet reached a 100% rhythm</a:t>
            </a:r>
            <a:endParaRPr lang="en-US" sz="1100"/>
          </a:p>
        </p:txBody>
      </p:sp>
      <p:sp>
        <p:nvSpPr>
          <p:cNvPr id="10" name="Shape 7"/>
          <p:cNvSpPr/>
          <p:nvPr/>
        </p:nvSpPr>
        <p:spPr>
          <a:xfrm>
            <a:off x="640080" y="3172968"/>
            <a:ext cx="7589520" cy="0"/>
          </a:xfrm>
          <a:prstGeom prst="line">
            <a:avLst/>
          </a:prstGeom>
          <a:noFill/>
          <a:ln w="12700">
            <a:solidFill>
              <a:srgbClr val="999999"/>
            </a:solidFill>
            <a:prstDash val="solid"/>
          </a:ln>
        </p:spPr>
        <p:txBody>
          <a:bodyPr/>
          <a:lstStyle/>
          <a:p>
            <a:endParaRPr lang="en-US"/>
          </a:p>
        </p:txBody>
      </p:sp>
      <p:sp>
        <p:nvSpPr>
          <p:cNvPr id="11" name="Text 8"/>
          <p:cNvSpPr/>
          <p:nvPr/>
        </p:nvSpPr>
        <p:spPr>
          <a:xfrm>
            <a:off x="640080" y="3282696"/>
            <a:ext cx="758952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2026 Focus</a:t>
            </a:r>
            <a:endParaRPr lang="en-US" sz="1400"/>
          </a:p>
        </p:txBody>
      </p:sp>
      <p:sp>
        <p:nvSpPr>
          <p:cNvPr id="12" name="Text 9"/>
          <p:cNvSpPr/>
          <p:nvPr/>
        </p:nvSpPr>
        <p:spPr>
          <a:xfrm>
            <a:off x="640080" y="3557016"/>
            <a:ext cx="7589520" cy="1280160"/>
          </a:xfrm>
          <a:prstGeom prst="rect">
            <a:avLst/>
          </a:prstGeom>
          <a:noFill/>
          <a:ln/>
        </p:spPr>
        <p:txBody>
          <a:bodyPr wrap="square" lIns="0" tIns="0" rIns="0" bIns="0" rtlCol="0" anchor="t"/>
          <a:lstStyle/>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Support for KSA expansion; Improved demand gen (PVP, Parcel, Consulting); Sales Enablement</a:t>
            </a:r>
          </a:p>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More details on slides 19-20</a:t>
            </a:r>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DFB9AACC-7922-4F03-81A3-ED3BF1C28FB6}" type="slidenum">
              <a:rPr lang="en-US" sz="1000" smtClean="0">
                <a:solidFill>
                  <a:srgbClr val="999999"/>
                </a:solidFill>
                <a:latin typeface="Avenir" pitchFamily="34" charset="0"/>
                <a:ea typeface="Avenir" pitchFamily="34" charset="-122"/>
                <a:cs typeface="Avenir" pitchFamily="34" charset="-120"/>
              </a:rPr>
              <a:t>5</a:t>
            </a:fld>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2025 Look Back – PVP</a:t>
            </a:r>
            <a:endParaRPr lang="en-US" sz="2800"/>
          </a:p>
        </p:txBody>
      </p:sp>
      <p:sp>
        <p:nvSpPr>
          <p:cNvPr id="6" name="Text 3"/>
          <p:cNvSpPr/>
          <p:nvPr/>
        </p:nvSpPr>
        <p:spPr>
          <a:xfrm>
            <a:off x="64008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Wins</a:t>
            </a:r>
            <a:endParaRPr lang="en-US" sz="1400"/>
          </a:p>
        </p:txBody>
      </p:sp>
      <p:sp>
        <p:nvSpPr>
          <p:cNvPr id="7" name="Text 4"/>
          <p:cNvSpPr/>
          <p:nvPr/>
        </p:nvSpPr>
        <p:spPr>
          <a:xfrm>
            <a:off x="457200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Misses</a:t>
            </a:r>
            <a:endParaRPr lang="en-US" sz="1400"/>
          </a:p>
        </p:txBody>
      </p:sp>
      <p:sp>
        <p:nvSpPr>
          <p:cNvPr id="8" name="Text 5"/>
          <p:cNvSpPr/>
          <p:nvPr/>
        </p:nvSpPr>
        <p:spPr>
          <a:xfrm>
            <a:off x="569896" y="1196982"/>
            <a:ext cx="3858126" cy="1858878"/>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a:ea typeface="Avenir"/>
                <a:cs typeface="Avenir" pitchFamily="34" charset="-120"/>
              </a:rPr>
              <a:t>PVP concept validated: multiple vendor partners actively engaged in consulting projects</a:t>
            </a:r>
            <a:endParaRPr lang="en-US" sz="1000">
              <a:latin typeface="Avenir"/>
              <a:ea typeface="Avenir"/>
            </a:endParaRPr>
          </a:p>
          <a:p>
            <a:pPr marL="342900" indent="-342900">
              <a:spcAft>
                <a:spcPts val="400"/>
              </a:spcAft>
              <a:buClr>
                <a:srgbClr val="E8642C"/>
              </a:buClr>
              <a:buSzPct val="60000"/>
              <a:buChar char="■"/>
            </a:pPr>
            <a:r>
              <a:rPr lang="en-US" sz="1000">
                <a:solidFill>
                  <a:srgbClr val="666666"/>
                </a:solidFill>
                <a:latin typeface="Avenir"/>
                <a:ea typeface="Avenir"/>
                <a:cs typeface="Avenir" pitchFamily="34" charset="-120"/>
              </a:rPr>
              <a:t>Great buy-in from Delivery team driving widescale adoption in consulting channel</a:t>
            </a:r>
          </a:p>
          <a:p>
            <a:pPr marL="342900" indent="-342900">
              <a:spcAft>
                <a:spcPts val="400"/>
              </a:spcAft>
              <a:buClr>
                <a:srgbClr val="E8642C"/>
              </a:buClr>
              <a:buSzPct val="60000"/>
              <a:buChar char="■"/>
            </a:pPr>
            <a:r>
              <a:rPr lang="en-US" sz="1000">
                <a:solidFill>
                  <a:srgbClr val="666666"/>
                </a:solidFill>
                <a:latin typeface="Avenir"/>
                <a:ea typeface="Avenir"/>
                <a:cs typeface="Avenir" pitchFamily="34" charset="-120"/>
              </a:rPr>
              <a:t>Key hire of VP level sales position dedicated to PVP onboarded and producing</a:t>
            </a:r>
          </a:p>
          <a:p>
            <a:pPr marL="342900" indent="-342900">
              <a:spcAft>
                <a:spcPts val="400"/>
              </a:spcAft>
              <a:buClr>
                <a:srgbClr val="E8642C"/>
              </a:buClr>
              <a:buSzPct val="60000"/>
              <a:buChar char="■"/>
            </a:pPr>
            <a:r>
              <a:rPr lang="en-US" sz="1000">
                <a:solidFill>
                  <a:srgbClr val="666666"/>
                </a:solidFill>
                <a:latin typeface="Avenir"/>
                <a:ea typeface="Avenir"/>
                <a:cs typeface="Avenir" pitchFamily="34" charset="-120"/>
              </a:rPr>
              <a:t>More than $35M spend converted to date, with $40k revenue recognized in December</a:t>
            </a:r>
            <a:endParaRPr lang="en-US" sz="1000">
              <a:latin typeface="Avenir"/>
            </a:endParaRPr>
          </a:p>
        </p:txBody>
      </p:sp>
      <p:sp>
        <p:nvSpPr>
          <p:cNvPr id="9" name="Text 6"/>
          <p:cNvSpPr/>
          <p:nvPr/>
        </p:nvSpPr>
        <p:spPr>
          <a:xfrm>
            <a:off x="4572000" y="1207008"/>
            <a:ext cx="3657600" cy="182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a:ea typeface="Avenir"/>
                <a:cs typeface="Avenir" pitchFamily="34" charset="-120"/>
              </a:rPr>
              <a:t>PVP revenue still modest relative to long-term potential</a:t>
            </a:r>
            <a:endParaRPr lang="en-US" sz="1000">
              <a:latin typeface="Avenir"/>
              <a:ea typeface="Avenir"/>
            </a:endParaRPr>
          </a:p>
          <a:p>
            <a:pPr marL="342900" indent="-342900">
              <a:spcAft>
                <a:spcPts val="400"/>
              </a:spcAft>
              <a:buClr>
                <a:srgbClr val="E8642C"/>
              </a:buClr>
              <a:buSzPct val="60000"/>
              <a:buFont typeface="Arial"/>
              <a:buChar char="■"/>
            </a:pPr>
            <a:r>
              <a:rPr lang="en-US" sz="1000">
                <a:solidFill>
                  <a:srgbClr val="666666"/>
                </a:solidFill>
                <a:ea typeface="+mn-lt"/>
                <a:cs typeface="+mn-lt"/>
              </a:rPr>
              <a:t>Pipeline and conversion tracking still to be formalized in Salesforce and beyond </a:t>
            </a:r>
            <a:endParaRPr lang="en-US" sz="1000">
              <a:solidFill>
                <a:srgbClr val="000000"/>
              </a:solidFill>
              <a:latin typeface="Avenir"/>
              <a:ea typeface="Avenir"/>
              <a:cs typeface="+mn-lt"/>
            </a:endParaRPr>
          </a:p>
          <a:p>
            <a:pPr marL="342900" indent="-342900">
              <a:spcAft>
                <a:spcPts val="400"/>
              </a:spcAft>
              <a:buClr>
                <a:srgbClr val="E8642C"/>
              </a:buClr>
              <a:buSzPct val="60000"/>
              <a:buFont typeface="Arial"/>
              <a:buChar char="■"/>
            </a:pPr>
            <a:r>
              <a:rPr lang="en-US" sz="1000">
                <a:solidFill>
                  <a:srgbClr val="666666"/>
                </a:solidFill>
                <a:latin typeface="Avenir"/>
              </a:rPr>
              <a:t>Slower conversion than expected:  time from "conversion" to first dollar shipped can drag out</a:t>
            </a:r>
          </a:p>
          <a:p>
            <a:pPr marL="342900" indent="-342900">
              <a:spcAft>
                <a:spcPts val="400"/>
              </a:spcAft>
              <a:buClr>
                <a:srgbClr val="E8642C"/>
              </a:buClr>
              <a:buSzPct val="60000"/>
              <a:buFont typeface="Arial"/>
              <a:buChar char="■"/>
            </a:pPr>
            <a:r>
              <a:rPr lang="en-US" sz="1000">
                <a:solidFill>
                  <a:srgbClr val="666666"/>
                </a:solidFill>
              </a:rPr>
              <a:t>No real outbound marketing plan in place</a:t>
            </a:r>
            <a:endParaRPr lang="en-US"/>
          </a:p>
          <a:p>
            <a:pPr marL="342900" indent="-342900">
              <a:spcAft>
                <a:spcPts val="400"/>
              </a:spcAft>
              <a:buClr>
                <a:srgbClr val="E8642C"/>
              </a:buClr>
              <a:buSzPct val="60000"/>
              <a:buFont typeface="Arial"/>
              <a:buChar char="■"/>
            </a:pPr>
            <a:r>
              <a:rPr lang="en-US" sz="1000">
                <a:solidFill>
                  <a:srgbClr val="666666"/>
                </a:solidFill>
              </a:rPr>
              <a:t>Adoption by PEs at the portfolio level has been limited to date</a:t>
            </a:r>
          </a:p>
          <a:p>
            <a:pPr marL="342900" indent="-342900">
              <a:spcAft>
                <a:spcPts val="400"/>
              </a:spcAft>
              <a:buClr>
                <a:srgbClr val="E8642C"/>
              </a:buClr>
              <a:buSzPct val="60000"/>
              <a:buChar char="■"/>
            </a:pPr>
            <a:endParaRPr lang="en-US" sz="1000">
              <a:solidFill>
                <a:srgbClr val="666666"/>
              </a:solidFill>
            </a:endParaRPr>
          </a:p>
          <a:p>
            <a:pPr marL="342900" indent="-342900">
              <a:spcAft>
                <a:spcPts val="400"/>
              </a:spcAft>
              <a:buClr>
                <a:srgbClr val="E8642C"/>
              </a:buClr>
              <a:buSzPct val="60000"/>
              <a:buChar char="■"/>
            </a:pPr>
            <a:endParaRPr lang="en-US" sz="1000">
              <a:solidFill>
                <a:srgbClr val="666666"/>
              </a:solidFill>
            </a:endParaRPr>
          </a:p>
          <a:p>
            <a:pPr marL="342900" indent="-342900">
              <a:spcAft>
                <a:spcPts val="400"/>
              </a:spcAft>
              <a:buClr>
                <a:srgbClr val="E8642C"/>
              </a:buClr>
              <a:buSzPct val="60000"/>
              <a:buChar char="■"/>
            </a:pPr>
            <a:endParaRPr lang="en-US" sz="1000">
              <a:solidFill>
                <a:srgbClr val="666666"/>
              </a:solidFill>
            </a:endParaRPr>
          </a:p>
        </p:txBody>
      </p:sp>
      <p:sp>
        <p:nvSpPr>
          <p:cNvPr id="10" name="Shape 7"/>
          <p:cNvSpPr/>
          <p:nvPr/>
        </p:nvSpPr>
        <p:spPr>
          <a:xfrm>
            <a:off x="640080" y="3146010"/>
            <a:ext cx="7589520" cy="0"/>
          </a:xfrm>
          <a:prstGeom prst="line">
            <a:avLst/>
          </a:prstGeom>
          <a:noFill/>
          <a:ln w="12700">
            <a:solidFill>
              <a:srgbClr val="999999"/>
            </a:solidFill>
            <a:prstDash val="solid"/>
          </a:ln>
        </p:spPr>
        <p:txBody>
          <a:bodyPr/>
          <a:lstStyle/>
          <a:p>
            <a:endParaRPr lang="en-US"/>
          </a:p>
        </p:txBody>
      </p:sp>
      <p:sp>
        <p:nvSpPr>
          <p:cNvPr id="11" name="Text 8"/>
          <p:cNvSpPr/>
          <p:nvPr/>
        </p:nvSpPr>
        <p:spPr>
          <a:xfrm>
            <a:off x="640080" y="3311398"/>
            <a:ext cx="758952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2026 Focus</a:t>
            </a:r>
            <a:endParaRPr lang="en-US" sz="1400"/>
          </a:p>
        </p:txBody>
      </p:sp>
      <p:sp>
        <p:nvSpPr>
          <p:cNvPr id="12" name="Text 9"/>
          <p:cNvSpPr/>
          <p:nvPr/>
        </p:nvSpPr>
        <p:spPr>
          <a:xfrm>
            <a:off x="640080" y="3657279"/>
            <a:ext cx="7589520" cy="128016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100% PVP vendor engagement in eligible consulting project categories</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Scale PVP revenue through increased portfolio company adoption and marketing-driven demand gen</a:t>
            </a:r>
            <a:endParaRPr lang="en-US" sz="1000"/>
          </a:p>
          <a:p>
            <a:pPr marL="342900" indent="-342900">
              <a:spcAft>
                <a:spcPts val="400"/>
              </a:spcAft>
              <a:buClr>
                <a:srgbClr val="E8642C"/>
              </a:buClr>
              <a:buSzPct val="60000"/>
              <a:buChar char="■"/>
            </a:pPr>
            <a:r>
              <a:rPr lang="en-US" sz="1000">
                <a:solidFill>
                  <a:srgbClr val="666666"/>
                </a:solidFill>
                <a:latin typeface="Avenir"/>
                <a:ea typeface="Avenir"/>
                <a:cs typeface="Avenir" pitchFamily="34" charset="-120"/>
              </a:rPr>
              <a:t>Add new PVP vendor categories to expand addressable market; specifically, nail down playbook in Telecom</a:t>
            </a:r>
            <a:endParaRPr lang="en-US" sz="1000">
              <a:solidFill>
                <a:srgbClr val="666666"/>
              </a:solidFill>
              <a:latin typeface="Avenir"/>
            </a:endParaRPr>
          </a:p>
          <a:p>
            <a:pPr marL="342900" indent="-342900">
              <a:spcAft>
                <a:spcPts val="400"/>
              </a:spcAft>
              <a:buClr>
                <a:srgbClr val="E8642C"/>
              </a:buClr>
              <a:buSzPct val="60000"/>
              <a:buChar char="■"/>
            </a:pPr>
            <a:r>
              <a:rPr lang="en-US" sz="1000">
                <a:solidFill>
                  <a:srgbClr val="666666"/>
                </a:solidFill>
              </a:rPr>
              <a:t>Establish 2-3 meaningful channel relationships with other service providers (e.g., Harbor, OOCFO Firms, IBs, etc.)</a:t>
            </a:r>
          </a:p>
          <a:p>
            <a:pPr marL="342900" indent="-342900">
              <a:spcAft>
                <a:spcPts val="400"/>
              </a:spcAft>
              <a:buClr>
                <a:srgbClr val="E8642C"/>
              </a:buClr>
              <a:buSzPct val="60000"/>
              <a:buChar char="■"/>
            </a:pPr>
            <a:endParaRPr lang="en-US" sz="1000">
              <a:solidFill>
                <a:srgbClr val="666666"/>
              </a:solidFill>
            </a:endParaRPr>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1B5531E0-B315-49E9-BC21-1A2813180E8B}" type="slidenum">
              <a:rPr lang="en-US" sz="1000" smtClean="0">
                <a:solidFill>
                  <a:srgbClr val="999999"/>
                </a:solidFill>
                <a:latin typeface="Avenir" pitchFamily="34" charset="0"/>
                <a:ea typeface="Avenir" pitchFamily="34" charset="-122"/>
                <a:cs typeface="Avenir" pitchFamily="34" charset="-120"/>
              </a:rPr>
              <a:t>6</a:t>
            </a:fld>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2025 Look Back – Org. Health</a:t>
            </a:r>
            <a:endParaRPr lang="en-US" sz="2800"/>
          </a:p>
        </p:txBody>
      </p:sp>
      <p:sp>
        <p:nvSpPr>
          <p:cNvPr id="6" name="Text 3"/>
          <p:cNvSpPr/>
          <p:nvPr/>
        </p:nvSpPr>
        <p:spPr>
          <a:xfrm>
            <a:off x="64008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Wins</a:t>
            </a:r>
            <a:endParaRPr lang="en-US" sz="1400"/>
          </a:p>
        </p:txBody>
      </p:sp>
      <p:sp>
        <p:nvSpPr>
          <p:cNvPr id="7" name="Text 4"/>
          <p:cNvSpPr/>
          <p:nvPr/>
        </p:nvSpPr>
        <p:spPr>
          <a:xfrm>
            <a:off x="457200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Misses</a:t>
            </a:r>
            <a:endParaRPr lang="en-US" sz="1400"/>
          </a:p>
        </p:txBody>
      </p:sp>
      <p:sp>
        <p:nvSpPr>
          <p:cNvPr id="8" name="Text 5"/>
          <p:cNvSpPr/>
          <p:nvPr/>
        </p:nvSpPr>
        <p:spPr>
          <a:xfrm>
            <a:off x="640080" y="1207008"/>
            <a:ext cx="3657600" cy="182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Implemented equity comp structure for managers – aligns incentives and improves retention</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Significant delivery team build-out: added multiple new consultants and analysts</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Stronger leadership alignment</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New sales leadership in place and performing well – stronger execution and accountability</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Adopted EOS (Entrepreneurial Operating System) for leadership alignment, accountability, and traction on strategic initiatives</a:t>
            </a:r>
            <a:endParaRPr lang="en-US" sz="1000"/>
          </a:p>
        </p:txBody>
      </p:sp>
      <p:sp>
        <p:nvSpPr>
          <p:cNvPr id="9" name="Text 6"/>
          <p:cNvSpPr/>
          <p:nvPr/>
        </p:nvSpPr>
        <p:spPr>
          <a:xfrm>
            <a:off x="4572000" y="1207008"/>
            <a:ext cx="3657600" cy="182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CRO transition mid-year created short-term disruption</a:t>
            </a:r>
            <a:endParaRPr lang="en-US" sz="1000"/>
          </a:p>
        </p:txBody>
      </p:sp>
      <p:sp>
        <p:nvSpPr>
          <p:cNvPr id="10" name="Shape 7"/>
          <p:cNvSpPr/>
          <p:nvPr/>
        </p:nvSpPr>
        <p:spPr>
          <a:xfrm>
            <a:off x="640080" y="3172968"/>
            <a:ext cx="7589520" cy="0"/>
          </a:xfrm>
          <a:prstGeom prst="line">
            <a:avLst/>
          </a:prstGeom>
          <a:noFill/>
          <a:ln w="12700">
            <a:solidFill>
              <a:srgbClr val="999999"/>
            </a:solidFill>
            <a:prstDash val="solid"/>
          </a:ln>
        </p:spPr>
        <p:txBody>
          <a:bodyPr/>
          <a:lstStyle/>
          <a:p>
            <a:endParaRPr lang="en-US"/>
          </a:p>
        </p:txBody>
      </p:sp>
      <p:sp>
        <p:nvSpPr>
          <p:cNvPr id="11" name="Text 8"/>
          <p:cNvSpPr/>
          <p:nvPr/>
        </p:nvSpPr>
        <p:spPr>
          <a:xfrm>
            <a:off x="640080" y="3282696"/>
            <a:ext cx="758952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2026 Focus</a:t>
            </a:r>
            <a:endParaRPr lang="en-US" sz="1400"/>
          </a:p>
        </p:txBody>
      </p:sp>
      <p:sp>
        <p:nvSpPr>
          <p:cNvPr id="12" name="Text 9"/>
          <p:cNvSpPr/>
          <p:nvPr/>
        </p:nvSpPr>
        <p:spPr>
          <a:xfrm>
            <a:off x="640080" y="3557016"/>
            <a:ext cx="7589520" cy="128016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Embed EOS operating rhythm: Level 10 meetings, quarterly rocks, scorecard tracking across all departments</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Continue building bench strength in delivery – right-size team for projected 2026 revenue growth</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Formalize talent development and succession planning for key roles</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Maintain and build on improved leadership and managers group alignment – quarterly strategic offsites</a:t>
            </a:r>
            <a:endParaRPr lang="en-US" sz="100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38A511D9-6F31-44E1-9D9E-BADFD535F10B}" type="slidenum">
              <a:rPr lang="en-US" sz="1000" smtClean="0">
                <a:solidFill>
                  <a:srgbClr val="999999"/>
                </a:solidFill>
                <a:latin typeface="Avenir" pitchFamily="34" charset="0"/>
                <a:ea typeface="Avenir" pitchFamily="34" charset="-122"/>
                <a:cs typeface="Avenir" pitchFamily="34" charset="-120"/>
              </a:rPr>
              <a:t>7</a:t>
            </a:fld>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2025 Look Back – M&amp;A</a:t>
            </a:r>
            <a:endParaRPr lang="en-US" sz="2800"/>
          </a:p>
        </p:txBody>
      </p:sp>
      <p:sp>
        <p:nvSpPr>
          <p:cNvPr id="6" name="Text 3"/>
          <p:cNvSpPr/>
          <p:nvPr/>
        </p:nvSpPr>
        <p:spPr>
          <a:xfrm>
            <a:off x="64008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Wins</a:t>
            </a:r>
            <a:endParaRPr lang="en-US" sz="1400"/>
          </a:p>
        </p:txBody>
      </p:sp>
      <p:sp>
        <p:nvSpPr>
          <p:cNvPr id="7" name="Text 4"/>
          <p:cNvSpPr/>
          <p:nvPr/>
        </p:nvSpPr>
        <p:spPr>
          <a:xfrm>
            <a:off x="457200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Misses</a:t>
            </a:r>
            <a:endParaRPr lang="en-US" sz="1400"/>
          </a:p>
        </p:txBody>
      </p:sp>
      <p:sp>
        <p:nvSpPr>
          <p:cNvPr id="8" name="Text 5"/>
          <p:cNvSpPr/>
          <p:nvPr/>
        </p:nvSpPr>
        <p:spPr>
          <a:xfrm>
            <a:off x="640080" y="1207008"/>
            <a:ext cx="3657600" cy="197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Developed initial M&amp;A thesis and prioritization framework with market map across fit dimensions</a:t>
            </a:r>
          </a:p>
          <a:p>
            <a:pPr marL="342900" indent="-342900">
              <a:spcAft>
                <a:spcPts val="400"/>
              </a:spcAft>
              <a:buClr>
                <a:srgbClr val="E8642C"/>
              </a:buClr>
              <a:buSzPct val="60000"/>
              <a:buChar char="■"/>
            </a:pPr>
            <a:r>
              <a:rPr lang="en-US" sz="1000">
                <a:solidFill>
                  <a:srgbClr val="666666"/>
                </a:solidFill>
                <a:latin typeface="Avenir" pitchFamily="34" charset="0"/>
              </a:rPr>
              <a:t>Evaluated multiple opportunities (mostly inbound from bank processes), notable include: Moresby Group, Holden, </a:t>
            </a:r>
            <a:r>
              <a:rPr lang="en-US" sz="1000" err="1">
                <a:solidFill>
                  <a:srgbClr val="666666"/>
                </a:solidFill>
                <a:latin typeface="Avenir" pitchFamily="34" charset="0"/>
              </a:rPr>
              <a:t>Acustraetgy</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Refined acquisition strategy: </a:t>
            </a:r>
            <a:r>
              <a:rPr lang="en-US" sz="1000" err="1">
                <a:solidFill>
                  <a:srgbClr val="666666"/>
                </a:solidFill>
                <a:latin typeface="Avenir" pitchFamily="34" charset="0"/>
                <a:ea typeface="Avenir" pitchFamily="34" charset="-122"/>
                <a:cs typeface="Avenir" pitchFamily="34" charset="-120"/>
              </a:rPr>
              <a:t>acqui</a:t>
            </a:r>
            <a:r>
              <a:rPr lang="en-US" sz="1000">
                <a:solidFill>
                  <a:srgbClr val="666666"/>
                </a:solidFill>
                <a:latin typeface="Avenir" pitchFamily="34" charset="0"/>
                <a:ea typeface="Avenir" pitchFamily="34" charset="-122"/>
                <a:cs typeface="Avenir" pitchFamily="34" charset="-120"/>
              </a:rPr>
              <a:t>-hire identified as lower-risk, higher-probability path for building pricing capability</a:t>
            </a:r>
            <a:endParaRPr lang="en-US" sz="1000"/>
          </a:p>
        </p:txBody>
      </p:sp>
      <p:sp>
        <p:nvSpPr>
          <p:cNvPr id="9" name="Text 6"/>
          <p:cNvSpPr/>
          <p:nvPr/>
        </p:nvSpPr>
        <p:spPr>
          <a:xfrm>
            <a:off x="4572000" y="1207008"/>
            <a:ext cx="3657600" cy="182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Did not close any acquisitions in 2025 </a:t>
            </a:r>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Moresby Group IOI withdrawn due to elevated valuation expectations</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Holden and </a:t>
            </a:r>
            <a:r>
              <a:rPr lang="en-US" sz="1000" err="1">
                <a:solidFill>
                  <a:srgbClr val="666666"/>
                </a:solidFill>
                <a:latin typeface="Avenir" pitchFamily="34" charset="0"/>
                <a:ea typeface="Avenir" pitchFamily="34" charset="-122"/>
                <a:cs typeface="Avenir" pitchFamily="34" charset="-120"/>
              </a:rPr>
              <a:t>Acustrategy</a:t>
            </a:r>
            <a:r>
              <a:rPr lang="en-US" sz="1000">
                <a:solidFill>
                  <a:srgbClr val="666666"/>
                </a:solidFill>
                <a:latin typeface="Avenir" pitchFamily="34" charset="0"/>
                <a:ea typeface="Avenir" pitchFamily="34" charset="-122"/>
                <a:cs typeface="Avenir" pitchFamily="34" charset="-120"/>
              </a:rPr>
              <a:t> both ruled out after deeper evaluation (fit and interest gaps respectively)</a:t>
            </a:r>
            <a:endParaRPr lang="en-US" sz="1000"/>
          </a:p>
        </p:txBody>
      </p:sp>
      <p:sp>
        <p:nvSpPr>
          <p:cNvPr id="10" name="Shape 7"/>
          <p:cNvSpPr/>
          <p:nvPr/>
        </p:nvSpPr>
        <p:spPr>
          <a:xfrm>
            <a:off x="640080" y="2814083"/>
            <a:ext cx="7589520" cy="0"/>
          </a:xfrm>
          <a:prstGeom prst="line">
            <a:avLst/>
          </a:prstGeom>
          <a:noFill/>
          <a:ln w="12700">
            <a:solidFill>
              <a:srgbClr val="999999"/>
            </a:solidFill>
            <a:prstDash val="solid"/>
          </a:ln>
        </p:spPr>
        <p:txBody>
          <a:bodyPr/>
          <a:lstStyle/>
          <a:p>
            <a:endParaRPr lang="en-US"/>
          </a:p>
        </p:txBody>
      </p:sp>
      <p:sp>
        <p:nvSpPr>
          <p:cNvPr id="11" name="Text 8"/>
          <p:cNvSpPr/>
          <p:nvPr/>
        </p:nvSpPr>
        <p:spPr>
          <a:xfrm>
            <a:off x="640080" y="2955615"/>
            <a:ext cx="758952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2026 Focus</a:t>
            </a:r>
            <a:endParaRPr lang="en-US" sz="1400"/>
          </a:p>
        </p:txBody>
      </p:sp>
      <p:sp>
        <p:nvSpPr>
          <p:cNvPr id="12" name="Text 9"/>
          <p:cNvSpPr/>
          <p:nvPr/>
        </p:nvSpPr>
        <p:spPr>
          <a:xfrm>
            <a:off x="640080" y="3253788"/>
            <a:ext cx="7589520" cy="128016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Pricing capability remains high priority – </a:t>
            </a:r>
            <a:r>
              <a:rPr lang="en-US" sz="1000" err="1">
                <a:solidFill>
                  <a:srgbClr val="666666"/>
                </a:solidFill>
                <a:latin typeface="Avenir" pitchFamily="34" charset="0"/>
                <a:ea typeface="Avenir" pitchFamily="34" charset="-122"/>
                <a:cs typeface="Avenir" pitchFamily="34" charset="-120"/>
              </a:rPr>
              <a:t>acqui</a:t>
            </a:r>
            <a:r>
              <a:rPr lang="en-US" sz="1000">
                <a:solidFill>
                  <a:srgbClr val="666666"/>
                </a:solidFill>
                <a:latin typeface="Avenir" pitchFamily="34" charset="0"/>
                <a:ea typeface="Avenir" pitchFamily="34" charset="-122"/>
                <a:cs typeface="Avenir" pitchFamily="34" charset="-120"/>
              </a:rPr>
              <a:t>-hire as preferred path, with 4 active candidates in pipeline</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Continue sourcing right-sized targets with strong complementary fit (product and market synergies) at attractive valuations</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Maintain valuation discipline</a:t>
            </a:r>
            <a:endParaRPr lang="en-US" sz="100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8E7BC7A3-36C7-4A0C-86C4-B7B8F3FA1877}" type="slidenum">
              <a:rPr lang="en-US" sz="1000" smtClean="0">
                <a:solidFill>
                  <a:srgbClr val="999999"/>
                </a:solidFill>
                <a:latin typeface="Avenir" pitchFamily="34" charset="0"/>
                <a:ea typeface="Avenir" pitchFamily="34" charset="-122"/>
                <a:cs typeface="Avenir" pitchFamily="34" charset="-120"/>
              </a:rPr>
              <a:t>8</a:t>
            </a:fld>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0A3F0C-4E05-098E-16FA-C5B6AD91037F}"/>
              </a:ext>
            </a:extLst>
          </p:cNvPr>
          <p:cNvSpPr txBox="1"/>
          <p:nvPr/>
        </p:nvSpPr>
        <p:spPr>
          <a:xfrm>
            <a:off x="541475" y="87826"/>
            <a:ext cx="3688895" cy="438581"/>
          </a:xfrm>
          <a:prstGeom prst="rect">
            <a:avLst/>
          </a:prstGeom>
          <a:noFill/>
        </p:spPr>
        <p:txBody>
          <a:bodyPr wrap="square" lIns="68580" tIns="34290" rIns="68580" bIns="3429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a:solidFill>
                  <a:srgbClr val="393941"/>
                </a:solidFill>
                <a:latin typeface="Avenir Black"/>
              </a:rPr>
              <a:t>2025 Financial Summary</a:t>
            </a:r>
            <a:endParaRPr lang="en-US" sz="2400" b="1">
              <a:solidFill>
                <a:srgbClr val="393941"/>
              </a:solidFill>
              <a:latin typeface="Avenir Black" panose="02000503020000020003" pitchFamily="2" charset="0"/>
            </a:endParaRPr>
          </a:p>
        </p:txBody>
      </p:sp>
      <p:sp>
        <p:nvSpPr>
          <p:cNvPr id="9" name="TextBox 8">
            <a:extLst>
              <a:ext uri="{FF2B5EF4-FFF2-40B4-BE49-F238E27FC236}">
                <a16:creationId xmlns:a16="http://schemas.microsoft.com/office/drawing/2014/main" id="{ACCEF8D1-C414-4E84-E937-F425570B79B1}"/>
              </a:ext>
            </a:extLst>
          </p:cNvPr>
          <p:cNvSpPr txBox="1"/>
          <p:nvPr/>
        </p:nvSpPr>
        <p:spPr>
          <a:xfrm>
            <a:off x="5891951" y="748989"/>
            <a:ext cx="2823078" cy="3587929"/>
          </a:xfrm>
          <a:prstGeom prst="rect">
            <a:avLst/>
          </a:prstGeom>
          <a:noFill/>
        </p:spPr>
        <p:txBody>
          <a:bodyPr wrap="square" lIns="68580" tIns="34290" rIns="68580" bIns="3429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3995" indent="-213995">
              <a:buClr>
                <a:srgbClr val="F66C2E"/>
              </a:buClr>
              <a:buFont typeface="Wingdings" panose="05000000000000000000" pitchFamily="2" charset="2"/>
              <a:buChar char="§"/>
            </a:pPr>
            <a:r>
              <a:rPr lang="en-US" sz="1200" b="1">
                <a:solidFill>
                  <a:srgbClr val="393941"/>
                </a:solidFill>
                <a:latin typeface="Calibri"/>
                <a:ea typeface="Calibri"/>
                <a:cs typeface="Calibri"/>
              </a:rPr>
              <a:t>Revenue:  </a:t>
            </a:r>
            <a:r>
              <a:rPr lang="en-US" sz="1200">
                <a:solidFill>
                  <a:srgbClr val="393941"/>
                </a:solidFill>
                <a:latin typeface="Calibri"/>
                <a:ea typeface="Calibri"/>
                <a:cs typeface="Calibri"/>
              </a:rPr>
              <a:t>Good growth in consulting revenue in post-audit numbers despite a large miss in bookings ($11.9M vs. $16.3M budget). UPS largely stabilized after significant declines through Q3; PVP revenue starting to offset losses ($150k run rate as of 12/31/25).</a:t>
            </a:r>
          </a:p>
          <a:p>
            <a:pPr marL="213995" indent="-213995">
              <a:buClr>
                <a:srgbClr val="F66C2E"/>
              </a:buClr>
              <a:buFont typeface="Wingdings" panose="05000000000000000000" pitchFamily="2" charset="2"/>
              <a:buChar char="§"/>
            </a:pPr>
            <a:endParaRPr lang="en-US" sz="1200">
              <a:solidFill>
                <a:srgbClr val="393941"/>
              </a:solidFill>
              <a:latin typeface="Calibri"/>
              <a:ea typeface="Calibri"/>
              <a:cs typeface="Calibri"/>
            </a:endParaRPr>
          </a:p>
          <a:p>
            <a:pPr marL="213995" indent="-213995">
              <a:buClr>
                <a:srgbClr val="F66C2E"/>
              </a:buClr>
              <a:buFont typeface="Wingdings" panose="05000000000000000000" pitchFamily="2" charset="2"/>
              <a:buChar char="§"/>
            </a:pPr>
            <a:r>
              <a:rPr lang="en-US" sz="1200" b="1">
                <a:solidFill>
                  <a:srgbClr val="393941"/>
                </a:solidFill>
                <a:latin typeface="Calibri"/>
                <a:ea typeface="Calibri"/>
                <a:cs typeface="Calibri"/>
              </a:rPr>
              <a:t>Cost of Sales &amp; Gross Profit:  </a:t>
            </a:r>
            <a:r>
              <a:rPr lang="en-US" sz="1200">
                <a:solidFill>
                  <a:srgbClr val="393941"/>
                </a:solidFill>
                <a:latin typeface="Calibri"/>
                <a:ea typeface="Calibri"/>
                <a:cs typeface="Calibri"/>
              </a:rPr>
              <a:t>Good cost control vs. Budget, with hiring largely deferred to Q4 2025 and Q1 2026.</a:t>
            </a:r>
          </a:p>
          <a:p>
            <a:pPr>
              <a:buClr>
                <a:srgbClr val="F66C2E"/>
              </a:buClr>
            </a:pPr>
            <a:endParaRPr lang="en-US" sz="1200" b="1">
              <a:solidFill>
                <a:srgbClr val="393941"/>
              </a:solidFill>
              <a:latin typeface="Calibri"/>
              <a:ea typeface="Calibri"/>
              <a:cs typeface="Calibri"/>
            </a:endParaRPr>
          </a:p>
          <a:p>
            <a:pPr marL="213995" indent="-213995">
              <a:buClr>
                <a:srgbClr val="F66C2E"/>
              </a:buClr>
              <a:buFont typeface="Wingdings" panose="05000000000000000000" pitchFamily="2" charset="2"/>
              <a:buChar char="§"/>
            </a:pPr>
            <a:r>
              <a:rPr lang="en-US" sz="1200" b="1" err="1">
                <a:solidFill>
                  <a:srgbClr val="393941"/>
                </a:solidFill>
                <a:latin typeface="Calibri"/>
                <a:ea typeface="Calibri" panose="020F0502020204030204"/>
                <a:cs typeface="Calibri" panose="020F0502020204030204"/>
              </a:rPr>
              <a:t>Opex</a:t>
            </a:r>
            <a:r>
              <a:rPr lang="en-US" sz="1200" b="1">
                <a:solidFill>
                  <a:srgbClr val="393941"/>
                </a:solidFill>
                <a:latin typeface="Calibri"/>
                <a:ea typeface="Calibri" panose="020F0502020204030204"/>
                <a:cs typeface="Calibri" panose="020F0502020204030204"/>
              </a:rPr>
              <a:t>: </a:t>
            </a:r>
            <a:r>
              <a:rPr lang="en-US" sz="1200">
                <a:solidFill>
                  <a:srgbClr val="393941"/>
                </a:solidFill>
                <a:latin typeface="Calibri"/>
                <a:ea typeface="Calibri" panose="020F0502020204030204"/>
                <a:cs typeface="Calibri" panose="020F0502020204030204"/>
              </a:rPr>
              <a:t>Costs significantly lower than plan but higher than the prior year, in line with expanded sales function and infrastructure to support planned growth. Positive variance on wages due to bonus accrual true-up. Under invested in marketing in 2025.</a:t>
            </a:r>
          </a:p>
        </p:txBody>
      </p:sp>
      <p:sp>
        <p:nvSpPr>
          <p:cNvPr id="7" name="TextBox 6">
            <a:extLst>
              <a:ext uri="{FF2B5EF4-FFF2-40B4-BE49-F238E27FC236}">
                <a16:creationId xmlns:a16="http://schemas.microsoft.com/office/drawing/2014/main" id="{67FF58C9-AAA6-E2B6-5611-EC7B8F89A3AF}"/>
              </a:ext>
            </a:extLst>
          </p:cNvPr>
          <p:cNvSpPr txBox="1"/>
          <p:nvPr/>
        </p:nvSpPr>
        <p:spPr>
          <a:xfrm>
            <a:off x="541267" y="473816"/>
            <a:ext cx="2057400" cy="225126"/>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013" i="1">
                <a:ea typeface="Calibri"/>
                <a:cs typeface="Calibri"/>
              </a:rPr>
              <a:t>($ in Thousands)</a:t>
            </a:r>
            <a:endParaRPr lang="en-US" sz="1013" i="1"/>
          </a:p>
        </p:txBody>
      </p:sp>
      <p:pic>
        <p:nvPicPr>
          <p:cNvPr id="8" name="Picture 7" descr="A screenshot of a computer screen  AI-generated content may be incorrect.">
            <a:extLst>
              <a:ext uri="{FF2B5EF4-FFF2-40B4-BE49-F238E27FC236}">
                <a16:creationId xmlns:a16="http://schemas.microsoft.com/office/drawing/2014/main" id="{558CDC0A-0BB5-A9D0-D010-9D881A154D84}"/>
              </a:ext>
            </a:extLst>
          </p:cNvPr>
          <p:cNvPicPr>
            <a:picLocks noChangeAspect="1"/>
          </p:cNvPicPr>
          <p:nvPr/>
        </p:nvPicPr>
        <p:blipFill>
          <a:blip r:embed="rId2"/>
          <a:stretch>
            <a:fillRect/>
          </a:stretch>
        </p:blipFill>
        <p:spPr>
          <a:xfrm>
            <a:off x="541709" y="701841"/>
            <a:ext cx="5223134" cy="4070686"/>
          </a:xfrm>
          <a:prstGeom prst="rect">
            <a:avLst/>
          </a:prstGeom>
        </p:spPr>
      </p:pic>
      <p:sp>
        <p:nvSpPr>
          <p:cNvPr id="12" name="Slide Number Placeholder 12"/>
          <p:cNvSpPr/>
          <p:nvPr/>
        </p:nvSpPr>
        <p:spPr>
          <a:xfrm>
            <a:off x="8503920" y="4754880"/>
            <a:ext cx="457200" cy="274320"/>
          </a:xfrm>
          <a:prstGeom prst="rect">
            <a:avLst/>
          </a:prstGeom>
          <a:noFill/>
          <a:ln/>
        </p:spPr>
        <p:txBody>
          <a:bodyPr wrap="square" rtlCol="0" anchor="ctr"/>
          <a:lstStyle/>
          <a:p>
            <a:pPr marL="0" indent="0" algn="r">
              <a:buNone/>
            </a:pPr>
            <a:fld id="{9BE534C2-ADFB-48A5-B52D-D63E821C312A}" type="slidenum">
              <a:rPr lang="en-US" sz="1000" smtClean="0">
                <a:solidFill>
                  <a:srgbClr val="999999"/>
                </a:solidFill>
                <a:latin typeface="Avenir" pitchFamily="34" charset="0"/>
                <a:ea typeface="Avenir" pitchFamily="34" charset="-122"/>
                <a:cs typeface="Avenir" pitchFamily="34" charset="-120"/>
              </a:rPr>
              <a:t>9</a:t>
            </a:fld>
            <a:endParaRPr lang="en-US" sz="1000"/>
          </a:p>
        </p:txBody>
      </p:sp>
    </p:spTree>
    <p:extLst>
      <p:ext uri="{BB962C8B-B14F-4D97-AF65-F5344CB8AC3E}">
        <p14:creationId xmlns:p14="http://schemas.microsoft.com/office/powerpoint/2010/main" val="929681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548640" y="137160"/>
            <a:ext cx="6400800" cy="731520"/>
          </a:xfrm>
          <a:prstGeom prst="rect">
            <a:avLst/>
          </a:prstGeom>
          <a:noFill/>
          <a:ln/>
        </p:spPr>
        <p:txBody>
          <a:bodyPr wrap="square" lIns="91440" tIns="45720" rIns="91440" bIns="45720" rtlCol="0" anchor="ctr"/>
          <a:lstStyle/>
          <a:p>
            <a:pPr marL="0" indent="0">
              <a:buNone/>
            </a:pPr>
            <a:r>
              <a:rPr lang="en-US" sz="2800" b="1">
                <a:solidFill>
                  <a:srgbClr val="393941"/>
                </a:solidFill>
                <a:latin typeface="Avenir"/>
                <a:ea typeface="Avenir" pitchFamily="34" charset="-122"/>
                <a:cs typeface="Avenir" pitchFamily="34" charset="-120"/>
              </a:rPr>
              <a:t>2025 Trended Backlog</a:t>
            </a:r>
            <a:endParaRPr lang="en-US" sz="2800">
              <a:latin typeface="Avenir"/>
            </a:endParaRPr>
          </a:p>
        </p:txBody>
      </p:sp>
      <p:sp>
        <p:nvSpPr>
          <p:cNvPr id="15" name="TextBox 8">
            <a:extLst>
              <a:ext uri="{FF2B5EF4-FFF2-40B4-BE49-F238E27FC236}">
                <a16:creationId xmlns:a16="http://schemas.microsoft.com/office/drawing/2014/main" id="{6F62E779-D41C-71B0-5BF2-ACAAAE758E79}"/>
              </a:ext>
            </a:extLst>
          </p:cNvPr>
          <p:cNvSpPr txBox="1"/>
          <p:nvPr/>
        </p:nvSpPr>
        <p:spPr>
          <a:xfrm rot="10800000" flipV="1">
            <a:off x="595391" y="4211203"/>
            <a:ext cx="8012536" cy="72327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spcBef>
                <a:spcPts val="300"/>
              </a:spcBef>
              <a:spcAft>
                <a:spcPts val="300"/>
              </a:spcAft>
              <a:buClr>
                <a:srgbClr val="F66C2E"/>
              </a:buClr>
              <a:buFont typeface="Wingdings" panose="05000000000000000000" pitchFamily="2" charset="2"/>
              <a:buChar char="§"/>
            </a:pPr>
            <a:r>
              <a:rPr lang="en-US" sz="1200">
                <a:solidFill>
                  <a:srgbClr val="000000"/>
                </a:solidFill>
                <a:latin typeface="Calibri"/>
                <a:ea typeface="Calibri"/>
                <a:cs typeface="Calibri"/>
              </a:rPr>
              <a:t>$3MM increase in backlog since January 31, 2025, despite more conservative approach to bookings on Hybrid/Contingent projects</a:t>
            </a:r>
          </a:p>
          <a:p>
            <a:pPr marL="285750" indent="-285750">
              <a:spcBef>
                <a:spcPts val="300"/>
              </a:spcBef>
              <a:spcAft>
                <a:spcPts val="300"/>
              </a:spcAft>
              <a:buClr>
                <a:srgbClr val="F66C2E"/>
              </a:buClr>
              <a:buFont typeface="Wingdings" panose="05000000000000000000" pitchFamily="2" charset="2"/>
              <a:buChar char="§"/>
            </a:pPr>
            <a:r>
              <a:rPr lang="en-US" sz="1200">
                <a:solidFill>
                  <a:srgbClr val="000000"/>
                </a:solidFill>
                <a:latin typeface="Calibri"/>
                <a:ea typeface="Calibri"/>
                <a:cs typeface="Calibri"/>
              </a:rPr>
              <a:t>Backlog as of December 31, 2025 represents 36% of 2026B consulting revenue</a:t>
            </a:r>
          </a:p>
        </p:txBody>
      </p:sp>
      <p:sp>
        <p:nvSpPr>
          <p:cNvPr id="16" name="TextBox 8">
            <a:extLst>
              <a:ext uri="{FF2B5EF4-FFF2-40B4-BE49-F238E27FC236}">
                <a16:creationId xmlns:a16="http://schemas.microsoft.com/office/drawing/2014/main" id="{97FD1733-8A66-7EC8-4338-9373934AB2EA}"/>
              </a:ext>
            </a:extLst>
          </p:cNvPr>
          <p:cNvSpPr txBox="1"/>
          <p:nvPr/>
        </p:nvSpPr>
        <p:spPr>
          <a:xfrm rot="10800000" flipV="1">
            <a:off x="4135006" y="363010"/>
            <a:ext cx="1282291" cy="276999"/>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300"/>
              </a:spcBef>
              <a:spcAft>
                <a:spcPts val="300"/>
              </a:spcAft>
              <a:buClr>
                <a:srgbClr val="F66C2E"/>
              </a:buClr>
            </a:pPr>
            <a:r>
              <a:rPr lang="en-US" sz="1200" i="1">
                <a:solidFill>
                  <a:srgbClr val="000000"/>
                </a:solidFill>
                <a:latin typeface="Calibri"/>
                <a:ea typeface="Calibri"/>
                <a:cs typeface="Calibri"/>
              </a:rPr>
              <a:t>($ in Thousands)</a:t>
            </a:r>
          </a:p>
        </p:txBody>
      </p:sp>
      <p:pic>
        <p:nvPicPr>
          <p:cNvPr id="18" name="Picture 17">
            <a:extLst>
              <a:ext uri="{FF2B5EF4-FFF2-40B4-BE49-F238E27FC236}">
                <a16:creationId xmlns:a16="http://schemas.microsoft.com/office/drawing/2014/main" id="{506546B0-10F2-64CE-78AD-8A12D970AE1A}"/>
              </a:ext>
            </a:extLst>
          </p:cNvPr>
          <p:cNvPicPr>
            <a:picLocks noChangeAspect="1"/>
          </p:cNvPicPr>
          <p:nvPr/>
        </p:nvPicPr>
        <p:blipFill>
          <a:blip r:embed="rId4"/>
          <a:stretch>
            <a:fillRect/>
          </a:stretch>
        </p:blipFill>
        <p:spPr>
          <a:xfrm>
            <a:off x="368710" y="862482"/>
            <a:ext cx="8572501" cy="3224964"/>
          </a:xfrm>
          <a:prstGeom prst="rect">
            <a:avLst/>
          </a:prstGeom>
        </p:spPr>
      </p:pic>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DDAC93EE-7399-426E-AC53-C7880D1C4A86}" type="slidenum">
              <a:rPr lang="en-US" sz="1000" smtClean="0">
                <a:solidFill>
                  <a:srgbClr val="999999"/>
                </a:solidFill>
                <a:latin typeface="Avenir" pitchFamily="34" charset="0"/>
                <a:ea typeface="Avenir" pitchFamily="34" charset="-122"/>
                <a:cs typeface="Avenir" pitchFamily="34" charset="-120"/>
              </a:rPr>
              <a:t>10</a:t>
            </a:fld>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EAB8CA2-D597-C296-4A43-469C169DAAAC}"/>
            </a:ext>
          </a:extLst>
        </p:cNvPr>
        <p:cNvGrpSpPr/>
        <p:nvPr/>
      </p:nvGrpSpPr>
      <p:grpSpPr>
        <a:xfrm>
          <a:off x="0" y="0"/>
          <a:ext cx="0" cy="0"/>
          <a:chOff x="0" y="0"/>
          <a:chExt cx="0" cy="0"/>
        </a:xfrm>
      </p:grpSpPr>
      <p:sp>
        <p:nvSpPr>
          <p:cNvPr id="99" name="Accent Bar">
            <a:extLst>
              <a:ext uri="{FF2B5EF4-FFF2-40B4-BE49-F238E27FC236}">
                <a16:creationId xmlns:a16="http://schemas.microsoft.com/office/drawing/2014/main" id="{AEBB94C6-E3DD-657E-EC18-D7FDC74E6B82}"/>
              </a:ext>
            </a:extLst>
          </p:cNvP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a:extLst>
              <a:ext uri="{FF2B5EF4-FFF2-40B4-BE49-F238E27FC236}">
                <a16:creationId xmlns:a16="http://schemas.microsoft.com/office/drawing/2014/main" id="{DFA98E67-AD26-912F-B78C-08B0A67C8E19}"/>
              </a:ext>
            </a:extLst>
          </p:cNvPr>
          <p:cNvPicPr>
            <a:picLocks noChangeAspect="1"/>
          </p:cNvPicPr>
          <p:nvPr/>
        </p:nvPicPr>
        <p:blipFill>
          <a:blip r:embed="rId3"/>
          <a:stretch>
            <a:fillRect/>
          </a:stretch>
        </p:blipFill>
        <p:spPr>
          <a:xfrm>
            <a:off x="7692000" y="182880"/>
            <a:ext cx="1252732" cy="217467"/>
          </a:xfrm>
          <a:prstGeom prst="rect">
            <a:avLst/>
          </a:prstGeom>
        </p:spPr>
      </p:pic>
      <p:sp>
        <p:nvSpPr>
          <p:cNvPr id="4" name="Shape 1">
            <a:extLst>
              <a:ext uri="{FF2B5EF4-FFF2-40B4-BE49-F238E27FC236}">
                <a16:creationId xmlns:a16="http://schemas.microsoft.com/office/drawing/2014/main" id="{E8C33A73-9BC5-7CD4-7B9C-9AFEBA39A241}"/>
              </a:ext>
            </a:extLst>
          </p:cNvPr>
          <p:cNvSpPr/>
          <p:nvPr/>
        </p:nvSpPr>
        <p:spPr>
          <a:xfrm>
            <a:off x="7692000" y="430347"/>
            <a:ext cx="1252732" cy="36576"/>
          </a:xfrm>
          <a:prstGeom prst="rect">
            <a:avLst/>
          </a:prstGeom>
          <a:solidFill>
            <a:srgbClr val="E8642C"/>
          </a:solidFill>
          <a:ln/>
        </p:spPr>
        <p:txBody>
          <a:bodyPr/>
          <a:lstStyle/>
          <a:p>
            <a:endParaRPr lang="en-US"/>
          </a:p>
        </p:txBody>
      </p:sp>
      <p:sp>
        <p:nvSpPr>
          <p:cNvPr id="5" name="Text 2">
            <a:extLst>
              <a:ext uri="{FF2B5EF4-FFF2-40B4-BE49-F238E27FC236}">
                <a16:creationId xmlns:a16="http://schemas.microsoft.com/office/drawing/2014/main" id="{D65C9418-813C-C99C-C6E9-CBBB24117851}"/>
              </a:ext>
            </a:extLst>
          </p:cNvPr>
          <p:cNvSpPr/>
          <p:nvPr/>
        </p:nvSpPr>
        <p:spPr>
          <a:xfrm>
            <a:off x="548640" y="137160"/>
            <a:ext cx="6400800" cy="731520"/>
          </a:xfrm>
          <a:prstGeom prst="rect">
            <a:avLst/>
          </a:prstGeom>
          <a:noFill/>
          <a:ln/>
        </p:spPr>
        <p:txBody>
          <a:bodyPr wrap="square" lIns="91440" tIns="45720" rIns="91440" bIns="45720" rtlCol="0" anchor="ctr"/>
          <a:lstStyle/>
          <a:p>
            <a:pPr marL="0" indent="0">
              <a:buNone/>
            </a:pPr>
            <a:r>
              <a:rPr lang="en-US" sz="2800" b="1">
                <a:solidFill>
                  <a:srgbClr val="393941"/>
                </a:solidFill>
                <a:latin typeface="Avenir"/>
                <a:ea typeface="Avenir"/>
                <a:cs typeface="Avenir" pitchFamily="34" charset="-120"/>
              </a:rPr>
              <a:t>2026 Budget</a:t>
            </a:r>
            <a:endParaRPr lang="en-US" sz="2800">
              <a:latin typeface="Avenir"/>
            </a:endParaRPr>
          </a:p>
        </p:txBody>
      </p:sp>
      <p:sp>
        <p:nvSpPr>
          <p:cNvPr id="16" name="TextBox 8">
            <a:extLst>
              <a:ext uri="{FF2B5EF4-FFF2-40B4-BE49-F238E27FC236}">
                <a16:creationId xmlns:a16="http://schemas.microsoft.com/office/drawing/2014/main" id="{1EC189CE-0C9D-AA16-D01A-F51C7A0D9475}"/>
              </a:ext>
            </a:extLst>
          </p:cNvPr>
          <p:cNvSpPr txBox="1"/>
          <p:nvPr/>
        </p:nvSpPr>
        <p:spPr>
          <a:xfrm rot="10800000" flipV="1">
            <a:off x="2694936" y="330667"/>
            <a:ext cx="1282291" cy="276999"/>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300"/>
              </a:spcBef>
              <a:spcAft>
                <a:spcPts val="300"/>
              </a:spcAft>
              <a:buClr>
                <a:srgbClr val="F66C2E"/>
              </a:buClr>
            </a:pPr>
            <a:r>
              <a:rPr lang="en-US" sz="1200" i="1">
                <a:solidFill>
                  <a:srgbClr val="000000"/>
                </a:solidFill>
                <a:latin typeface="Calibri"/>
                <a:ea typeface="Calibri"/>
                <a:cs typeface="Calibri"/>
              </a:rPr>
              <a:t>($ in Thousands)</a:t>
            </a:r>
          </a:p>
        </p:txBody>
      </p:sp>
      <p:pic>
        <p:nvPicPr>
          <p:cNvPr id="2" name="Picture 1" descr="A screenshot of a computer screen  AI-generated content may be incorrect.">
            <a:extLst>
              <a:ext uri="{FF2B5EF4-FFF2-40B4-BE49-F238E27FC236}">
                <a16:creationId xmlns:a16="http://schemas.microsoft.com/office/drawing/2014/main" id="{A31730DE-2BAC-311D-6F4A-CBF433360A4F}"/>
              </a:ext>
            </a:extLst>
          </p:cNvPr>
          <p:cNvPicPr>
            <a:picLocks noChangeAspect="1"/>
          </p:cNvPicPr>
          <p:nvPr/>
        </p:nvPicPr>
        <p:blipFill>
          <a:blip r:embed="rId4"/>
          <a:srcRect l="89" t="-725" r="35801" b="-400"/>
          <a:stretch>
            <a:fillRect/>
          </a:stretch>
        </p:blipFill>
        <p:spPr>
          <a:xfrm>
            <a:off x="468584" y="659959"/>
            <a:ext cx="5296559" cy="4304666"/>
          </a:xfrm>
          <a:prstGeom prst="rect">
            <a:avLst/>
          </a:prstGeom>
        </p:spPr>
      </p:pic>
      <p:sp>
        <p:nvSpPr>
          <p:cNvPr id="7" name="TextBox 6">
            <a:extLst>
              <a:ext uri="{FF2B5EF4-FFF2-40B4-BE49-F238E27FC236}">
                <a16:creationId xmlns:a16="http://schemas.microsoft.com/office/drawing/2014/main" id="{E8653E8A-C62D-CCBC-A4DE-A57893C5CCB3}"/>
              </a:ext>
            </a:extLst>
          </p:cNvPr>
          <p:cNvSpPr txBox="1"/>
          <p:nvPr/>
        </p:nvSpPr>
        <p:spPr>
          <a:xfrm>
            <a:off x="5891951" y="748989"/>
            <a:ext cx="2823078" cy="3762568"/>
          </a:xfrm>
          <a:prstGeom prst="rect">
            <a:avLst/>
          </a:prstGeom>
          <a:noFill/>
        </p:spPr>
        <p:txBody>
          <a:bodyPr wrap="square" lIns="68580" tIns="34290" rIns="68580" bIns="3429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3995" indent="-213995">
              <a:buClr>
                <a:srgbClr val="F66C2E"/>
              </a:buClr>
              <a:buFont typeface="Wingdings" panose="05000000000000000000" pitchFamily="2" charset="2"/>
              <a:buChar char="§"/>
            </a:pPr>
            <a:r>
              <a:rPr lang="en-US" sz="1200" b="1">
                <a:solidFill>
                  <a:srgbClr val="393941"/>
                </a:solidFill>
                <a:latin typeface="Calibri"/>
                <a:ea typeface="Calibri"/>
                <a:cs typeface="Calibri"/>
              </a:rPr>
              <a:t>Revenue:  </a:t>
            </a:r>
            <a:r>
              <a:rPr lang="en-US" sz="1200">
                <a:solidFill>
                  <a:srgbClr val="393941"/>
                </a:solidFill>
                <a:latin typeface="Calibri"/>
                <a:ea typeface="Calibri"/>
                <a:cs typeface="Calibri"/>
              </a:rPr>
              <a:t>Significant consulting revenue growth driven by strong starting backlog ($4.7MM) and 22% YoY growth in bookings. PVP expected to contribute meaningfully beginning in Q2 2026, which is well supported by current pipeline.</a:t>
            </a:r>
          </a:p>
          <a:p>
            <a:pPr marL="213995" indent="-213995">
              <a:buClr>
                <a:srgbClr val="F66C2E"/>
              </a:buClr>
              <a:buFont typeface="Wingdings" panose="05000000000000000000" pitchFamily="2" charset="2"/>
              <a:buChar char="§"/>
            </a:pPr>
            <a:endParaRPr lang="en-US" sz="1200">
              <a:solidFill>
                <a:srgbClr val="393941"/>
              </a:solidFill>
              <a:latin typeface="Calibri"/>
              <a:ea typeface="Calibri"/>
              <a:cs typeface="Calibri"/>
            </a:endParaRPr>
          </a:p>
          <a:p>
            <a:pPr marL="213995" indent="-213995">
              <a:buClr>
                <a:srgbClr val="F66C2E"/>
              </a:buClr>
              <a:buFont typeface="Wingdings" panose="05000000000000000000" pitchFamily="2" charset="2"/>
              <a:buChar char="§"/>
            </a:pPr>
            <a:r>
              <a:rPr lang="en-US" sz="1200" b="1">
                <a:solidFill>
                  <a:srgbClr val="393941"/>
                </a:solidFill>
                <a:latin typeface="Calibri"/>
                <a:ea typeface="Calibri"/>
                <a:cs typeface="Calibri"/>
              </a:rPr>
              <a:t>Cost of Sales &amp; Gross Profit:  </a:t>
            </a:r>
            <a:r>
              <a:rPr lang="en-US" sz="1200">
                <a:solidFill>
                  <a:srgbClr val="393941"/>
                </a:solidFill>
                <a:latin typeface="Calibri"/>
                <a:ea typeface="Calibri"/>
                <a:cs typeface="Calibri"/>
              </a:rPr>
              <a:t> </a:t>
            </a:r>
            <a:br>
              <a:rPr lang="en-US" sz="1200">
                <a:solidFill>
                  <a:srgbClr val="393941"/>
                </a:solidFill>
                <a:latin typeface="Calibri"/>
                <a:ea typeface="Calibri"/>
                <a:cs typeface="Calibri"/>
              </a:rPr>
            </a:br>
            <a:r>
              <a:rPr lang="en-US" sz="1200">
                <a:solidFill>
                  <a:srgbClr val="393941"/>
                </a:solidFill>
                <a:latin typeface="Calibri"/>
                <a:ea typeface="Calibri"/>
                <a:cs typeface="Calibri"/>
              </a:rPr>
              <a:t>Significant investments made in Q4 2025 and Q1 2026 to return to "full staffing". Collab91 launch critical to maintaining subcontractor cost control.</a:t>
            </a:r>
          </a:p>
          <a:p>
            <a:pPr>
              <a:buClr>
                <a:srgbClr val="F66C2E"/>
              </a:buClr>
            </a:pPr>
            <a:endParaRPr lang="en-US" sz="1200" b="1">
              <a:solidFill>
                <a:srgbClr val="393941"/>
              </a:solidFill>
              <a:latin typeface="Calibri"/>
              <a:ea typeface="Calibri"/>
              <a:cs typeface="Calibri"/>
            </a:endParaRPr>
          </a:p>
          <a:p>
            <a:pPr marL="213995" indent="-213995">
              <a:buClr>
                <a:srgbClr val="F66C2E"/>
              </a:buClr>
              <a:buFont typeface="Wingdings" panose="05000000000000000000" pitchFamily="2" charset="2"/>
              <a:buChar char="§"/>
            </a:pPr>
            <a:r>
              <a:rPr lang="en-US" sz="1200" b="1" err="1">
                <a:solidFill>
                  <a:srgbClr val="393941"/>
                </a:solidFill>
                <a:latin typeface="Calibri"/>
                <a:ea typeface="Calibri"/>
                <a:cs typeface="Calibri"/>
              </a:rPr>
              <a:t>Opex</a:t>
            </a:r>
            <a:r>
              <a:rPr lang="en-US" sz="1200" b="1">
                <a:solidFill>
                  <a:srgbClr val="393941"/>
                </a:solidFill>
                <a:latin typeface="Calibri"/>
                <a:ea typeface="Calibri" panose="020F0502020204030204"/>
                <a:cs typeface="Calibri" panose="020F0502020204030204"/>
              </a:rPr>
              <a:t>: </a:t>
            </a:r>
            <a:r>
              <a:rPr lang="en-US" sz="1200">
                <a:solidFill>
                  <a:srgbClr val="393941"/>
                </a:solidFill>
                <a:latin typeface="Calibri"/>
                <a:ea typeface="Calibri" panose="020F0502020204030204"/>
                <a:cs typeface="Calibri" panose="020F0502020204030204"/>
              </a:rPr>
              <a:t>YoY increase largely driven by annualization of 2025 hires, as well as the addition of 2 new sales reps (one junior, one senior). Additional investments in marketing planned, including in-market events.</a:t>
            </a:r>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2CC1E795-BEB9-4E99-9735-6645E18C1CD6}" type="slidenum">
              <a:rPr lang="en-US" sz="1000" smtClean="0">
                <a:solidFill>
                  <a:srgbClr val="999999"/>
                </a:solidFill>
                <a:latin typeface="Avenir" pitchFamily="34" charset="0"/>
                <a:ea typeface="Avenir" pitchFamily="34" charset="-122"/>
                <a:cs typeface="Avenir" pitchFamily="34" charset="-120"/>
              </a:rPr>
              <a:t>11</a:t>
            </a:fld>
            <a:endParaRPr lang="en-US" sz="1000"/>
          </a:p>
        </p:txBody>
      </p:sp>
    </p:spTree>
    <p:extLst>
      <p:ext uri="{BB962C8B-B14F-4D97-AF65-F5344CB8AC3E}">
        <p14:creationId xmlns:p14="http://schemas.microsoft.com/office/powerpoint/2010/main" val="4157894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1475" y="174699"/>
            <a:ext cx="4266681" cy="523220"/>
          </a:xfrm>
          <a:prstGeom prst="rect">
            <a:avLst/>
          </a:prstGeom>
          <a:noFill/>
        </p:spPr>
        <p:txBody>
          <a:bodyPr wrap="none">
            <a:spAutoFit/>
          </a:bodyPr>
          <a:lstStyle/>
          <a:p>
            <a:r>
              <a:rPr lang="en-US" sz="2800" b="1">
                <a:solidFill>
                  <a:srgbClr val="393941"/>
                </a:solidFill>
              </a:rPr>
              <a:t>FY 2025 </a:t>
            </a:r>
            <a:r>
              <a:rPr sz="2800" b="1">
                <a:solidFill>
                  <a:srgbClr val="393941"/>
                </a:solidFill>
              </a:rPr>
              <a:t>Consulting </a:t>
            </a:r>
            <a:r>
              <a:rPr lang="en-US" sz="2800" b="1">
                <a:solidFill>
                  <a:srgbClr val="393941"/>
                </a:solidFill>
              </a:rPr>
              <a:t>Sales</a:t>
            </a:r>
            <a:endParaRPr sz="2800" b="1">
              <a:solidFill>
                <a:srgbClr val="393941"/>
              </a:solidFill>
            </a:endParaRPr>
          </a:p>
        </p:txBody>
      </p:sp>
      <p:sp>
        <p:nvSpPr>
          <p:cNvPr id="3" name="TextBox 2"/>
          <p:cNvSpPr txBox="1"/>
          <p:nvPr/>
        </p:nvSpPr>
        <p:spPr>
          <a:xfrm>
            <a:off x="634417" y="624343"/>
            <a:ext cx="1149674" cy="261610"/>
          </a:xfrm>
          <a:prstGeom prst="rect">
            <a:avLst/>
          </a:prstGeom>
          <a:noFill/>
        </p:spPr>
        <p:txBody>
          <a:bodyPr wrap="none">
            <a:spAutoFit/>
          </a:bodyPr>
          <a:lstStyle/>
          <a:p>
            <a:r>
              <a:rPr lang="en-US" sz="1100" b="1">
                <a:solidFill>
                  <a:srgbClr val="F66C2E"/>
                </a:solidFill>
                <a:latin typeface="Calibri"/>
              </a:rPr>
              <a:t>Sales</a:t>
            </a:r>
            <a:r>
              <a:rPr sz="1100" b="1">
                <a:solidFill>
                  <a:srgbClr val="F66C2E"/>
                </a:solidFill>
                <a:latin typeface="Calibri"/>
              </a:rPr>
              <a:t> by Quarter</a:t>
            </a:r>
          </a:p>
        </p:txBody>
      </p:sp>
      <p:sp>
        <p:nvSpPr>
          <p:cNvPr id="4" name="TextBox 3"/>
          <p:cNvSpPr txBox="1"/>
          <p:nvPr/>
        </p:nvSpPr>
        <p:spPr>
          <a:xfrm>
            <a:off x="4747294" y="624343"/>
            <a:ext cx="1499128" cy="261610"/>
          </a:xfrm>
          <a:prstGeom prst="rect">
            <a:avLst/>
          </a:prstGeom>
          <a:noFill/>
        </p:spPr>
        <p:txBody>
          <a:bodyPr wrap="none">
            <a:spAutoFit/>
          </a:bodyPr>
          <a:lstStyle/>
          <a:p>
            <a:r>
              <a:rPr lang="en-US" sz="1100" b="1">
                <a:solidFill>
                  <a:srgbClr val="F66C2E"/>
                </a:solidFill>
                <a:latin typeface="Calibri"/>
              </a:rPr>
              <a:t>Sales </a:t>
            </a:r>
            <a:r>
              <a:rPr sz="1100" b="1">
                <a:solidFill>
                  <a:srgbClr val="F66C2E"/>
                </a:solidFill>
                <a:latin typeface="Calibri"/>
              </a:rPr>
              <a:t>by </a:t>
            </a:r>
            <a:r>
              <a:rPr lang="en-US" sz="1100" b="1">
                <a:solidFill>
                  <a:srgbClr val="F66C2E"/>
                </a:solidFill>
                <a:latin typeface="Calibri"/>
              </a:rPr>
              <a:t>Pricing Model</a:t>
            </a:r>
            <a:endParaRPr sz="1100" b="1">
              <a:solidFill>
                <a:srgbClr val="F66C2E"/>
              </a:solidFill>
              <a:latin typeface="Calibri"/>
            </a:endParaRPr>
          </a:p>
        </p:txBody>
      </p:sp>
      <p:graphicFrame>
        <p:nvGraphicFramePr>
          <p:cNvPr id="5" name="Chart 4"/>
          <p:cNvGraphicFramePr>
            <a:graphicFrameLocks noGrp="1"/>
          </p:cNvGraphicFramePr>
          <p:nvPr/>
        </p:nvGraphicFramePr>
        <p:xfrm>
          <a:off x="380000" y="930000"/>
          <a:ext cx="4000000" cy="25000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1131425" y="3314096"/>
            <a:ext cx="542135" cy="200055"/>
          </a:xfrm>
          <a:prstGeom prst="rect">
            <a:avLst/>
          </a:prstGeom>
          <a:noFill/>
        </p:spPr>
        <p:txBody>
          <a:bodyPr wrap="none">
            <a:spAutoFit/>
          </a:bodyPr>
          <a:lstStyle/>
          <a:p>
            <a:pPr algn="ctr"/>
            <a:r>
              <a:rPr lang="en-US" sz="700" i="1">
                <a:solidFill>
                  <a:srgbClr val="F66C2E"/>
                </a:solidFill>
                <a:latin typeface="Calibri"/>
              </a:rPr>
              <a:t>(12 deals)</a:t>
            </a:r>
          </a:p>
        </p:txBody>
      </p:sp>
      <p:sp>
        <p:nvSpPr>
          <p:cNvPr id="7" name="TextBox 6"/>
          <p:cNvSpPr txBox="1">
            <a:spLocks/>
          </p:cNvSpPr>
          <p:nvPr/>
        </p:nvSpPr>
        <p:spPr>
          <a:xfrm>
            <a:off x="1980257" y="3314096"/>
            <a:ext cx="497251" cy="200055"/>
          </a:xfrm>
          <a:prstGeom prst="rect">
            <a:avLst/>
          </a:prstGeom>
          <a:noFill/>
        </p:spPr>
        <p:txBody>
          <a:bodyPr wrap="none">
            <a:spAutoFit/>
          </a:bodyPr>
          <a:lstStyle/>
          <a:p>
            <a:pPr algn="ctr"/>
            <a:r>
              <a:rPr lang="en-US" sz="700" i="1">
                <a:solidFill>
                  <a:srgbClr val="F66C2E"/>
                </a:solidFill>
                <a:latin typeface="Calibri"/>
              </a:rPr>
              <a:t>(8 deals)</a:t>
            </a:r>
          </a:p>
        </p:txBody>
      </p:sp>
      <p:sp>
        <p:nvSpPr>
          <p:cNvPr id="8" name="TextBox 7"/>
          <p:cNvSpPr txBox="1"/>
          <p:nvPr/>
        </p:nvSpPr>
        <p:spPr>
          <a:xfrm>
            <a:off x="2808060" y="3314096"/>
            <a:ext cx="542135" cy="200055"/>
          </a:xfrm>
          <a:prstGeom prst="rect">
            <a:avLst/>
          </a:prstGeom>
          <a:noFill/>
        </p:spPr>
        <p:txBody>
          <a:bodyPr wrap="none">
            <a:spAutoFit/>
          </a:bodyPr>
          <a:lstStyle/>
          <a:p>
            <a:pPr algn="ctr"/>
            <a:r>
              <a:rPr lang="en-US" sz="700" i="1">
                <a:solidFill>
                  <a:srgbClr val="F66C2E"/>
                </a:solidFill>
                <a:latin typeface="Calibri"/>
              </a:rPr>
              <a:t>(10 deals)</a:t>
            </a:r>
          </a:p>
        </p:txBody>
      </p:sp>
      <p:sp>
        <p:nvSpPr>
          <p:cNvPr id="9" name="TextBox 8"/>
          <p:cNvSpPr txBox="1"/>
          <p:nvPr/>
        </p:nvSpPr>
        <p:spPr>
          <a:xfrm>
            <a:off x="3634449" y="3314096"/>
            <a:ext cx="542135" cy="200055"/>
          </a:xfrm>
          <a:prstGeom prst="rect">
            <a:avLst/>
          </a:prstGeom>
          <a:noFill/>
        </p:spPr>
        <p:txBody>
          <a:bodyPr wrap="none">
            <a:spAutoFit/>
          </a:bodyPr>
          <a:lstStyle/>
          <a:p>
            <a:pPr algn="ctr"/>
            <a:r>
              <a:rPr lang="en-US" sz="700" i="1">
                <a:solidFill>
                  <a:srgbClr val="F66C2E"/>
                </a:solidFill>
                <a:latin typeface="Calibri"/>
              </a:rPr>
              <a:t>(10 deals)</a:t>
            </a:r>
          </a:p>
        </p:txBody>
      </p:sp>
      <p:sp>
        <p:nvSpPr>
          <p:cNvPr id="10" name="TextBox 9"/>
          <p:cNvSpPr txBox="1"/>
          <p:nvPr/>
        </p:nvSpPr>
        <p:spPr>
          <a:xfrm>
            <a:off x="630272" y="796891"/>
            <a:ext cx="1212191" cy="215444"/>
          </a:xfrm>
          <a:prstGeom prst="rect">
            <a:avLst/>
          </a:prstGeom>
          <a:noFill/>
        </p:spPr>
        <p:txBody>
          <a:bodyPr wrap="none">
            <a:spAutoFit/>
          </a:bodyPr>
          <a:lstStyle/>
          <a:p>
            <a:r>
              <a:rPr sz="800" b="1">
                <a:solidFill>
                  <a:srgbClr val="F66C2E"/>
                </a:solidFill>
                <a:latin typeface="Calibri"/>
              </a:rPr>
              <a:t>Total: $12.0M (40 deals)</a:t>
            </a:r>
          </a:p>
        </p:txBody>
      </p:sp>
      <p:graphicFrame>
        <p:nvGraphicFramePr>
          <p:cNvPr id="11" name="Chart 10"/>
          <p:cNvGraphicFramePr>
            <a:graphicFrameLocks noGrp="1"/>
          </p:cNvGraphicFramePr>
          <p:nvPr>
            <p:extLst>
              <p:ext uri="{D42A27DB-BD31-4B8C-83A1-F6EECF244321}">
                <p14:modId xmlns:p14="http://schemas.microsoft.com/office/powerpoint/2010/main" val="1427154003"/>
              </p:ext>
            </p:extLst>
          </p:nvPr>
        </p:nvGraphicFramePr>
        <p:xfrm>
          <a:off x="4600000" y="930000"/>
          <a:ext cx="4200000" cy="2400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5612180" y="3226633"/>
            <a:ext cx="413896" cy="215444"/>
          </a:xfrm>
          <a:prstGeom prst="rect">
            <a:avLst/>
          </a:prstGeom>
          <a:noFill/>
        </p:spPr>
        <p:txBody>
          <a:bodyPr wrap="none">
            <a:spAutoFit/>
          </a:bodyPr>
          <a:lstStyle/>
          <a:p>
            <a:pPr algn="ctr"/>
            <a:r>
              <a:rPr lang="en-US" sz="800">
                <a:solidFill>
                  <a:srgbClr val="F66C2E"/>
                </a:solidFill>
                <a:latin typeface="Calibri"/>
              </a:rPr>
              <a:t>(</a:t>
            </a:r>
            <a:r>
              <a:rPr lang="en-US" sz="700">
                <a:solidFill>
                  <a:srgbClr val="F66C2E"/>
                </a:solidFill>
                <a:latin typeface="Calibri"/>
              </a:rPr>
              <a:t>55</a:t>
            </a:r>
            <a:r>
              <a:rPr lang="en-US" sz="800">
                <a:solidFill>
                  <a:srgbClr val="F66C2E"/>
                </a:solidFill>
                <a:latin typeface="Calibri"/>
              </a:rPr>
              <a:t>%)</a:t>
            </a:r>
          </a:p>
        </p:txBody>
      </p:sp>
      <p:sp>
        <p:nvSpPr>
          <p:cNvPr id="13" name="TextBox 12"/>
          <p:cNvSpPr txBox="1">
            <a:spLocks/>
          </p:cNvSpPr>
          <p:nvPr/>
        </p:nvSpPr>
        <p:spPr>
          <a:xfrm>
            <a:off x="6772873" y="3226633"/>
            <a:ext cx="394660" cy="200055"/>
          </a:xfrm>
          <a:prstGeom prst="rect">
            <a:avLst/>
          </a:prstGeom>
          <a:noFill/>
        </p:spPr>
        <p:txBody>
          <a:bodyPr wrap="none">
            <a:spAutoFit/>
          </a:bodyPr>
          <a:lstStyle/>
          <a:p>
            <a:pPr algn="ctr"/>
            <a:r>
              <a:rPr lang="en-US" sz="700">
                <a:solidFill>
                  <a:srgbClr val="F66C2E"/>
                </a:solidFill>
                <a:latin typeface="Calibri"/>
              </a:rPr>
              <a:t>(29%)</a:t>
            </a:r>
          </a:p>
        </p:txBody>
      </p:sp>
      <p:sp>
        <p:nvSpPr>
          <p:cNvPr id="14" name="TextBox 13"/>
          <p:cNvSpPr txBox="1"/>
          <p:nvPr/>
        </p:nvSpPr>
        <p:spPr>
          <a:xfrm>
            <a:off x="7868286" y="3226633"/>
            <a:ext cx="394660" cy="200055"/>
          </a:xfrm>
          <a:prstGeom prst="rect">
            <a:avLst/>
          </a:prstGeom>
          <a:noFill/>
        </p:spPr>
        <p:txBody>
          <a:bodyPr wrap="none">
            <a:spAutoFit/>
          </a:bodyPr>
          <a:lstStyle/>
          <a:p>
            <a:pPr algn="ctr"/>
            <a:r>
              <a:rPr lang="en-US" sz="700">
                <a:solidFill>
                  <a:srgbClr val="F66C2E"/>
                </a:solidFill>
                <a:latin typeface="Calibri"/>
              </a:rPr>
              <a:t>(16%)</a:t>
            </a:r>
          </a:p>
        </p:txBody>
      </p:sp>
      <p:sp>
        <p:nvSpPr>
          <p:cNvPr id="15" name="Isosceles Triangle 14"/>
          <p:cNvSpPr/>
          <p:nvPr/>
        </p:nvSpPr>
        <p:spPr>
          <a:xfrm rot="5400000">
            <a:off x="1052899" y="4130386"/>
            <a:ext cx="800430" cy="166229"/>
          </a:xfrm>
          <a:prstGeom prst="triangle">
            <a:avLst/>
          </a:prstGeom>
          <a:solidFill>
            <a:srgbClr val="F66C2E"/>
          </a:solidFill>
          <a:ln>
            <a:solidFill>
              <a:srgbClr val="F66C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813770" y="3953074"/>
            <a:ext cx="6500000" cy="430887"/>
          </a:xfrm>
          <a:prstGeom prst="rect">
            <a:avLst/>
          </a:prstGeom>
          <a:noFill/>
        </p:spPr>
        <p:txBody>
          <a:bodyPr wrap="square">
            <a:spAutoFit/>
          </a:bodyPr>
          <a:lstStyle/>
          <a:p>
            <a:pPr marL="257175" indent="-257175">
              <a:buClr>
                <a:srgbClr val="F66C2E"/>
              </a:buClr>
              <a:buFont typeface="Wingdings" pitchFamily="2" charset="2"/>
              <a:buChar char="§"/>
            </a:pPr>
            <a:r>
              <a:rPr lang="en-US" sz="1100">
                <a:solidFill>
                  <a:srgbClr val="595959"/>
                </a:solidFill>
                <a:latin typeface="Calibri"/>
              </a:rPr>
              <a:t>Bookings steady at ~$3m / quarter [avg. deal size (booked): $300K]</a:t>
            </a:r>
          </a:p>
          <a:p>
            <a:pPr marL="257175" indent="-257175">
              <a:buClr>
                <a:srgbClr val="F66C2E"/>
              </a:buClr>
              <a:buFont typeface="Wingdings" pitchFamily="2" charset="2"/>
              <a:buChar char="§"/>
            </a:pPr>
            <a:r>
              <a:rPr lang="en-US" sz="1100">
                <a:solidFill>
                  <a:srgbClr val="595959"/>
                </a:solidFill>
                <a:latin typeface="Calibri"/>
              </a:rPr>
              <a:t>Increasing pivot to hybrid pricing (~55% by booking amount)</a:t>
            </a:r>
          </a:p>
        </p:txBody>
      </p:sp>
      <p:sp>
        <p:nvSpPr>
          <p:cNvPr id="17" name="TextBox 16">
            <a:extLst>
              <a:ext uri="{FF2B5EF4-FFF2-40B4-BE49-F238E27FC236}">
                <a16:creationId xmlns:a16="http://schemas.microsoft.com/office/drawing/2014/main" id="{8D363CBF-BC22-AC75-6847-17C262D24E39}"/>
              </a:ext>
            </a:extLst>
          </p:cNvPr>
          <p:cNvSpPr txBox="1"/>
          <p:nvPr/>
        </p:nvSpPr>
        <p:spPr>
          <a:xfrm>
            <a:off x="4782176" y="790265"/>
            <a:ext cx="1212191" cy="215444"/>
          </a:xfrm>
          <a:prstGeom prst="rect">
            <a:avLst/>
          </a:prstGeom>
          <a:noFill/>
        </p:spPr>
        <p:txBody>
          <a:bodyPr wrap="none">
            <a:spAutoFit/>
          </a:bodyPr>
          <a:lstStyle/>
          <a:p>
            <a:r>
              <a:rPr sz="800" b="1">
                <a:solidFill>
                  <a:srgbClr val="F66C2E"/>
                </a:solidFill>
                <a:latin typeface="Calibri"/>
              </a:rPr>
              <a:t>Total: $12.0M (40 deals)</a:t>
            </a:r>
          </a:p>
        </p:txBody>
      </p:sp>
      <p:sp>
        <p:nvSpPr>
          <p:cNvPr id="18" name="Slide Number Placeholder 18"/>
          <p:cNvSpPr/>
          <p:nvPr/>
        </p:nvSpPr>
        <p:spPr>
          <a:xfrm>
            <a:off x="8503920" y="4754880"/>
            <a:ext cx="457200" cy="274320"/>
          </a:xfrm>
          <a:prstGeom prst="rect">
            <a:avLst/>
          </a:prstGeom>
          <a:noFill/>
          <a:ln/>
        </p:spPr>
        <p:txBody>
          <a:bodyPr wrap="square" rtlCol="0" anchor="ctr"/>
          <a:lstStyle/>
          <a:p>
            <a:pPr marL="0" indent="0" algn="r">
              <a:buNone/>
            </a:pPr>
            <a:fld id="{F160359B-8799-46DC-B054-F16308AD9DB2}" type="slidenum">
              <a:rPr lang="en-US" sz="1000" smtClean="0">
                <a:solidFill>
                  <a:srgbClr val="999999"/>
                </a:solidFill>
                <a:latin typeface="Avenir" pitchFamily="34" charset="0"/>
                <a:ea typeface="Avenir" pitchFamily="34" charset="-122"/>
                <a:cs typeface="Avenir" pitchFamily="34" charset="-120"/>
              </a:rPr>
              <a:t>12</a:t>
            </a:fld>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1964" y="182650"/>
            <a:ext cx="4240263" cy="523220"/>
          </a:xfrm>
          <a:prstGeom prst="rect">
            <a:avLst/>
          </a:prstGeom>
          <a:noFill/>
        </p:spPr>
        <p:txBody>
          <a:bodyPr wrap="none">
            <a:spAutoFit/>
          </a:bodyPr>
          <a:lstStyle/>
          <a:p>
            <a:r>
              <a:rPr sz="2800" b="1">
                <a:solidFill>
                  <a:srgbClr val="393941"/>
                </a:solidFill>
              </a:rPr>
              <a:t>Consulting </a:t>
            </a:r>
            <a:r>
              <a:rPr lang="en-US" sz="2800" b="1">
                <a:solidFill>
                  <a:srgbClr val="393941"/>
                </a:solidFill>
              </a:rPr>
              <a:t>Pipeline Adds</a:t>
            </a:r>
            <a:endParaRPr sz="2800" b="1">
              <a:solidFill>
                <a:srgbClr val="393941"/>
              </a:solidFill>
            </a:endParaRPr>
          </a:p>
        </p:txBody>
      </p:sp>
      <p:sp>
        <p:nvSpPr>
          <p:cNvPr id="4" name="TextBox 3"/>
          <p:cNvSpPr txBox="1"/>
          <p:nvPr/>
        </p:nvSpPr>
        <p:spPr>
          <a:xfrm>
            <a:off x="634417" y="646748"/>
            <a:ext cx="1444626" cy="261610"/>
          </a:xfrm>
          <a:prstGeom prst="rect">
            <a:avLst/>
          </a:prstGeom>
          <a:noFill/>
        </p:spPr>
        <p:txBody>
          <a:bodyPr wrap="none" lIns="91440" tIns="45720" rIns="91440" bIns="45720" anchor="t">
            <a:spAutoFit/>
          </a:bodyPr>
          <a:lstStyle/>
          <a:p>
            <a:r>
              <a:rPr lang="en-US" sz="1100" b="1">
                <a:solidFill>
                  <a:srgbClr val="F66C2E"/>
                </a:solidFill>
                <a:latin typeface="Calibri"/>
              </a:rPr>
              <a:t>Pipeline Adds in 2025</a:t>
            </a:r>
            <a:endParaRPr lang="en-US" sz="1100" b="1">
              <a:solidFill>
                <a:srgbClr val="F66C2E"/>
              </a:solidFill>
              <a:latin typeface="Calibri"/>
              <a:ea typeface="Calibri"/>
              <a:cs typeface="Calibri"/>
            </a:endParaRPr>
          </a:p>
        </p:txBody>
      </p:sp>
      <p:sp>
        <p:nvSpPr>
          <p:cNvPr id="5" name="TextBox 4"/>
          <p:cNvSpPr txBox="1"/>
          <p:nvPr/>
        </p:nvSpPr>
        <p:spPr>
          <a:xfrm>
            <a:off x="4747294" y="646748"/>
            <a:ext cx="2800000" cy="248209"/>
          </a:xfrm>
          <a:prstGeom prst="rect">
            <a:avLst/>
          </a:prstGeom>
          <a:noFill/>
        </p:spPr>
        <p:txBody>
          <a:bodyPr wrap="none">
            <a:spAutoFit/>
          </a:bodyPr>
          <a:lstStyle/>
          <a:p>
            <a:r>
              <a:rPr sz="1100" b="1">
                <a:solidFill>
                  <a:srgbClr val="F66C2E"/>
                </a:solidFill>
                <a:latin typeface="Calibri"/>
              </a:rPr>
              <a:t>Pipeline Adds by Contributing PE</a:t>
            </a:r>
          </a:p>
        </p:txBody>
      </p:sp>
      <p:graphicFrame>
        <p:nvGraphicFramePr>
          <p:cNvPr id="6" name="Chart 5"/>
          <p:cNvGraphicFramePr>
            <a:graphicFrameLocks noGrp="1"/>
          </p:cNvGraphicFramePr>
          <p:nvPr/>
        </p:nvGraphicFramePr>
        <p:xfrm>
          <a:off x="380000" y="930000"/>
          <a:ext cx="4150000" cy="2400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a:spLocks/>
          </p:cNvSpPr>
          <p:nvPr/>
        </p:nvSpPr>
        <p:spPr>
          <a:xfrm>
            <a:off x="1012738" y="3210731"/>
            <a:ext cx="524503" cy="200055"/>
          </a:xfrm>
          <a:prstGeom prst="rect">
            <a:avLst/>
          </a:prstGeom>
          <a:noFill/>
        </p:spPr>
        <p:txBody>
          <a:bodyPr wrap="none">
            <a:spAutoFit/>
          </a:bodyPr>
          <a:lstStyle/>
          <a:p>
            <a:pPr algn="l"/>
            <a:r>
              <a:rPr lang="en-US" sz="700" i="1">
                <a:solidFill>
                  <a:srgbClr val="F66C2E"/>
                </a:solidFill>
                <a:latin typeface="Calibri"/>
              </a:rPr>
              <a:t>(28 opps)</a:t>
            </a:r>
          </a:p>
        </p:txBody>
      </p:sp>
      <p:sp>
        <p:nvSpPr>
          <p:cNvPr id="8" name="TextBox 7"/>
          <p:cNvSpPr txBox="1"/>
          <p:nvPr/>
        </p:nvSpPr>
        <p:spPr>
          <a:xfrm>
            <a:off x="1902738" y="3210731"/>
            <a:ext cx="524503" cy="200055"/>
          </a:xfrm>
          <a:prstGeom prst="rect">
            <a:avLst/>
          </a:prstGeom>
          <a:noFill/>
        </p:spPr>
        <p:txBody>
          <a:bodyPr wrap="none">
            <a:spAutoFit/>
          </a:bodyPr>
          <a:lstStyle/>
          <a:p>
            <a:pPr algn="l"/>
            <a:r>
              <a:rPr lang="en-US" sz="700" i="1">
                <a:solidFill>
                  <a:srgbClr val="F66C2E"/>
                </a:solidFill>
                <a:latin typeface="Calibri"/>
              </a:rPr>
              <a:t>(41 opps)</a:t>
            </a:r>
          </a:p>
        </p:txBody>
      </p:sp>
      <p:sp>
        <p:nvSpPr>
          <p:cNvPr id="9" name="TextBox 8"/>
          <p:cNvSpPr txBox="1"/>
          <p:nvPr/>
        </p:nvSpPr>
        <p:spPr>
          <a:xfrm>
            <a:off x="2792738" y="3210731"/>
            <a:ext cx="524503" cy="200055"/>
          </a:xfrm>
          <a:prstGeom prst="rect">
            <a:avLst/>
          </a:prstGeom>
          <a:noFill/>
        </p:spPr>
        <p:txBody>
          <a:bodyPr wrap="none">
            <a:spAutoFit/>
          </a:bodyPr>
          <a:lstStyle/>
          <a:p>
            <a:pPr algn="l"/>
            <a:r>
              <a:rPr sz="700" i="1">
                <a:solidFill>
                  <a:srgbClr val="F66C2E"/>
                </a:solidFill>
                <a:latin typeface="Calibri"/>
              </a:rPr>
              <a:t>(39 opps)</a:t>
            </a:r>
          </a:p>
        </p:txBody>
      </p:sp>
      <p:sp>
        <p:nvSpPr>
          <p:cNvPr id="10" name="TextBox 9"/>
          <p:cNvSpPr txBox="1"/>
          <p:nvPr/>
        </p:nvSpPr>
        <p:spPr>
          <a:xfrm>
            <a:off x="3682738" y="3210731"/>
            <a:ext cx="524503" cy="200055"/>
          </a:xfrm>
          <a:prstGeom prst="rect">
            <a:avLst/>
          </a:prstGeom>
          <a:noFill/>
        </p:spPr>
        <p:txBody>
          <a:bodyPr wrap="none">
            <a:spAutoFit/>
          </a:bodyPr>
          <a:lstStyle/>
          <a:p>
            <a:pPr algn="l"/>
            <a:r>
              <a:rPr sz="700" i="1">
                <a:solidFill>
                  <a:srgbClr val="F66C2E"/>
                </a:solidFill>
                <a:latin typeface="Calibri"/>
              </a:rPr>
              <a:t>(38 opps)</a:t>
            </a:r>
          </a:p>
        </p:txBody>
      </p:sp>
      <p:sp>
        <p:nvSpPr>
          <p:cNvPr id="11" name="TextBox 10"/>
          <p:cNvSpPr txBox="1"/>
          <p:nvPr/>
        </p:nvSpPr>
        <p:spPr>
          <a:xfrm>
            <a:off x="634417" y="832588"/>
            <a:ext cx="1617751" cy="215444"/>
          </a:xfrm>
          <a:prstGeom prst="rect">
            <a:avLst/>
          </a:prstGeom>
          <a:noFill/>
        </p:spPr>
        <p:txBody>
          <a:bodyPr wrap="none">
            <a:spAutoFit/>
          </a:bodyPr>
          <a:lstStyle/>
          <a:p>
            <a:pPr algn="l"/>
            <a:r>
              <a:rPr sz="800" b="1">
                <a:solidFill>
                  <a:srgbClr val="F66C2E"/>
                </a:solidFill>
                <a:latin typeface="Calibri"/>
              </a:rPr>
              <a:t>Total: $42.8M (146 opportunities)</a:t>
            </a:r>
          </a:p>
        </p:txBody>
      </p:sp>
      <p:graphicFrame>
        <p:nvGraphicFramePr>
          <p:cNvPr id="12" name="Chart 11"/>
          <p:cNvGraphicFramePr>
            <a:graphicFrameLocks noGrp="1"/>
          </p:cNvGraphicFramePr>
          <p:nvPr/>
        </p:nvGraphicFramePr>
        <p:xfrm>
          <a:off x="4600000" y="930000"/>
          <a:ext cx="2600000" cy="2600000"/>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p:cNvSpPr/>
          <p:nvPr/>
        </p:nvSpPr>
        <p:spPr>
          <a:xfrm>
            <a:off x="7300000" y="980000"/>
            <a:ext cx="120000" cy="12000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50000" y="950000"/>
            <a:ext cx="1600000" cy="200000"/>
          </a:xfrm>
          <a:prstGeom prst="rect">
            <a:avLst/>
          </a:prstGeom>
          <a:noFill/>
        </p:spPr>
        <p:txBody>
          <a:bodyPr wrap="none">
            <a:spAutoFit/>
          </a:bodyPr>
          <a:lstStyle/>
          <a:p>
            <a:r>
              <a:rPr sz="750" b="1">
                <a:solidFill>
                  <a:srgbClr val="393941"/>
                </a:solidFill>
                <a:latin typeface="Calibri"/>
              </a:rPr>
              <a:t>8% </a:t>
            </a:r>
            <a:r>
              <a:rPr sz="750">
                <a:solidFill>
                  <a:srgbClr val="595959"/>
                </a:solidFill>
                <a:latin typeface="Calibri"/>
              </a:rPr>
              <a:t>Trivest Partners</a:t>
            </a:r>
          </a:p>
        </p:txBody>
      </p:sp>
      <p:sp>
        <p:nvSpPr>
          <p:cNvPr id="15" name="Rectangle 14"/>
          <p:cNvSpPr/>
          <p:nvPr/>
        </p:nvSpPr>
        <p:spPr>
          <a:xfrm>
            <a:off x="7300000" y="1180000"/>
            <a:ext cx="120000" cy="120000"/>
          </a:xfrm>
          <a:prstGeom prst="rect">
            <a:avLst/>
          </a:prstGeom>
          <a:solidFill>
            <a:srgbClr val="F66C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50000" y="1150000"/>
            <a:ext cx="1600000" cy="200000"/>
          </a:xfrm>
          <a:prstGeom prst="rect">
            <a:avLst/>
          </a:prstGeom>
          <a:noFill/>
        </p:spPr>
        <p:txBody>
          <a:bodyPr wrap="none">
            <a:spAutoFit/>
          </a:bodyPr>
          <a:lstStyle/>
          <a:p>
            <a:r>
              <a:rPr sz="750" b="1">
                <a:solidFill>
                  <a:srgbClr val="393941"/>
                </a:solidFill>
                <a:latin typeface="Calibri"/>
              </a:rPr>
              <a:t>6% </a:t>
            </a:r>
            <a:r>
              <a:rPr sz="750">
                <a:solidFill>
                  <a:srgbClr val="595959"/>
                </a:solidFill>
                <a:latin typeface="Calibri"/>
              </a:rPr>
              <a:t>LLCP</a:t>
            </a:r>
          </a:p>
        </p:txBody>
      </p:sp>
      <p:sp>
        <p:nvSpPr>
          <p:cNvPr id="17" name="Rectangle 16"/>
          <p:cNvSpPr/>
          <p:nvPr/>
        </p:nvSpPr>
        <p:spPr>
          <a:xfrm>
            <a:off x="7300000" y="1380000"/>
            <a:ext cx="120000" cy="1200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50000" y="1350000"/>
            <a:ext cx="1600000" cy="200000"/>
          </a:xfrm>
          <a:prstGeom prst="rect">
            <a:avLst/>
          </a:prstGeom>
          <a:noFill/>
        </p:spPr>
        <p:txBody>
          <a:bodyPr wrap="none">
            <a:spAutoFit/>
          </a:bodyPr>
          <a:lstStyle/>
          <a:p>
            <a:r>
              <a:rPr sz="750" b="1">
                <a:solidFill>
                  <a:srgbClr val="393941"/>
                </a:solidFill>
                <a:latin typeface="Calibri"/>
              </a:rPr>
              <a:t>5% </a:t>
            </a:r>
            <a:r>
              <a:rPr sz="750">
                <a:solidFill>
                  <a:srgbClr val="595959"/>
                </a:solidFill>
                <a:latin typeface="Calibri"/>
              </a:rPr>
              <a:t>Non-PE</a:t>
            </a:r>
          </a:p>
        </p:txBody>
      </p:sp>
      <p:sp>
        <p:nvSpPr>
          <p:cNvPr id="19" name="Rectangle 18"/>
          <p:cNvSpPr/>
          <p:nvPr/>
        </p:nvSpPr>
        <p:spPr>
          <a:xfrm>
            <a:off x="7300000" y="1580000"/>
            <a:ext cx="120000" cy="120000"/>
          </a:xfrm>
          <a:prstGeom prst="rect">
            <a:avLst/>
          </a:prstGeom>
          <a:solidFill>
            <a:srgbClr val="59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50000" y="1550000"/>
            <a:ext cx="1600000" cy="200000"/>
          </a:xfrm>
          <a:prstGeom prst="rect">
            <a:avLst/>
          </a:prstGeom>
          <a:noFill/>
        </p:spPr>
        <p:txBody>
          <a:bodyPr wrap="none">
            <a:spAutoFit/>
          </a:bodyPr>
          <a:lstStyle/>
          <a:p>
            <a:r>
              <a:rPr sz="750" b="1">
                <a:solidFill>
                  <a:srgbClr val="393941"/>
                </a:solidFill>
                <a:latin typeface="Calibri"/>
              </a:rPr>
              <a:t>4% </a:t>
            </a:r>
            <a:r>
              <a:rPr sz="750">
                <a:solidFill>
                  <a:srgbClr val="595959"/>
                </a:solidFill>
                <a:latin typeface="Calibri"/>
              </a:rPr>
              <a:t>Shoreline Equity</a:t>
            </a:r>
          </a:p>
        </p:txBody>
      </p:sp>
      <p:sp>
        <p:nvSpPr>
          <p:cNvPr id="21" name="Rectangle 20"/>
          <p:cNvSpPr/>
          <p:nvPr/>
        </p:nvSpPr>
        <p:spPr>
          <a:xfrm>
            <a:off x="7300000" y="1780000"/>
            <a:ext cx="120000" cy="120000"/>
          </a:xfrm>
          <a:prstGeom prst="rect">
            <a:avLst/>
          </a:prstGeom>
          <a:solidFill>
            <a:srgbClr val="E15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50000" y="1750000"/>
            <a:ext cx="1600000" cy="200000"/>
          </a:xfrm>
          <a:prstGeom prst="rect">
            <a:avLst/>
          </a:prstGeom>
          <a:noFill/>
        </p:spPr>
        <p:txBody>
          <a:bodyPr wrap="none">
            <a:spAutoFit/>
          </a:bodyPr>
          <a:lstStyle/>
          <a:p>
            <a:r>
              <a:rPr sz="750" b="1">
                <a:solidFill>
                  <a:srgbClr val="393941"/>
                </a:solidFill>
                <a:latin typeface="Calibri"/>
              </a:rPr>
              <a:t>4% </a:t>
            </a:r>
            <a:r>
              <a:rPr sz="750">
                <a:solidFill>
                  <a:srgbClr val="595959"/>
                </a:solidFill>
                <a:latin typeface="Calibri"/>
              </a:rPr>
              <a:t>Wind Point Partners</a:t>
            </a:r>
          </a:p>
        </p:txBody>
      </p:sp>
      <p:sp>
        <p:nvSpPr>
          <p:cNvPr id="23" name="Rectangle 22"/>
          <p:cNvSpPr/>
          <p:nvPr/>
        </p:nvSpPr>
        <p:spPr>
          <a:xfrm>
            <a:off x="7300000" y="1980000"/>
            <a:ext cx="120000" cy="120000"/>
          </a:xfrm>
          <a:prstGeom prst="rect">
            <a:avLst/>
          </a:prstGeom>
          <a:solidFill>
            <a:srgbClr val="76B7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50000" y="1950000"/>
            <a:ext cx="1600000" cy="200000"/>
          </a:xfrm>
          <a:prstGeom prst="rect">
            <a:avLst/>
          </a:prstGeom>
          <a:noFill/>
        </p:spPr>
        <p:txBody>
          <a:bodyPr wrap="none">
            <a:spAutoFit/>
          </a:bodyPr>
          <a:lstStyle/>
          <a:p>
            <a:r>
              <a:rPr sz="750" b="1">
                <a:solidFill>
                  <a:srgbClr val="393941"/>
                </a:solidFill>
                <a:latin typeface="Calibri"/>
              </a:rPr>
              <a:t>4% </a:t>
            </a:r>
            <a:r>
              <a:rPr sz="750">
                <a:solidFill>
                  <a:srgbClr val="595959"/>
                </a:solidFill>
                <a:latin typeface="Calibri"/>
              </a:rPr>
              <a:t>Dunes Point Capital</a:t>
            </a:r>
          </a:p>
        </p:txBody>
      </p:sp>
      <p:sp>
        <p:nvSpPr>
          <p:cNvPr id="25" name="Rectangle 24"/>
          <p:cNvSpPr/>
          <p:nvPr/>
        </p:nvSpPr>
        <p:spPr>
          <a:xfrm>
            <a:off x="7300000" y="2180000"/>
            <a:ext cx="120000" cy="120000"/>
          </a:xfrm>
          <a:prstGeom prst="rect">
            <a:avLst/>
          </a:prstGeom>
          <a:solidFill>
            <a:srgbClr val="EDC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50000" y="2150000"/>
            <a:ext cx="1600000" cy="200000"/>
          </a:xfrm>
          <a:prstGeom prst="rect">
            <a:avLst/>
          </a:prstGeom>
          <a:noFill/>
        </p:spPr>
        <p:txBody>
          <a:bodyPr wrap="none">
            <a:spAutoFit/>
          </a:bodyPr>
          <a:lstStyle/>
          <a:p>
            <a:r>
              <a:rPr sz="750" b="1">
                <a:solidFill>
                  <a:srgbClr val="393941"/>
                </a:solidFill>
                <a:latin typeface="Calibri"/>
              </a:rPr>
              <a:t>4% </a:t>
            </a:r>
            <a:r>
              <a:rPr sz="750">
                <a:solidFill>
                  <a:srgbClr val="595959"/>
                </a:solidFill>
                <a:latin typeface="Calibri"/>
              </a:rPr>
              <a:t>44 Maple Group</a:t>
            </a:r>
          </a:p>
        </p:txBody>
      </p:sp>
      <p:sp>
        <p:nvSpPr>
          <p:cNvPr id="27" name="Rectangle 26"/>
          <p:cNvSpPr/>
          <p:nvPr/>
        </p:nvSpPr>
        <p:spPr>
          <a:xfrm>
            <a:off x="7300000" y="2380000"/>
            <a:ext cx="120000" cy="120000"/>
          </a:xfrm>
          <a:prstGeom prst="rect">
            <a:avLst/>
          </a:prstGeom>
          <a:solidFill>
            <a:srgbClr val="AF7A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50000" y="2350000"/>
            <a:ext cx="1600000" cy="200000"/>
          </a:xfrm>
          <a:prstGeom prst="rect">
            <a:avLst/>
          </a:prstGeom>
          <a:noFill/>
        </p:spPr>
        <p:txBody>
          <a:bodyPr wrap="none">
            <a:spAutoFit/>
          </a:bodyPr>
          <a:lstStyle/>
          <a:p>
            <a:r>
              <a:rPr sz="750" b="1">
                <a:solidFill>
                  <a:srgbClr val="393941"/>
                </a:solidFill>
                <a:latin typeface="Calibri"/>
              </a:rPr>
              <a:t>4% </a:t>
            </a:r>
            <a:r>
              <a:rPr sz="750">
                <a:solidFill>
                  <a:srgbClr val="595959"/>
                </a:solidFill>
                <a:latin typeface="Calibri"/>
              </a:rPr>
              <a:t>Incline Equity</a:t>
            </a:r>
          </a:p>
        </p:txBody>
      </p:sp>
      <p:sp>
        <p:nvSpPr>
          <p:cNvPr id="29" name="Rectangle 28"/>
          <p:cNvSpPr/>
          <p:nvPr/>
        </p:nvSpPr>
        <p:spPr>
          <a:xfrm>
            <a:off x="7300000" y="2580000"/>
            <a:ext cx="120000" cy="120000"/>
          </a:xfrm>
          <a:prstGeom prst="rect">
            <a:avLst/>
          </a:prstGeom>
          <a:solidFill>
            <a:srgbClr val="FF9D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50000" y="2550000"/>
            <a:ext cx="1600000" cy="200000"/>
          </a:xfrm>
          <a:prstGeom prst="rect">
            <a:avLst/>
          </a:prstGeom>
          <a:noFill/>
        </p:spPr>
        <p:txBody>
          <a:bodyPr wrap="none">
            <a:spAutoFit/>
          </a:bodyPr>
          <a:lstStyle/>
          <a:p>
            <a:r>
              <a:rPr sz="750" b="1">
                <a:solidFill>
                  <a:srgbClr val="393941"/>
                </a:solidFill>
                <a:latin typeface="Calibri"/>
              </a:rPr>
              <a:t>3% </a:t>
            </a:r>
            <a:r>
              <a:rPr sz="750">
                <a:solidFill>
                  <a:srgbClr val="595959"/>
                </a:solidFill>
                <a:latin typeface="Calibri"/>
              </a:rPr>
              <a:t>HPS Investment</a:t>
            </a:r>
          </a:p>
        </p:txBody>
      </p:sp>
      <p:sp>
        <p:nvSpPr>
          <p:cNvPr id="31" name="Rectangle 30"/>
          <p:cNvSpPr/>
          <p:nvPr/>
        </p:nvSpPr>
        <p:spPr>
          <a:xfrm>
            <a:off x="7300000" y="2780000"/>
            <a:ext cx="120000" cy="120000"/>
          </a:xfrm>
          <a:prstGeom prst="rect">
            <a:avLst/>
          </a:prstGeom>
          <a:solidFill>
            <a:srgbClr val="9C9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450000" y="2750000"/>
            <a:ext cx="1600000" cy="200000"/>
          </a:xfrm>
          <a:prstGeom prst="rect">
            <a:avLst/>
          </a:prstGeom>
          <a:noFill/>
        </p:spPr>
        <p:txBody>
          <a:bodyPr wrap="none">
            <a:spAutoFit/>
          </a:bodyPr>
          <a:lstStyle/>
          <a:p>
            <a:r>
              <a:rPr sz="750" b="1">
                <a:solidFill>
                  <a:srgbClr val="393941"/>
                </a:solidFill>
                <a:latin typeface="Calibri"/>
              </a:rPr>
              <a:t>59% </a:t>
            </a:r>
            <a:r>
              <a:rPr sz="750">
                <a:solidFill>
                  <a:srgbClr val="595959"/>
                </a:solidFill>
                <a:latin typeface="Calibri"/>
              </a:rPr>
              <a:t>62 Others</a:t>
            </a:r>
          </a:p>
        </p:txBody>
      </p:sp>
      <p:sp>
        <p:nvSpPr>
          <p:cNvPr id="34" name="TextBox 33"/>
          <p:cNvSpPr txBox="1"/>
          <p:nvPr/>
        </p:nvSpPr>
        <p:spPr>
          <a:xfrm>
            <a:off x="1681483" y="3870000"/>
            <a:ext cx="6500000" cy="430887"/>
          </a:xfrm>
          <a:prstGeom prst="rect">
            <a:avLst/>
          </a:prstGeom>
          <a:noFill/>
        </p:spPr>
        <p:txBody>
          <a:bodyPr wrap="square">
            <a:spAutoFit/>
          </a:bodyPr>
          <a:lstStyle/>
          <a:p>
            <a:pPr>
              <a:buClr>
                <a:srgbClr val="F66C2E"/>
              </a:buClr>
              <a:buFont typeface="Wingdings"/>
              <a:buChar char="§"/>
            </a:pPr>
            <a:r>
              <a:rPr lang="en-US" sz="1100">
                <a:solidFill>
                  <a:srgbClr val="595959"/>
                </a:solidFill>
                <a:latin typeface="Calibri"/>
              </a:rPr>
              <a:t>   </a:t>
            </a:r>
            <a:r>
              <a:rPr sz="1100">
                <a:solidFill>
                  <a:srgbClr val="595959"/>
                </a:solidFill>
                <a:latin typeface="Calibri"/>
              </a:rPr>
              <a:t>Pipeline adds totaled $42.8M across 146 opportunities [avg. deal size: $293K]</a:t>
            </a:r>
          </a:p>
          <a:p>
            <a:pPr>
              <a:buClr>
                <a:srgbClr val="F66C2E"/>
              </a:buClr>
              <a:buFont typeface="Wingdings"/>
              <a:buChar char="§"/>
            </a:pPr>
            <a:r>
              <a:rPr lang="en-US" sz="1100">
                <a:solidFill>
                  <a:srgbClr val="595959"/>
                </a:solidFill>
                <a:latin typeface="Calibri"/>
              </a:rPr>
              <a:t>   </a:t>
            </a:r>
            <a:r>
              <a:rPr sz="1100">
                <a:solidFill>
                  <a:srgbClr val="595959"/>
                </a:solidFill>
                <a:latin typeface="Calibri"/>
              </a:rPr>
              <a:t>Diversified PE sourcing: top PE (</a:t>
            </a:r>
            <a:r>
              <a:rPr sz="1100" err="1">
                <a:solidFill>
                  <a:srgbClr val="595959"/>
                </a:solidFill>
                <a:latin typeface="Calibri"/>
              </a:rPr>
              <a:t>Trivest</a:t>
            </a:r>
            <a:r>
              <a:rPr sz="1100">
                <a:solidFill>
                  <a:srgbClr val="595959"/>
                </a:solidFill>
                <a:latin typeface="Calibri"/>
              </a:rPr>
              <a:t> Partners) accounts for only 8% of pipeline</a:t>
            </a:r>
          </a:p>
        </p:txBody>
      </p:sp>
      <p:sp>
        <p:nvSpPr>
          <p:cNvPr id="35" name="TextBox 34">
            <a:extLst>
              <a:ext uri="{FF2B5EF4-FFF2-40B4-BE49-F238E27FC236}">
                <a16:creationId xmlns:a16="http://schemas.microsoft.com/office/drawing/2014/main" id="{B97953BD-411C-53ED-D6CC-AB477BA7EDA4}"/>
              </a:ext>
            </a:extLst>
          </p:cNvPr>
          <p:cNvSpPr txBox="1"/>
          <p:nvPr/>
        </p:nvSpPr>
        <p:spPr>
          <a:xfrm>
            <a:off x="4751980" y="818735"/>
            <a:ext cx="1617751" cy="215444"/>
          </a:xfrm>
          <a:prstGeom prst="rect">
            <a:avLst/>
          </a:prstGeom>
          <a:noFill/>
        </p:spPr>
        <p:txBody>
          <a:bodyPr wrap="none">
            <a:spAutoFit/>
          </a:bodyPr>
          <a:lstStyle/>
          <a:p>
            <a:pPr algn="l"/>
            <a:r>
              <a:rPr sz="800" b="1">
                <a:solidFill>
                  <a:srgbClr val="F66C2E"/>
                </a:solidFill>
                <a:latin typeface="Calibri"/>
              </a:rPr>
              <a:t>Total: $42.8M (146 opportunities)</a:t>
            </a:r>
          </a:p>
        </p:txBody>
      </p:sp>
      <p:sp>
        <p:nvSpPr>
          <p:cNvPr id="36" name="Isosceles Triangle 14">
            <a:extLst>
              <a:ext uri="{FF2B5EF4-FFF2-40B4-BE49-F238E27FC236}">
                <a16:creationId xmlns:a16="http://schemas.microsoft.com/office/drawing/2014/main" id="{3C4707B3-A089-F7FF-4883-1DB5E0B4279D}"/>
              </a:ext>
            </a:extLst>
          </p:cNvPr>
          <p:cNvSpPr/>
          <p:nvPr/>
        </p:nvSpPr>
        <p:spPr>
          <a:xfrm rot="5400000">
            <a:off x="957888" y="4026867"/>
            <a:ext cx="800430" cy="166229"/>
          </a:xfrm>
          <a:prstGeom prst="triangle">
            <a:avLst/>
          </a:prstGeom>
          <a:solidFill>
            <a:srgbClr val="F66C2E"/>
          </a:solidFill>
          <a:ln>
            <a:solidFill>
              <a:srgbClr val="F66C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Slide Number Placeholder 37"/>
          <p:cNvSpPr/>
          <p:nvPr/>
        </p:nvSpPr>
        <p:spPr>
          <a:xfrm>
            <a:off x="8503920" y="4754880"/>
            <a:ext cx="457200" cy="274320"/>
          </a:xfrm>
          <a:prstGeom prst="rect">
            <a:avLst/>
          </a:prstGeom>
          <a:noFill/>
          <a:ln/>
        </p:spPr>
        <p:txBody>
          <a:bodyPr wrap="square" rtlCol="0" anchor="ctr"/>
          <a:lstStyle/>
          <a:p>
            <a:pPr marL="0" indent="0" algn="r">
              <a:buNone/>
            </a:pPr>
            <a:fld id="{C6553089-D838-4F95-88EB-B994C96510A1}" type="slidenum">
              <a:rPr lang="en-US" sz="1000" smtClean="0">
                <a:solidFill>
                  <a:srgbClr val="999999"/>
                </a:solidFill>
                <a:latin typeface="Avenir" pitchFamily="34" charset="0"/>
                <a:ea typeface="Avenir" pitchFamily="34" charset="-122"/>
                <a:cs typeface="Avenir" pitchFamily="34" charset="-120"/>
              </a:rPr>
              <a:t>13</a:t>
            </a:fld>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F93E64-335C-EE35-E0F7-D9D96658C9BE}"/>
            </a:ext>
          </a:extLst>
        </p:cNvPr>
        <p:cNvGrpSpPr/>
        <p:nvPr/>
      </p:nvGrpSpPr>
      <p:grpSpPr>
        <a:xfrm>
          <a:off x="0" y="0"/>
          <a:ext cx="0" cy="0"/>
          <a:chOff x="0" y="0"/>
          <a:chExt cx="0" cy="0"/>
        </a:xfrm>
      </p:grpSpPr>
      <p:sp>
        <p:nvSpPr>
          <p:cNvPr id="99" name="Accent Bar">
            <a:extLst>
              <a:ext uri="{FF2B5EF4-FFF2-40B4-BE49-F238E27FC236}">
                <a16:creationId xmlns:a16="http://schemas.microsoft.com/office/drawing/2014/main" id="{CEBB87C7-7518-7518-C27D-68C2E3133EED}"/>
              </a:ext>
            </a:extLst>
          </p:cNvP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a:extLst>
              <a:ext uri="{FF2B5EF4-FFF2-40B4-BE49-F238E27FC236}">
                <a16:creationId xmlns:a16="http://schemas.microsoft.com/office/drawing/2014/main" id="{BC925E2F-CD9C-DD6F-F6AD-D54D7265CFFA}"/>
              </a:ext>
            </a:extLst>
          </p:cNvPr>
          <p:cNvPicPr>
            <a:picLocks noChangeAspect="1"/>
          </p:cNvPicPr>
          <p:nvPr/>
        </p:nvPicPr>
        <p:blipFill>
          <a:blip r:embed="rId3"/>
          <a:stretch>
            <a:fillRect/>
          </a:stretch>
        </p:blipFill>
        <p:spPr>
          <a:xfrm>
            <a:off x="7692000" y="182880"/>
            <a:ext cx="1252732" cy="217467"/>
          </a:xfrm>
          <a:prstGeom prst="rect">
            <a:avLst/>
          </a:prstGeom>
        </p:spPr>
      </p:pic>
      <p:sp>
        <p:nvSpPr>
          <p:cNvPr id="4" name="Shape 1">
            <a:extLst>
              <a:ext uri="{FF2B5EF4-FFF2-40B4-BE49-F238E27FC236}">
                <a16:creationId xmlns:a16="http://schemas.microsoft.com/office/drawing/2014/main" id="{9665E838-6687-0493-9802-B00317C58E4E}"/>
              </a:ext>
            </a:extLst>
          </p:cNvPr>
          <p:cNvSpPr/>
          <p:nvPr/>
        </p:nvSpPr>
        <p:spPr>
          <a:xfrm>
            <a:off x="7692000" y="430347"/>
            <a:ext cx="1252732" cy="36576"/>
          </a:xfrm>
          <a:prstGeom prst="rect">
            <a:avLst/>
          </a:prstGeom>
          <a:solidFill>
            <a:srgbClr val="E8642C"/>
          </a:solidFill>
          <a:ln/>
        </p:spPr>
        <p:txBody>
          <a:bodyPr/>
          <a:lstStyle/>
          <a:p>
            <a:endParaRPr lang="en-US"/>
          </a:p>
        </p:txBody>
      </p:sp>
      <p:sp>
        <p:nvSpPr>
          <p:cNvPr id="5" name="Text 2">
            <a:extLst>
              <a:ext uri="{FF2B5EF4-FFF2-40B4-BE49-F238E27FC236}">
                <a16:creationId xmlns:a16="http://schemas.microsoft.com/office/drawing/2014/main" id="{48ECB527-5513-4AE7-B6A4-85E474666ED3}"/>
              </a:ext>
            </a:extLst>
          </p:cNvPr>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KSA Progress</a:t>
            </a:r>
            <a:endParaRPr lang="en-US" sz="2800"/>
          </a:p>
        </p:txBody>
      </p:sp>
      <p:pic>
        <p:nvPicPr>
          <p:cNvPr id="9" name="Picture 8" descr="A graph with blue bars and numbers  AI-generated content may be incorrect.">
            <a:extLst>
              <a:ext uri="{FF2B5EF4-FFF2-40B4-BE49-F238E27FC236}">
                <a16:creationId xmlns:a16="http://schemas.microsoft.com/office/drawing/2014/main" id="{2CF0DD74-0146-CD72-A378-DDE603A82974}"/>
              </a:ext>
            </a:extLst>
          </p:cNvPr>
          <p:cNvPicPr>
            <a:picLocks noChangeAspect="1"/>
          </p:cNvPicPr>
          <p:nvPr/>
        </p:nvPicPr>
        <p:blipFill>
          <a:blip r:embed="rId4"/>
          <a:stretch>
            <a:fillRect/>
          </a:stretch>
        </p:blipFill>
        <p:spPr>
          <a:xfrm>
            <a:off x="715618" y="1182865"/>
            <a:ext cx="7446010" cy="1601470"/>
          </a:xfrm>
          <a:prstGeom prst="rect">
            <a:avLst/>
          </a:prstGeom>
        </p:spPr>
      </p:pic>
      <p:sp>
        <p:nvSpPr>
          <p:cNvPr id="10" name="Isosceles Triangle 9">
            <a:extLst>
              <a:ext uri="{FF2B5EF4-FFF2-40B4-BE49-F238E27FC236}">
                <a16:creationId xmlns:a16="http://schemas.microsoft.com/office/drawing/2014/main" id="{17F6ECBF-AF19-E25F-7933-DE3037E82BA5}"/>
              </a:ext>
            </a:extLst>
          </p:cNvPr>
          <p:cNvSpPr/>
          <p:nvPr/>
        </p:nvSpPr>
        <p:spPr>
          <a:xfrm rot="5400000">
            <a:off x="1697743" y="3919801"/>
            <a:ext cx="755889" cy="179352"/>
          </a:xfrm>
          <a:prstGeom prst="triangle">
            <a:avLst/>
          </a:prstGeom>
          <a:solidFill>
            <a:srgbClr val="F66C2E"/>
          </a:solidFill>
          <a:ln>
            <a:solidFill>
              <a:srgbClr val="F66C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TextBox 1">
            <a:extLst>
              <a:ext uri="{FF2B5EF4-FFF2-40B4-BE49-F238E27FC236}">
                <a16:creationId xmlns:a16="http://schemas.microsoft.com/office/drawing/2014/main" id="{69FEAAED-6321-0F87-B3D5-D02C5F76E78D}"/>
              </a:ext>
            </a:extLst>
          </p:cNvPr>
          <p:cNvSpPr txBox="1"/>
          <p:nvPr/>
        </p:nvSpPr>
        <p:spPr>
          <a:xfrm>
            <a:off x="2402061" y="3411734"/>
            <a:ext cx="5390217" cy="1097801"/>
          </a:xfrm>
          <a:prstGeom prst="rect">
            <a:avLst/>
          </a:prstGeom>
          <a:noFill/>
        </p:spPr>
        <p:txBody>
          <a:bodyPr wrap="square" lIns="91440" tIns="45720" rIns="91440" bIns="45720" anchor="t">
            <a:spAutoFit/>
          </a:bodyPr>
          <a:lstStyle>
            <a:defPPr>
              <a:defRPr lang="en-US"/>
            </a:defPPr>
            <a:lvl1pPr marL="0" algn="l" defTabSz="914400" rtl="0" eaLnBrk="1" fontAlgn="base" latinLnBrk="0" hangingPunct="1">
              <a:spcBef>
                <a:spcPct val="0"/>
              </a:spcBef>
              <a:spcAft>
                <a:spcPct val="0"/>
              </a:spcAft>
              <a:defRPr sz="1800" kern="1200">
                <a:solidFill>
                  <a:schemeClr val="tx1"/>
                </a:solidFill>
                <a:latin typeface="Arial" charset="0"/>
                <a:ea typeface="+mn-ea"/>
                <a:cs typeface="Arial" charset="0"/>
              </a:defRPr>
            </a:lvl1pPr>
            <a:lvl2pPr marL="457200" algn="l" defTabSz="914400" rtl="0" eaLnBrk="1" fontAlgn="base" latinLnBrk="0" hangingPunct="1">
              <a:spcBef>
                <a:spcPct val="0"/>
              </a:spcBef>
              <a:spcAft>
                <a:spcPct val="0"/>
              </a:spcAft>
              <a:defRPr sz="1800" kern="1200">
                <a:solidFill>
                  <a:schemeClr val="tx1"/>
                </a:solidFill>
                <a:latin typeface="Arial" charset="0"/>
                <a:ea typeface="+mn-ea"/>
                <a:cs typeface="Arial" charset="0"/>
              </a:defRPr>
            </a:lvl2pPr>
            <a:lvl3pPr marL="914400" algn="l" defTabSz="914400" rtl="0" eaLnBrk="1" fontAlgn="base" latinLnBrk="0" hangingPunct="1">
              <a:spcBef>
                <a:spcPct val="0"/>
              </a:spcBef>
              <a:spcAft>
                <a:spcPct val="0"/>
              </a:spcAft>
              <a:defRPr sz="1800" kern="1200">
                <a:solidFill>
                  <a:schemeClr val="tx1"/>
                </a:solidFill>
                <a:latin typeface="Arial" charset="0"/>
                <a:ea typeface="+mn-ea"/>
                <a:cs typeface="Arial" charset="0"/>
              </a:defRPr>
            </a:lvl3pPr>
            <a:lvl4pPr marL="1371600" algn="l" defTabSz="914400" rtl="0" eaLnBrk="1" fontAlgn="base" latinLnBrk="0" hangingPunct="1">
              <a:spcBef>
                <a:spcPct val="0"/>
              </a:spcBef>
              <a:spcAft>
                <a:spcPct val="0"/>
              </a:spcAft>
              <a:defRPr sz="1800" kern="1200">
                <a:solidFill>
                  <a:schemeClr val="tx1"/>
                </a:solidFill>
                <a:latin typeface="Arial" charset="0"/>
                <a:ea typeface="+mn-ea"/>
                <a:cs typeface="Arial" charset="0"/>
              </a:defRPr>
            </a:lvl4pPr>
            <a:lvl5pPr marL="1828800" algn="l" defTabSz="914400" rtl="0" eaLnBrk="1" fontAlgn="base" latinLnBrk="0" hangingPunct="1">
              <a:spcBef>
                <a:spcPct val="0"/>
              </a:spcBef>
              <a:spcAft>
                <a:spcPct val="0"/>
              </a:spcAft>
              <a:defRPr sz="1800" kern="1200">
                <a:solidFill>
                  <a:schemeClr val="tx1"/>
                </a:solidFill>
                <a:latin typeface="Arial" charset="0"/>
                <a:ea typeface="+mn-ea"/>
                <a:cs typeface="Arial" charset="0"/>
              </a:defRPr>
            </a:lvl5pPr>
            <a:lvl6pPr marL="2286000" algn="l" defTabSz="914400" rtl="0" eaLnBrk="1" latinLnBrk="0" hangingPunct="1">
              <a:defRPr sz="1800" kern="1200">
                <a:solidFill>
                  <a:schemeClr val="tx1"/>
                </a:solidFill>
                <a:latin typeface="Arial" charset="0"/>
                <a:ea typeface="+mn-ea"/>
                <a:cs typeface="Arial" charset="0"/>
              </a:defRPr>
            </a:lvl6pPr>
            <a:lvl7pPr marL="2743200" algn="l" defTabSz="914400" rtl="0" eaLnBrk="1" latinLnBrk="0" hangingPunct="1">
              <a:defRPr sz="1800" kern="1200">
                <a:solidFill>
                  <a:schemeClr val="tx1"/>
                </a:solidFill>
                <a:latin typeface="Arial" charset="0"/>
                <a:ea typeface="+mn-ea"/>
                <a:cs typeface="Arial" charset="0"/>
              </a:defRPr>
            </a:lvl7pPr>
            <a:lvl8pPr marL="3200400" algn="l" defTabSz="914400" rtl="0" eaLnBrk="1" latinLnBrk="0" hangingPunct="1">
              <a:defRPr sz="1800" kern="1200">
                <a:solidFill>
                  <a:schemeClr val="tx1"/>
                </a:solidFill>
                <a:latin typeface="Arial" charset="0"/>
                <a:ea typeface="+mn-ea"/>
                <a:cs typeface="Arial" charset="0"/>
              </a:defRPr>
            </a:lvl8pPr>
            <a:lvl9pPr marL="3657600" algn="l" defTabSz="914400" rtl="0" eaLnBrk="1" latinLnBrk="0" hangingPunct="1">
              <a:defRPr sz="1800" kern="1200">
                <a:solidFill>
                  <a:schemeClr val="tx1"/>
                </a:solidFill>
                <a:latin typeface="Arial" charset="0"/>
                <a:ea typeface="+mn-ea"/>
                <a:cs typeface="Arial" charset="0"/>
              </a:defRPr>
            </a:lvl9pPr>
          </a:lstStyle>
          <a:p>
            <a:pPr marL="342900" indent="-342900">
              <a:lnSpc>
                <a:spcPct val="110000"/>
              </a:lnSpc>
              <a:buClr>
                <a:srgbClr val="F66C2E"/>
              </a:buClr>
              <a:buFont typeface="Wingdings" panose="05000000000000000000" pitchFamily="2" charset="2"/>
              <a:buChar char="§"/>
              <a:tabLst>
                <a:tab pos="457200" algn="l"/>
              </a:tabLst>
            </a:pPr>
            <a:r>
              <a:rPr lang="en-US" sz="1200">
                <a:latin typeface="Calibri"/>
                <a:ea typeface="MS PGothic"/>
                <a:cs typeface="Times New Roman"/>
              </a:rPr>
              <a:t>LLCP cemented as a true KSA in Q4 with 5 consulting projects in Q4</a:t>
            </a:r>
          </a:p>
          <a:p>
            <a:pPr marL="342900" indent="-342900">
              <a:lnSpc>
                <a:spcPct val="110000"/>
              </a:lnSpc>
              <a:buClr>
                <a:srgbClr val="F66C2E"/>
              </a:buClr>
              <a:buFont typeface="Wingdings" panose="05000000000000000000" pitchFamily="2" charset="2"/>
              <a:buChar char="§"/>
              <a:tabLst>
                <a:tab pos="457200" algn="l"/>
              </a:tabLst>
            </a:pPr>
            <a:r>
              <a:rPr lang="en-US" sz="1200">
                <a:latin typeface="Calibri"/>
                <a:ea typeface="MS PGothic"/>
                <a:cs typeface="Times New Roman"/>
              </a:rPr>
              <a:t>Top KSA candidates for 2026 are: Core Industrial, Gridiron Capital, Gauge Capital, Waud Capital, TZP Group</a:t>
            </a:r>
          </a:p>
          <a:p>
            <a:pPr marL="342900" indent="-342900">
              <a:lnSpc>
                <a:spcPct val="110000"/>
              </a:lnSpc>
              <a:buClr>
                <a:srgbClr val="F66C2E"/>
              </a:buClr>
              <a:buFont typeface="Wingdings" panose="05000000000000000000" pitchFamily="2" charset="2"/>
              <a:buChar char="§"/>
              <a:tabLst>
                <a:tab pos="457200" algn="l"/>
              </a:tabLst>
            </a:pPr>
            <a:r>
              <a:rPr lang="en-US" sz="1200">
                <a:latin typeface="Calibri"/>
                <a:ea typeface="MS PGothic"/>
                <a:cs typeface="Times New Roman"/>
              </a:rPr>
              <a:t>Major focus among BDMs in 2026 of re-engaging "Warm Prospects" of which we have another 200+ Private Equity Firms</a:t>
            </a:r>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93BB9DE9-071F-4AD5-83D1-A72637A3CEA9}" type="slidenum">
              <a:rPr lang="en-US" sz="1000" smtClean="0">
                <a:solidFill>
                  <a:srgbClr val="999999"/>
                </a:solidFill>
                <a:latin typeface="Avenir" pitchFamily="34" charset="0"/>
                <a:ea typeface="Avenir" pitchFamily="34" charset="-122"/>
                <a:cs typeface="Avenir" pitchFamily="34" charset="-120"/>
              </a:rPr>
              <a:t>14</a:t>
            </a:fld>
            <a:endParaRPr lang="en-US" sz="1000"/>
          </a:p>
        </p:txBody>
      </p:sp>
    </p:spTree>
    <p:extLst>
      <p:ext uri="{BB962C8B-B14F-4D97-AF65-F5344CB8AC3E}">
        <p14:creationId xmlns:p14="http://schemas.microsoft.com/office/powerpoint/2010/main" val="2079127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85C11-0FAE-2606-564A-D2D08C3D3A8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03AC1D-4343-EC36-17A4-6D9521BED5CF}"/>
              </a:ext>
            </a:extLst>
          </p:cNvPr>
          <p:cNvSpPr>
            <a:spLocks noGrp="1"/>
          </p:cNvSpPr>
          <p:nvPr>
            <p:ph type="sldNum" sz="quarter" idx="12"/>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endParaRPr lang="en-US"/>
          </a:p>
        </p:txBody>
      </p:sp>
      <p:sp>
        <p:nvSpPr>
          <p:cNvPr id="8" name="TextBox 7">
            <a:extLst>
              <a:ext uri="{FF2B5EF4-FFF2-40B4-BE49-F238E27FC236}">
                <a16:creationId xmlns:a16="http://schemas.microsoft.com/office/drawing/2014/main" id="{5DBA53EA-469D-5423-4A8F-764D5B4D6128}"/>
              </a:ext>
            </a:extLst>
          </p:cNvPr>
          <p:cNvSpPr txBox="1"/>
          <p:nvPr/>
        </p:nvSpPr>
        <p:spPr>
          <a:xfrm>
            <a:off x="541475" y="222410"/>
            <a:ext cx="6121718" cy="500137"/>
          </a:xfrm>
          <a:prstGeom prst="rect">
            <a:avLst/>
          </a:prstGeom>
          <a:noFill/>
        </p:spPr>
        <p:txBody>
          <a:bodyPr wrap="square" lIns="68580" tIns="34290" rIns="68580" bIns="3429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solidFill>
                  <a:srgbClr val="393941"/>
                </a:solidFill>
              </a:rPr>
              <a:t>Current Consulting Pipeline</a:t>
            </a:r>
          </a:p>
        </p:txBody>
      </p:sp>
      <p:sp>
        <p:nvSpPr>
          <p:cNvPr id="9" name="TextBox 1">
            <a:extLst>
              <a:ext uri="{FF2B5EF4-FFF2-40B4-BE49-F238E27FC236}">
                <a16:creationId xmlns:a16="http://schemas.microsoft.com/office/drawing/2014/main" id="{88AC309B-00F1-4F28-4358-4BA81A817DD9}"/>
              </a:ext>
            </a:extLst>
          </p:cNvPr>
          <p:cNvSpPr txBox="1"/>
          <p:nvPr/>
        </p:nvSpPr>
        <p:spPr>
          <a:xfrm>
            <a:off x="2431626" y="4061669"/>
            <a:ext cx="4796109" cy="775405"/>
          </a:xfrm>
          <a:prstGeom prst="rect">
            <a:avLst/>
          </a:prstGeom>
          <a:noFill/>
        </p:spPr>
        <p:txBody>
          <a:bodyPr wrap="square" lIns="68580" tIns="34290" rIns="68580" bIns="3429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57175" indent="-257175">
              <a:lnSpc>
                <a:spcPct val="110000"/>
              </a:lnSpc>
              <a:buClr>
                <a:srgbClr val="F66C2E"/>
              </a:buClr>
              <a:buFont typeface="Wingdings" panose="05000000000000000000" pitchFamily="2" charset="2"/>
              <a:buChar char="§"/>
              <a:tabLst>
                <a:tab pos="342900" algn="l"/>
              </a:tabLst>
            </a:pPr>
            <a:r>
              <a:rPr lang="en-US" sz="1050">
                <a:latin typeface="Calibri"/>
                <a:ea typeface="MS PGothic"/>
                <a:cs typeface="Times New Roman"/>
              </a:rPr>
              <a:t>Overall Consulting Pipeline is healthy</a:t>
            </a:r>
          </a:p>
          <a:p>
            <a:pPr marL="257175" indent="-257175">
              <a:lnSpc>
                <a:spcPct val="110000"/>
              </a:lnSpc>
              <a:buClr>
                <a:srgbClr val="F66C2E"/>
              </a:buClr>
              <a:buFont typeface="Wingdings" panose="05000000000000000000" pitchFamily="2" charset="2"/>
              <a:buChar char="§"/>
              <a:tabLst>
                <a:tab pos="342900" algn="l"/>
              </a:tabLst>
            </a:pPr>
            <a:r>
              <a:rPr lang="en-US" sz="1050">
                <a:latin typeface="Calibri"/>
                <a:ea typeface="MS PGothic"/>
                <a:cs typeface="Times New Roman"/>
              </a:rPr>
              <a:t>Have created "pushed category" to isolate those deals that have pushed out</a:t>
            </a:r>
          </a:p>
          <a:p>
            <a:pPr marL="257175" indent="-257175">
              <a:lnSpc>
                <a:spcPct val="110000"/>
              </a:lnSpc>
              <a:buClr>
                <a:srgbClr val="F66C2E"/>
              </a:buClr>
              <a:buFont typeface="Wingdings" panose="05000000000000000000" pitchFamily="2" charset="2"/>
              <a:buChar char="§"/>
              <a:tabLst>
                <a:tab pos="342900" algn="l"/>
              </a:tabLst>
            </a:pPr>
            <a:r>
              <a:rPr lang="en-US" sz="1050">
                <a:latin typeface="Calibri"/>
                <a:ea typeface="MS PGothic"/>
                <a:cs typeface="Times New Roman"/>
              </a:rPr>
              <a:t>Open </a:t>
            </a:r>
            <a:r>
              <a:rPr lang="en-US" sz="1050" err="1">
                <a:latin typeface="Calibri"/>
                <a:ea typeface="MS PGothic"/>
                <a:cs typeface="Times New Roman"/>
              </a:rPr>
              <a:t>opps</a:t>
            </a:r>
            <a:r>
              <a:rPr lang="en-US" sz="1050">
                <a:latin typeface="Calibri"/>
                <a:ea typeface="MS PGothic"/>
                <a:cs typeface="Times New Roman"/>
              </a:rPr>
              <a:t> across 47 PE firms</a:t>
            </a:r>
          </a:p>
          <a:p>
            <a:pPr marL="257175" indent="-257175">
              <a:lnSpc>
                <a:spcPct val="110000"/>
              </a:lnSpc>
              <a:buClr>
                <a:srgbClr val="F66C2E"/>
              </a:buClr>
              <a:buFont typeface="Wingdings" panose="05000000000000000000" pitchFamily="2" charset="2"/>
              <a:buChar char="§"/>
              <a:tabLst>
                <a:tab pos="342900" algn="l"/>
              </a:tabLst>
            </a:pPr>
            <a:endParaRPr lang="en-US" sz="1050">
              <a:latin typeface="+mn-lt"/>
              <a:ea typeface="MS PGothic"/>
              <a:cs typeface="Times New Roman"/>
            </a:endParaRPr>
          </a:p>
        </p:txBody>
      </p:sp>
      <p:sp>
        <p:nvSpPr>
          <p:cNvPr id="10" name="Isosceles Triangle 9">
            <a:extLst>
              <a:ext uri="{FF2B5EF4-FFF2-40B4-BE49-F238E27FC236}">
                <a16:creationId xmlns:a16="http://schemas.microsoft.com/office/drawing/2014/main" id="{453409F1-F648-90FD-E830-CCE66E30F6F7}"/>
              </a:ext>
            </a:extLst>
          </p:cNvPr>
          <p:cNvSpPr/>
          <p:nvPr/>
        </p:nvSpPr>
        <p:spPr>
          <a:xfrm rot="5400000">
            <a:off x="1483830" y="4400237"/>
            <a:ext cx="864869" cy="98267"/>
          </a:xfrm>
          <a:prstGeom prst="triangle">
            <a:avLst/>
          </a:prstGeom>
          <a:solidFill>
            <a:srgbClr val="F66C2E"/>
          </a:solidFill>
          <a:ln>
            <a:solidFill>
              <a:srgbClr val="F66C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pic>
        <p:nvPicPr>
          <p:cNvPr id="4" name="Picture 3" descr="A graph with blue squares and black text  AI-generated content may be incorrect.">
            <a:extLst>
              <a:ext uri="{FF2B5EF4-FFF2-40B4-BE49-F238E27FC236}">
                <a16:creationId xmlns:a16="http://schemas.microsoft.com/office/drawing/2014/main" id="{2CD83E91-ACA9-064A-9216-257E800A0B83}"/>
              </a:ext>
            </a:extLst>
          </p:cNvPr>
          <p:cNvPicPr>
            <a:picLocks noChangeAspect="1"/>
          </p:cNvPicPr>
          <p:nvPr/>
        </p:nvPicPr>
        <p:blipFill>
          <a:blip r:embed="rId2"/>
          <a:stretch>
            <a:fillRect/>
          </a:stretch>
        </p:blipFill>
        <p:spPr>
          <a:xfrm>
            <a:off x="394414" y="2530308"/>
            <a:ext cx="7904226" cy="1489710"/>
          </a:xfrm>
          <a:prstGeom prst="rect">
            <a:avLst/>
          </a:prstGeom>
        </p:spPr>
      </p:pic>
      <p:pic>
        <p:nvPicPr>
          <p:cNvPr id="6" name="Picture 5" descr="A graph of a number of people  AI-generated content may be incorrect.">
            <a:extLst>
              <a:ext uri="{FF2B5EF4-FFF2-40B4-BE49-F238E27FC236}">
                <a16:creationId xmlns:a16="http://schemas.microsoft.com/office/drawing/2014/main" id="{2E652640-089E-19E1-696F-D4C74C6564F3}"/>
              </a:ext>
            </a:extLst>
          </p:cNvPr>
          <p:cNvPicPr>
            <a:picLocks noChangeAspect="1"/>
          </p:cNvPicPr>
          <p:nvPr/>
        </p:nvPicPr>
        <p:blipFill>
          <a:blip r:embed="rId3"/>
          <a:stretch>
            <a:fillRect/>
          </a:stretch>
        </p:blipFill>
        <p:spPr>
          <a:xfrm>
            <a:off x="394415" y="1002112"/>
            <a:ext cx="7571232" cy="1489710"/>
          </a:xfrm>
          <a:prstGeom prst="rect">
            <a:avLst/>
          </a:prstGeom>
        </p:spPr>
      </p:pic>
      <p:pic>
        <p:nvPicPr>
          <p:cNvPr id="7" name="Picture 6" descr="A close-up of numbers  AI-generated content may be incorrect.">
            <a:extLst>
              <a:ext uri="{FF2B5EF4-FFF2-40B4-BE49-F238E27FC236}">
                <a16:creationId xmlns:a16="http://schemas.microsoft.com/office/drawing/2014/main" id="{5F8CC3D3-4A83-9902-E654-2AD640A939E0}"/>
              </a:ext>
            </a:extLst>
          </p:cNvPr>
          <p:cNvPicPr>
            <a:picLocks noChangeAspect="1"/>
          </p:cNvPicPr>
          <p:nvPr/>
        </p:nvPicPr>
        <p:blipFill>
          <a:blip r:embed="rId4"/>
          <a:stretch>
            <a:fillRect/>
          </a:stretch>
        </p:blipFill>
        <p:spPr>
          <a:xfrm>
            <a:off x="485323" y="817493"/>
            <a:ext cx="2208276" cy="306705"/>
          </a:xfrm>
          <a:prstGeom prst="rect">
            <a:avLst/>
          </a:prstGeom>
        </p:spPr>
      </p:pic>
      <p:sp>
        <p:nvSpPr>
          <p:cNvPr id="11" name="Slide Number Placeholder 11"/>
          <p:cNvSpPr/>
          <p:nvPr/>
        </p:nvSpPr>
        <p:spPr>
          <a:xfrm>
            <a:off x="8503920" y="4754880"/>
            <a:ext cx="457200" cy="274320"/>
          </a:xfrm>
          <a:prstGeom prst="rect">
            <a:avLst/>
          </a:prstGeom>
          <a:noFill/>
          <a:ln/>
        </p:spPr>
        <p:txBody>
          <a:bodyPr wrap="square" rtlCol="0" anchor="ctr"/>
          <a:lstStyle/>
          <a:p>
            <a:pPr marL="0" indent="0" algn="r">
              <a:buNone/>
            </a:pPr>
            <a:fld id="{4E51F12D-1BE3-494D-81D0-681335C3576B}" type="slidenum">
              <a:rPr lang="en-US" sz="1000" smtClean="0">
                <a:solidFill>
                  <a:srgbClr val="999999"/>
                </a:solidFill>
                <a:latin typeface="Avenir" pitchFamily="34" charset="0"/>
                <a:ea typeface="Avenir" pitchFamily="34" charset="-122"/>
                <a:cs typeface="Avenir" pitchFamily="34" charset="-120"/>
              </a:rPr>
              <a:t>15</a:t>
            </a:fld>
            <a:endParaRPr lang="en-US" sz="1000"/>
          </a:p>
        </p:txBody>
      </p:sp>
    </p:spTree>
    <p:extLst>
      <p:ext uri="{BB962C8B-B14F-4D97-AF65-F5344CB8AC3E}">
        <p14:creationId xmlns:p14="http://schemas.microsoft.com/office/powerpoint/2010/main" val="3847035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998BD-9830-777C-9A6C-81F00AC030D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0B54E1A-11E4-64E2-4FE2-4EF3C0B330EE}"/>
              </a:ext>
            </a:extLst>
          </p:cNvPr>
          <p:cNvSpPr txBox="1"/>
          <p:nvPr/>
        </p:nvSpPr>
        <p:spPr>
          <a:xfrm>
            <a:off x="541476" y="182654"/>
            <a:ext cx="4044508" cy="500137"/>
          </a:xfrm>
          <a:prstGeom prst="rect">
            <a:avLst/>
          </a:prstGeom>
          <a:noFill/>
        </p:spPr>
        <p:txBody>
          <a:bodyPr wrap="square" lIns="68580" tIns="34290" rIns="68580" bIns="3429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solidFill>
                  <a:srgbClr val="393941"/>
                </a:solidFill>
              </a:rPr>
              <a:t>NTP Consulting Pipeline</a:t>
            </a:r>
          </a:p>
        </p:txBody>
      </p:sp>
      <p:sp>
        <p:nvSpPr>
          <p:cNvPr id="9" name="TextBox 1">
            <a:extLst>
              <a:ext uri="{FF2B5EF4-FFF2-40B4-BE49-F238E27FC236}">
                <a16:creationId xmlns:a16="http://schemas.microsoft.com/office/drawing/2014/main" id="{697C0133-129A-D74D-AAC4-B8EB58B39584}"/>
              </a:ext>
            </a:extLst>
          </p:cNvPr>
          <p:cNvSpPr txBox="1"/>
          <p:nvPr/>
        </p:nvSpPr>
        <p:spPr>
          <a:xfrm>
            <a:off x="2463433" y="3930118"/>
            <a:ext cx="3296080" cy="949042"/>
          </a:xfrm>
          <a:prstGeom prst="rect">
            <a:avLst/>
          </a:prstGeom>
          <a:noFill/>
        </p:spPr>
        <p:txBody>
          <a:bodyPr wrap="square" lIns="68580" tIns="34290" rIns="68580" bIns="3429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57175" indent="-257175">
              <a:lnSpc>
                <a:spcPct val="110000"/>
              </a:lnSpc>
              <a:buClr>
                <a:srgbClr val="F66C2E"/>
              </a:buClr>
              <a:buFont typeface="Wingdings" panose="05000000000000000000" pitchFamily="2" charset="2"/>
              <a:buChar char="§"/>
              <a:tabLst>
                <a:tab pos="342900" algn="l"/>
              </a:tabLst>
            </a:pPr>
            <a:r>
              <a:rPr lang="en-US" sz="1050">
                <a:latin typeface="Calibri"/>
                <a:ea typeface="MS PGothic"/>
                <a:cs typeface="Times New Roman"/>
              </a:rPr>
              <a:t>Healthy NTP Pipeline</a:t>
            </a:r>
          </a:p>
          <a:p>
            <a:pPr marL="257175" indent="-257175">
              <a:lnSpc>
                <a:spcPct val="110000"/>
              </a:lnSpc>
              <a:buClr>
                <a:srgbClr val="F66C2E"/>
              </a:buClr>
              <a:buFont typeface="Wingdings" panose="05000000000000000000" pitchFamily="2" charset="2"/>
              <a:buChar char="§"/>
              <a:tabLst>
                <a:tab pos="342900" algn="l"/>
              </a:tabLst>
            </a:pPr>
            <a:r>
              <a:rPr lang="en-US" sz="1050">
                <a:latin typeface="Calibri"/>
                <a:ea typeface="MS PGothic"/>
                <a:cs typeface="Times New Roman"/>
              </a:rPr>
              <a:t>Solid contributions from the 3 "legacy" BDMs</a:t>
            </a:r>
          </a:p>
          <a:p>
            <a:pPr marL="257175" indent="-257175">
              <a:lnSpc>
                <a:spcPct val="110000"/>
              </a:lnSpc>
              <a:buClr>
                <a:srgbClr val="F66C2E"/>
              </a:buClr>
              <a:buFont typeface="Wingdings" panose="05000000000000000000" pitchFamily="2" charset="2"/>
              <a:buChar char="§"/>
              <a:tabLst>
                <a:tab pos="342900" algn="l"/>
              </a:tabLst>
            </a:pPr>
            <a:r>
              <a:rPr lang="en-US" sz="1050">
                <a:latin typeface="Calibri"/>
                <a:ea typeface="MS PGothic"/>
                <a:cs typeface="Times New Roman"/>
              </a:rPr>
              <a:t>14 unique funds represented in the NTP</a:t>
            </a:r>
          </a:p>
          <a:p>
            <a:pPr marL="257175" indent="-257175">
              <a:lnSpc>
                <a:spcPct val="110000"/>
              </a:lnSpc>
              <a:buClr>
                <a:srgbClr val="F66C2E"/>
              </a:buClr>
              <a:buFont typeface="Wingdings" panose="05000000000000000000" pitchFamily="2" charset="2"/>
              <a:buChar char="§"/>
              <a:tabLst>
                <a:tab pos="342900" algn="l"/>
              </a:tabLst>
            </a:pPr>
            <a:endParaRPr lang="en-US" sz="1050">
              <a:latin typeface="Calibri"/>
              <a:ea typeface="MS PGothic"/>
              <a:cs typeface="Times New Roman"/>
            </a:endParaRPr>
          </a:p>
          <a:p>
            <a:pPr marL="257175" indent="-257175">
              <a:lnSpc>
                <a:spcPct val="110000"/>
              </a:lnSpc>
              <a:buClr>
                <a:srgbClr val="F66C2E"/>
              </a:buClr>
              <a:buFont typeface="Wingdings" panose="05000000000000000000" pitchFamily="2" charset="2"/>
              <a:buChar char="§"/>
              <a:tabLst>
                <a:tab pos="342900" algn="l"/>
              </a:tabLst>
            </a:pPr>
            <a:endParaRPr lang="en-US" sz="1050">
              <a:ea typeface="MS PGothic"/>
              <a:cs typeface="Times New Roman"/>
            </a:endParaRPr>
          </a:p>
        </p:txBody>
      </p:sp>
      <p:sp>
        <p:nvSpPr>
          <p:cNvPr id="10" name="Isosceles Triangle 9">
            <a:extLst>
              <a:ext uri="{FF2B5EF4-FFF2-40B4-BE49-F238E27FC236}">
                <a16:creationId xmlns:a16="http://schemas.microsoft.com/office/drawing/2014/main" id="{99FBE666-E714-D541-A950-973ECB4808D8}"/>
              </a:ext>
            </a:extLst>
          </p:cNvPr>
          <p:cNvSpPr/>
          <p:nvPr/>
        </p:nvSpPr>
        <p:spPr>
          <a:xfrm rot="5400000">
            <a:off x="1524514" y="4206821"/>
            <a:ext cx="864869" cy="98267"/>
          </a:xfrm>
          <a:prstGeom prst="triangle">
            <a:avLst/>
          </a:prstGeom>
          <a:solidFill>
            <a:srgbClr val="F66C2E"/>
          </a:solidFill>
          <a:ln>
            <a:solidFill>
              <a:srgbClr val="F66C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pic>
        <p:nvPicPr>
          <p:cNvPr id="3" name="Picture 2" descr="A screenshot of a graph  AI-generated content may be incorrect.">
            <a:extLst>
              <a:ext uri="{FF2B5EF4-FFF2-40B4-BE49-F238E27FC236}">
                <a16:creationId xmlns:a16="http://schemas.microsoft.com/office/drawing/2014/main" id="{41699A5E-7B13-22A1-4E2E-86AD21A961A5}"/>
              </a:ext>
            </a:extLst>
          </p:cNvPr>
          <p:cNvPicPr>
            <a:picLocks noChangeAspect="1"/>
          </p:cNvPicPr>
          <p:nvPr/>
        </p:nvPicPr>
        <p:blipFill>
          <a:blip r:embed="rId2"/>
          <a:stretch>
            <a:fillRect/>
          </a:stretch>
        </p:blipFill>
        <p:spPr>
          <a:xfrm>
            <a:off x="437325" y="977676"/>
            <a:ext cx="8486394" cy="2452878"/>
          </a:xfrm>
          <a:prstGeom prst="rect">
            <a:avLst/>
          </a:prstGeom>
        </p:spPr>
      </p:pic>
      <p:pic>
        <p:nvPicPr>
          <p:cNvPr id="11" name="Picture 10" descr="A white background with black and white clouds  AI-generated content may be incorrect.">
            <a:extLst>
              <a:ext uri="{FF2B5EF4-FFF2-40B4-BE49-F238E27FC236}">
                <a16:creationId xmlns:a16="http://schemas.microsoft.com/office/drawing/2014/main" id="{2E3BD8F7-9EE9-0537-990F-F3141D2854D8}"/>
              </a:ext>
            </a:extLst>
          </p:cNvPr>
          <p:cNvPicPr>
            <a:picLocks noChangeAspect="1"/>
          </p:cNvPicPr>
          <p:nvPr/>
        </p:nvPicPr>
        <p:blipFill>
          <a:blip r:embed="rId3"/>
          <a:stretch>
            <a:fillRect/>
          </a:stretch>
        </p:blipFill>
        <p:spPr>
          <a:xfrm>
            <a:off x="2564707" y="877038"/>
            <a:ext cx="2485220" cy="523875"/>
          </a:xfrm>
          <a:prstGeom prst="rect">
            <a:avLst/>
          </a:prstGeom>
        </p:spPr>
      </p:pic>
      <p:sp>
        <p:nvSpPr>
          <p:cNvPr id="12" name="Slide Number Placeholder 12"/>
          <p:cNvSpPr/>
          <p:nvPr/>
        </p:nvSpPr>
        <p:spPr>
          <a:xfrm>
            <a:off x="8503920" y="4754880"/>
            <a:ext cx="457200" cy="274320"/>
          </a:xfrm>
          <a:prstGeom prst="rect">
            <a:avLst/>
          </a:prstGeom>
          <a:noFill/>
          <a:ln/>
        </p:spPr>
        <p:txBody>
          <a:bodyPr wrap="square" rtlCol="0" anchor="ctr"/>
          <a:lstStyle/>
          <a:p>
            <a:pPr marL="0" indent="0" algn="r">
              <a:buNone/>
            </a:pPr>
            <a:fld id="{F6C7E41F-6714-4FCC-8D70-BA7D5DCB7BCB}" type="slidenum">
              <a:rPr lang="en-US" sz="1000" smtClean="0">
                <a:solidFill>
                  <a:srgbClr val="999999"/>
                </a:solidFill>
                <a:latin typeface="Avenir" pitchFamily="34" charset="0"/>
                <a:ea typeface="Avenir" pitchFamily="34" charset="-122"/>
                <a:cs typeface="Avenir" pitchFamily="34" charset="-120"/>
              </a:rPr>
              <a:t>16</a:t>
            </a:fld>
            <a:endParaRPr lang="en-US" sz="1000"/>
          </a:p>
        </p:txBody>
      </p:sp>
    </p:spTree>
    <p:extLst>
      <p:ext uri="{BB962C8B-B14F-4D97-AF65-F5344CB8AC3E}">
        <p14:creationId xmlns:p14="http://schemas.microsoft.com/office/powerpoint/2010/main" val="3528078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497129" y="-40928"/>
            <a:ext cx="6400800" cy="731520"/>
          </a:xfrm>
          <a:prstGeom prst="rect">
            <a:avLst/>
          </a:prstGeom>
          <a:noFill/>
          <a:ln/>
        </p:spPr>
        <p:txBody>
          <a:bodyPr wrap="square" rtlCol="0" anchor="ctr"/>
          <a:lstStyle/>
          <a:p>
            <a:pPr marL="0" indent="0">
              <a:buNone/>
            </a:pPr>
            <a:r>
              <a:rPr lang="en-US" sz="2800" b="1" dirty="0">
                <a:solidFill>
                  <a:srgbClr val="393941"/>
                </a:solidFill>
                <a:latin typeface="Avenir" pitchFamily="34" charset="0"/>
                <a:ea typeface="Avenir" pitchFamily="34" charset="-122"/>
                <a:cs typeface="Avenir" pitchFamily="34" charset="-120"/>
              </a:rPr>
              <a:t>Q4 2025 Delivery Highlights</a:t>
            </a:r>
            <a:endParaRPr lang="en-US" sz="2800" dirty="0"/>
          </a:p>
        </p:txBody>
      </p:sp>
      <p:sp>
        <p:nvSpPr>
          <p:cNvPr id="6" name="Text 3"/>
          <p:cNvSpPr/>
          <p:nvPr/>
        </p:nvSpPr>
        <p:spPr>
          <a:xfrm>
            <a:off x="489857" y="615767"/>
            <a:ext cx="8242663" cy="3474720"/>
          </a:xfrm>
          <a:prstGeom prst="rect">
            <a:avLst/>
          </a:prstGeom>
          <a:noFill/>
          <a:ln/>
        </p:spPr>
        <p:txBody>
          <a:bodyPr wrap="square" rtlCol="0" anchor="t"/>
          <a:lstStyle/>
          <a:p>
            <a:pPr>
              <a:spcAft>
                <a:spcPts val="600"/>
              </a:spcAft>
              <a:buClr>
                <a:srgbClr val="E8642C"/>
              </a:buClr>
              <a:buSzPct val="60000"/>
            </a:pPr>
            <a:r>
              <a:rPr lang="en-US" sz="1100" dirty="0">
                <a:solidFill>
                  <a:srgbClr val="F66C2E"/>
                </a:solidFill>
                <a:ea typeface="Avenir" pitchFamily="34" charset="-122"/>
                <a:cs typeface="Avenir" pitchFamily="34" charset="-120"/>
              </a:rPr>
              <a:t>As of today, active project portfolio: </a:t>
            </a:r>
            <a:r>
              <a:rPr lang="en-US" sz="1100" b="1" dirty="0">
                <a:solidFill>
                  <a:srgbClr val="F66C2E"/>
                </a:solidFill>
                <a:ea typeface="Avenir" pitchFamily="34" charset="-122"/>
                <a:cs typeface="Avenir" pitchFamily="34" charset="-120"/>
              </a:rPr>
              <a:t>42</a:t>
            </a:r>
            <a:r>
              <a:rPr lang="en-US" sz="1100" dirty="0">
                <a:solidFill>
                  <a:srgbClr val="F66C2E"/>
                </a:solidFill>
                <a:ea typeface="Avenir" pitchFamily="34" charset="-122"/>
                <a:cs typeface="Avenir" pitchFamily="34" charset="-120"/>
              </a:rPr>
              <a:t> live projects (</a:t>
            </a:r>
            <a:r>
              <a:rPr lang="en-US" sz="1100" b="1" dirty="0">
                <a:solidFill>
                  <a:srgbClr val="F66C2E"/>
                </a:solidFill>
                <a:ea typeface="Avenir" pitchFamily="34" charset="-122"/>
                <a:cs typeface="Avenir" pitchFamily="34" charset="-120"/>
              </a:rPr>
              <a:t>32</a:t>
            </a:r>
            <a:r>
              <a:rPr lang="en-US" sz="1100" dirty="0">
                <a:solidFill>
                  <a:srgbClr val="F66C2E"/>
                </a:solidFill>
                <a:ea typeface="Avenir" pitchFamily="34" charset="-122"/>
                <a:cs typeface="Avenir" pitchFamily="34" charset="-120"/>
              </a:rPr>
              <a:t> active, </a:t>
            </a:r>
            <a:r>
              <a:rPr lang="en-US" sz="1100" b="1" dirty="0">
                <a:solidFill>
                  <a:srgbClr val="F66C2E"/>
                </a:solidFill>
                <a:ea typeface="Avenir" pitchFamily="34" charset="-122"/>
                <a:cs typeface="Avenir" pitchFamily="34" charset="-120"/>
              </a:rPr>
              <a:t>10</a:t>
            </a:r>
            <a:r>
              <a:rPr lang="en-US" sz="1100" dirty="0">
                <a:solidFill>
                  <a:srgbClr val="F66C2E"/>
                </a:solidFill>
                <a:ea typeface="Avenir" pitchFamily="34" charset="-122"/>
                <a:cs typeface="Avenir" pitchFamily="34" charset="-120"/>
              </a:rPr>
              <a:t> closing) across </a:t>
            </a:r>
            <a:r>
              <a:rPr lang="en-US" sz="1100" b="1" dirty="0">
                <a:solidFill>
                  <a:srgbClr val="F66C2E"/>
                </a:solidFill>
                <a:ea typeface="Avenir" pitchFamily="34" charset="-122"/>
                <a:cs typeface="Avenir" pitchFamily="34" charset="-120"/>
              </a:rPr>
              <a:t>27</a:t>
            </a:r>
            <a:r>
              <a:rPr lang="en-US" sz="1100" dirty="0">
                <a:solidFill>
                  <a:srgbClr val="F66C2E"/>
                </a:solidFill>
                <a:ea typeface="Avenir" pitchFamily="34" charset="-122"/>
                <a:cs typeface="Avenir" pitchFamily="34" charset="-120"/>
              </a:rPr>
              <a:t> PE firms</a:t>
            </a:r>
          </a:p>
          <a:p>
            <a:pPr fontAlgn="base"/>
            <a:r>
              <a:rPr lang="en-US" sz="1100" b="1" dirty="0">
                <a:solidFill>
                  <a:srgbClr val="F66C2E"/>
                </a:solidFill>
              </a:rPr>
              <a:t>Project Highlights</a:t>
            </a:r>
            <a:endParaRPr lang="en-US" sz="1100" dirty="0">
              <a:solidFill>
                <a:srgbClr val="F66C2E"/>
              </a:solidFill>
            </a:endParaRPr>
          </a:p>
          <a:p>
            <a:pPr marL="285750" indent="-285750" fontAlgn="base">
              <a:buFont typeface="Arial" panose="020B0604020202020204" pitchFamily="34" charset="0"/>
              <a:buChar char="•"/>
            </a:pPr>
            <a:r>
              <a:rPr lang="en-US" sz="1100" b="1" dirty="0">
                <a:solidFill>
                  <a:srgbClr val="666666"/>
                </a:solidFill>
              </a:rPr>
              <a:t>PATCO (Kingswood </a:t>
            </a:r>
            <a:r>
              <a:rPr lang="en-US" sz="1100" b="1" dirty="0" err="1">
                <a:solidFill>
                  <a:srgbClr val="666666"/>
                </a:solidFill>
              </a:rPr>
              <a:t>portco</a:t>
            </a:r>
            <a:r>
              <a:rPr lang="en-US" sz="1100" b="1" dirty="0">
                <a:solidFill>
                  <a:srgbClr val="666666"/>
                </a:solidFill>
              </a:rPr>
              <a:t>)</a:t>
            </a:r>
            <a:r>
              <a:rPr lang="en-US" sz="1100" dirty="0">
                <a:solidFill>
                  <a:srgbClr val="666666"/>
                </a:solidFill>
              </a:rPr>
              <a:t> officially closed out on 11/5 with ~</a:t>
            </a:r>
            <a:r>
              <a:rPr lang="en-US" sz="1100" b="1" dirty="0">
                <a:solidFill>
                  <a:srgbClr val="666666"/>
                </a:solidFill>
              </a:rPr>
              <a:t>$750K</a:t>
            </a:r>
            <a:r>
              <a:rPr lang="en-US" sz="1100" dirty="0">
                <a:solidFill>
                  <a:srgbClr val="666666"/>
                </a:solidFill>
              </a:rPr>
              <a:t> in savings and a happy client CEO</a:t>
            </a:r>
          </a:p>
          <a:p>
            <a:pPr marL="285750" indent="-285750" fontAlgn="base">
              <a:buFont typeface="Arial" panose="020B0604020202020204" pitchFamily="34" charset="0"/>
              <a:buChar char="•"/>
            </a:pPr>
            <a:r>
              <a:rPr lang="en-US" sz="1100" b="1" dirty="0">
                <a:solidFill>
                  <a:srgbClr val="666666"/>
                </a:solidFill>
              </a:rPr>
              <a:t>Globo (VSS </a:t>
            </a:r>
            <a:r>
              <a:rPr lang="en-US" sz="1100" b="1" dirty="0" err="1">
                <a:solidFill>
                  <a:srgbClr val="666666"/>
                </a:solidFill>
              </a:rPr>
              <a:t>portco</a:t>
            </a:r>
            <a:r>
              <a:rPr lang="en-US" sz="1100" b="1" dirty="0">
                <a:solidFill>
                  <a:srgbClr val="666666"/>
                </a:solidFill>
              </a:rPr>
              <a:t>) </a:t>
            </a:r>
            <a:r>
              <a:rPr lang="en-US" sz="1100" dirty="0">
                <a:solidFill>
                  <a:srgbClr val="666666"/>
                </a:solidFill>
              </a:rPr>
              <a:t>closed out on 11/13 with ~</a:t>
            </a:r>
            <a:r>
              <a:rPr lang="en-US" sz="1100" b="1" dirty="0">
                <a:solidFill>
                  <a:srgbClr val="666666"/>
                </a:solidFill>
              </a:rPr>
              <a:t>$300K </a:t>
            </a:r>
            <a:r>
              <a:rPr lang="en-US" sz="1100" dirty="0">
                <a:solidFill>
                  <a:srgbClr val="666666"/>
                </a:solidFill>
              </a:rPr>
              <a:t>in final savings</a:t>
            </a:r>
          </a:p>
          <a:p>
            <a:pPr marL="285750" indent="-285750" fontAlgn="base">
              <a:buFont typeface="Arial" panose="020B0604020202020204" pitchFamily="34" charset="0"/>
              <a:buChar char="•"/>
            </a:pPr>
            <a:r>
              <a:rPr lang="en-US" sz="1100" b="1" dirty="0" err="1">
                <a:solidFill>
                  <a:srgbClr val="666666"/>
                </a:solidFill>
                <a:ea typeface="Calibri" panose="020F0502020204030204" pitchFamily="34" charset="0"/>
                <a:cs typeface="Calibri" panose="020F0502020204030204" pitchFamily="34" charset="0"/>
              </a:rPr>
              <a:t>OpenRoad</a:t>
            </a:r>
            <a:r>
              <a:rPr lang="en-US" sz="1100" b="1" dirty="0">
                <a:solidFill>
                  <a:srgbClr val="666666"/>
                </a:solidFill>
                <a:ea typeface="Calibri" panose="020F0502020204030204" pitchFamily="34" charset="0"/>
                <a:cs typeface="Calibri" panose="020F0502020204030204" pitchFamily="34" charset="0"/>
              </a:rPr>
              <a:t> (</a:t>
            </a:r>
            <a:r>
              <a:rPr lang="en-US" sz="1100" b="1" dirty="0" err="1">
                <a:solidFill>
                  <a:srgbClr val="666666"/>
                </a:solidFill>
                <a:ea typeface="Calibri" panose="020F0502020204030204" pitchFamily="34" charset="0"/>
                <a:cs typeface="Calibri" panose="020F0502020204030204" pitchFamily="34" charset="0"/>
              </a:rPr>
              <a:t>Trivest</a:t>
            </a:r>
            <a:r>
              <a:rPr lang="en-US" sz="1100" b="1" dirty="0">
                <a:solidFill>
                  <a:srgbClr val="666666"/>
                </a:solidFill>
                <a:ea typeface="Calibri" panose="020F0502020204030204" pitchFamily="34" charset="0"/>
                <a:cs typeface="Calibri" panose="020F0502020204030204" pitchFamily="34" charset="0"/>
              </a:rPr>
              <a:t> </a:t>
            </a:r>
            <a:r>
              <a:rPr lang="en-US" sz="1100" b="1" dirty="0" err="1">
                <a:solidFill>
                  <a:srgbClr val="666666"/>
                </a:solidFill>
                <a:ea typeface="Calibri" panose="020F0502020204030204" pitchFamily="34" charset="0"/>
                <a:cs typeface="Calibri" panose="020F0502020204030204" pitchFamily="34" charset="0"/>
              </a:rPr>
              <a:t>portco</a:t>
            </a:r>
            <a:r>
              <a:rPr lang="en-US" sz="1100" b="1" dirty="0">
                <a:solidFill>
                  <a:srgbClr val="666666"/>
                </a:solidFill>
                <a:ea typeface="Calibri" panose="020F0502020204030204" pitchFamily="34" charset="0"/>
                <a:cs typeface="Calibri" panose="020F0502020204030204" pitchFamily="34" charset="0"/>
              </a:rPr>
              <a:t>)</a:t>
            </a:r>
            <a:r>
              <a:rPr lang="en-US" sz="1100" dirty="0">
                <a:solidFill>
                  <a:srgbClr val="666666"/>
                </a:solidFill>
                <a:ea typeface="Calibri" panose="020F0502020204030204" pitchFamily="34" charset="0"/>
                <a:cs typeface="Calibri" panose="020F0502020204030204" pitchFamily="34" charset="0"/>
              </a:rPr>
              <a:t> officially closed out in December with </a:t>
            </a:r>
            <a:r>
              <a:rPr lang="en-US" sz="1100" b="1" dirty="0">
                <a:solidFill>
                  <a:srgbClr val="666666"/>
                </a:solidFill>
                <a:ea typeface="Calibri" panose="020F0502020204030204" pitchFamily="34" charset="0"/>
                <a:cs typeface="Calibri" panose="020F0502020204030204" pitchFamily="34" charset="0"/>
              </a:rPr>
              <a:t>$457K </a:t>
            </a:r>
            <a:r>
              <a:rPr lang="en-US" sz="1100" dirty="0">
                <a:solidFill>
                  <a:srgbClr val="666666"/>
                </a:solidFill>
                <a:ea typeface="Calibri" panose="020F0502020204030204" pitchFamily="34" charset="0"/>
                <a:cs typeface="Calibri" panose="020F0502020204030204" pitchFamily="34" charset="0"/>
              </a:rPr>
              <a:t>in final savings, giving us quals in the auto collision repair space</a:t>
            </a:r>
          </a:p>
          <a:p>
            <a:pPr marL="285750" indent="-285750" fontAlgn="base">
              <a:buFont typeface="Arial" panose="020B0604020202020204" pitchFamily="34" charset="0"/>
              <a:buChar char="•"/>
            </a:pPr>
            <a:r>
              <a:rPr lang="en-US" sz="1100" b="1" dirty="0" err="1">
                <a:solidFill>
                  <a:srgbClr val="666666"/>
                </a:solidFill>
                <a:ea typeface="Calibri" panose="020F0502020204030204" pitchFamily="34" charset="0"/>
                <a:cs typeface="Calibri" panose="020F0502020204030204" pitchFamily="34" charset="0"/>
              </a:rPr>
              <a:t>ReFocus</a:t>
            </a:r>
            <a:r>
              <a:rPr lang="en-US" sz="1100" b="1" dirty="0">
                <a:solidFill>
                  <a:srgbClr val="666666"/>
                </a:solidFill>
                <a:ea typeface="Calibri" panose="020F0502020204030204" pitchFamily="34" charset="0"/>
                <a:cs typeface="Calibri" panose="020F0502020204030204" pitchFamily="34" charset="0"/>
              </a:rPr>
              <a:t> (</a:t>
            </a:r>
            <a:r>
              <a:rPr lang="en-US" sz="1100" b="1" dirty="0" err="1">
                <a:solidFill>
                  <a:srgbClr val="666666"/>
                </a:solidFill>
                <a:ea typeface="Calibri" panose="020F0502020204030204" pitchFamily="34" charset="0"/>
                <a:cs typeface="Calibri" panose="020F0502020204030204" pitchFamily="34" charset="0"/>
              </a:rPr>
              <a:t>Zenyth</a:t>
            </a:r>
            <a:r>
              <a:rPr lang="en-US" sz="1100" b="1" dirty="0">
                <a:solidFill>
                  <a:srgbClr val="666666"/>
                </a:solidFill>
                <a:ea typeface="Calibri" panose="020F0502020204030204" pitchFamily="34" charset="0"/>
                <a:cs typeface="Calibri" panose="020F0502020204030204" pitchFamily="34" charset="0"/>
              </a:rPr>
              <a:t> </a:t>
            </a:r>
            <a:r>
              <a:rPr lang="en-US" sz="1100" b="1" dirty="0" err="1">
                <a:solidFill>
                  <a:srgbClr val="666666"/>
                </a:solidFill>
                <a:ea typeface="Calibri" panose="020F0502020204030204" pitchFamily="34" charset="0"/>
                <a:cs typeface="Calibri" panose="020F0502020204030204" pitchFamily="34" charset="0"/>
              </a:rPr>
              <a:t>portco</a:t>
            </a:r>
            <a:r>
              <a:rPr lang="en-US" sz="1100" b="1" dirty="0">
                <a:solidFill>
                  <a:srgbClr val="666666"/>
                </a:solidFill>
                <a:ea typeface="Calibri" panose="020F0502020204030204" pitchFamily="34" charset="0"/>
                <a:cs typeface="Calibri" panose="020F0502020204030204" pitchFamily="34" charset="0"/>
              </a:rPr>
              <a:t>) </a:t>
            </a:r>
            <a:r>
              <a:rPr lang="en-US" sz="1100" dirty="0">
                <a:solidFill>
                  <a:srgbClr val="666666"/>
                </a:solidFill>
                <a:ea typeface="Calibri" panose="020F0502020204030204" pitchFamily="34" charset="0"/>
                <a:cs typeface="Calibri" panose="020F0502020204030204" pitchFamily="34" charset="0"/>
              </a:rPr>
              <a:t>– a project still in progress – has already exceeded savings associated with booked revenue by 141%, with current savings in hand of ~$740K, while projected low-end savings were $530K  </a:t>
            </a:r>
            <a:endParaRPr lang="en-US" sz="1100" dirty="0">
              <a:solidFill>
                <a:srgbClr val="666666"/>
              </a:solidFill>
            </a:endParaRPr>
          </a:p>
          <a:p>
            <a:pPr marL="285750" indent="-285750" fontAlgn="base">
              <a:buFont typeface="Arial" panose="020B0604020202020204" pitchFamily="34" charset="0"/>
              <a:buChar char="•"/>
            </a:pPr>
            <a:r>
              <a:rPr lang="en-US" sz="1100" dirty="0">
                <a:solidFill>
                  <a:srgbClr val="666666"/>
                </a:solidFill>
              </a:rPr>
              <a:t>Project with </a:t>
            </a:r>
            <a:r>
              <a:rPr lang="en-US" sz="1100" b="1" dirty="0">
                <a:solidFill>
                  <a:srgbClr val="666666"/>
                </a:solidFill>
              </a:rPr>
              <a:t>Double-B Foods (Anderson Group </a:t>
            </a:r>
            <a:r>
              <a:rPr lang="en-US" sz="1100" b="1" dirty="0" err="1">
                <a:solidFill>
                  <a:srgbClr val="666666"/>
                </a:solidFill>
              </a:rPr>
              <a:t>portco</a:t>
            </a:r>
            <a:r>
              <a:rPr lang="en-US" sz="1100" b="1" dirty="0">
                <a:solidFill>
                  <a:srgbClr val="666666"/>
                </a:solidFill>
              </a:rPr>
              <a:t>) </a:t>
            </a:r>
            <a:r>
              <a:rPr lang="en-US" sz="1100" dirty="0">
                <a:solidFill>
                  <a:srgbClr val="666666"/>
                </a:solidFill>
              </a:rPr>
              <a:t>kicked off with an on-site visit in Dallas on 11/6</a:t>
            </a:r>
          </a:p>
          <a:p>
            <a:pPr marL="285750" indent="-285750" fontAlgn="base">
              <a:buFont typeface="Arial" panose="020B0604020202020204" pitchFamily="34" charset="0"/>
              <a:buChar char="•"/>
            </a:pPr>
            <a:r>
              <a:rPr lang="en-US" sz="1100" dirty="0">
                <a:solidFill>
                  <a:srgbClr val="666666"/>
                </a:solidFill>
              </a:rPr>
              <a:t>Tariff-related supplier diversification project with </a:t>
            </a:r>
            <a:r>
              <a:rPr lang="en-US" sz="1100" b="1" dirty="0">
                <a:solidFill>
                  <a:srgbClr val="666666"/>
                </a:solidFill>
              </a:rPr>
              <a:t>Belt Power (Platte River </a:t>
            </a:r>
            <a:r>
              <a:rPr lang="en-US" sz="1100" b="1" dirty="0" err="1">
                <a:solidFill>
                  <a:srgbClr val="666666"/>
                </a:solidFill>
              </a:rPr>
              <a:t>portco</a:t>
            </a:r>
            <a:r>
              <a:rPr lang="en-US" sz="1100" b="1" dirty="0">
                <a:solidFill>
                  <a:srgbClr val="666666"/>
                </a:solidFill>
              </a:rPr>
              <a:t>) </a:t>
            </a:r>
            <a:r>
              <a:rPr lang="en-US" sz="1100" dirty="0">
                <a:solidFill>
                  <a:srgbClr val="666666"/>
                </a:solidFill>
              </a:rPr>
              <a:t>kicked off on 11/5, with an on-site visit to Grand Rapids, MI</a:t>
            </a:r>
          </a:p>
          <a:p>
            <a:pPr marL="285750" indent="-285750" fontAlgn="base">
              <a:buFont typeface="Arial" panose="020B0604020202020204" pitchFamily="34" charset="0"/>
              <a:buChar char="•"/>
            </a:pPr>
            <a:r>
              <a:rPr lang="en-US" sz="1100" dirty="0">
                <a:solidFill>
                  <a:srgbClr val="666666"/>
                </a:solidFill>
              </a:rPr>
              <a:t>Engagements with </a:t>
            </a:r>
            <a:r>
              <a:rPr lang="en-US" sz="1100" b="1" dirty="0">
                <a:solidFill>
                  <a:srgbClr val="666666"/>
                </a:solidFill>
              </a:rPr>
              <a:t>USA Water, Milton, IPM, Capsa, and Science Care (all LLCP </a:t>
            </a:r>
            <a:r>
              <a:rPr lang="en-US" sz="1100" b="1" dirty="0" err="1">
                <a:solidFill>
                  <a:srgbClr val="666666"/>
                </a:solidFill>
              </a:rPr>
              <a:t>portcos</a:t>
            </a:r>
            <a:r>
              <a:rPr lang="en-US" sz="1100" b="1" dirty="0">
                <a:solidFill>
                  <a:srgbClr val="666666"/>
                </a:solidFill>
              </a:rPr>
              <a:t>) and Monarca (</a:t>
            </a:r>
            <a:r>
              <a:rPr lang="en-US" sz="1100" b="1" dirty="0" err="1">
                <a:solidFill>
                  <a:srgbClr val="666666"/>
                </a:solidFill>
              </a:rPr>
              <a:t>Windpoint</a:t>
            </a:r>
            <a:r>
              <a:rPr lang="en-US" sz="1100" b="1" dirty="0">
                <a:solidFill>
                  <a:srgbClr val="666666"/>
                </a:solidFill>
              </a:rPr>
              <a:t> </a:t>
            </a:r>
            <a:r>
              <a:rPr lang="en-US" sz="1100" b="1" dirty="0" err="1">
                <a:solidFill>
                  <a:srgbClr val="666666"/>
                </a:solidFill>
              </a:rPr>
              <a:t>portco</a:t>
            </a:r>
            <a:r>
              <a:rPr lang="en-US" sz="1100" b="1" dirty="0">
                <a:solidFill>
                  <a:srgbClr val="666666"/>
                </a:solidFill>
              </a:rPr>
              <a:t>) </a:t>
            </a:r>
            <a:r>
              <a:rPr lang="en-US" sz="1100" dirty="0">
                <a:solidFill>
                  <a:srgbClr val="666666"/>
                </a:solidFill>
              </a:rPr>
              <a:t>all kicked off virtually in November &amp; December and are well underway​</a:t>
            </a:r>
          </a:p>
          <a:p>
            <a:pPr marL="285750" indent="-285750" fontAlgn="base">
              <a:buFont typeface="Arial" panose="020B0604020202020204" pitchFamily="34" charset="0"/>
              <a:buChar char="•"/>
            </a:pPr>
            <a:endParaRPr lang="en-US" sz="1100" dirty="0">
              <a:solidFill>
                <a:srgbClr val="F66C2E"/>
              </a:solidFill>
              <a:ea typeface="Avenir" pitchFamily="34" charset="-122"/>
            </a:endParaRPr>
          </a:p>
          <a:p>
            <a:pPr fontAlgn="base"/>
            <a:r>
              <a:rPr lang="en-US" sz="1100" b="1" dirty="0">
                <a:solidFill>
                  <a:srgbClr val="F66C2E"/>
                </a:solidFill>
              </a:rPr>
              <a:t>Staffing/Recruiting Update</a:t>
            </a:r>
            <a:r>
              <a:rPr lang="en-US" sz="1100" dirty="0">
                <a:solidFill>
                  <a:srgbClr val="F66C2E"/>
                </a:solidFill>
              </a:rPr>
              <a:t>​</a:t>
            </a:r>
          </a:p>
          <a:p>
            <a:pPr marL="285750" indent="-285750" fontAlgn="base">
              <a:buFont typeface="Arial" panose="020B0604020202020204" pitchFamily="34" charset="0"/>
              <a:buChar char="•"/>
            </a:pPr>
            <a:r>
              <a:rPr lang="en-US" sz="1100" dirty="0">
                <a:solidFill>
                  <a:srgbClr val="666666"/>
                </a:solidFill>
              </a:rPr>
              <a:t>3 departures in Q4 (1 Consultant, 1 Senior Consultant, 1 Manager)</a:t>
            </a:r>
          </a:p>
          <a:p>
            <a:pPr marL="285750" indent="-285750" fontAlgn="base">
              <a:buFont typeface="Arial" panose="020B0604020202020204" pitchFamily="34" charset="0"/>
              <a:buChar char="•"/>
            </a:pPr>
            <a:r>
              <a:rPr lang="en-US" sz="1100" dirty="0">
                <a:solidFill>
                  <a:srgbClr val="666666"/>
                </a:solidFill>
              </a:rPr>
              <a:t>2 new hires made in November, 2 new hires made in January, and 2 new hires made in February ​</a:t>
            </a:r>
          </a:p>
          <a:p>
            <a:pPr marL="742950" lvl="1" indent="-285750" fontAlgn="base">
              <a:buFont typeface="Arial" panose="020B0604020202020204" pitchFamily="34" charset="0"/>
              <a:buChar char="•"/>
            </a:pPr>
            <a:r>
              <a:rPr lang="en-US" sz="1100" dirty="0">
                <a:solidFill>
                  <a:srgbClr val="666666"/>
                </a:solidFill>
              </a:rPr>
              <a:t>3 from Gibson Consulting</a:t>
            </a:r>
          </a:p>
          <a:p>
            <a:pPr marL="742950" lvl="1" indent="-285750" fontAlgn="base">
              <a:buFont typeface="Arial" panose="020B0604020202020204" pitchFamily="34" charset="0"/>
              <a:buChar char="•"/>
            </a:pPr>
            <a:r>
              <a:rPr lang="en-US" sz="1100" dirty="0">
                <a:solidFill>
                  <a:srgbClr val="666666"/>
                </a:solidFill>
              </a:rPr>
              <a:t>1 from Efficio</a:t>
            </a:r>
          </a:p>
          <a:p>
            <a:pPr marL="742950" lvl="1" indent="-285750" fontAlgn="base">
              <a:buFont typeface="Arial" panose="020B0604020202020204" pitchFamily="34" charset="0"/>
              <a:buChar char="•"/>
            </a:pPr>
            <a:r>
              <a:rPr lang="en-US" sz="1100" dirty="0">
                <a:solidFill>
                  <a:srgbClr val="666666"/>
                </a:solidFill>
              </a:rPr>
              <a:t>1 from KPMG</a:t>
            </a:r>
          </a:p>
          <a:p>
            <a:pPr marL="285750" indent="-285750" fontAlgn="base">
              <a:buFont typeface="Arial" panose="020B0604020202020204" pitchFamily="34" charset="0"/>
              <a:buChar char="•"/>
            </a:pPr>
            <a:r>
              <a:rPr lang="en-US" sz="1100" dirty="0">
                <a:solidFill>
                  <a:srgbClr val="666666"/>
                </a:solidFill>
              </a:rPr>
              <a:t>Colab91 resources interviewed and approved, with starting dates ranging from Feb. – May 2026</a:t>
            </a:r>
          </a:p>
          <a:p>
            <a:pPr marL="742950" lvl="1" indent="-285750" fontAlgn="base">
              <a:buFont typeface="Arial" panose="020B0604020202020204" pitchFamily="34" charset="0"/>
              <a:buChar char="•"/>
            </a:pPr>
            <a:r>
              <a:rPr lang="en-US" sz="1100" dirty="0">
                <a:solidFill>
                  <a:srgbClr val="666666"/>
                </a:solidFill>
              </a:rPr>
              <a:t>2 from Accenture India (1 will provide sales support)</a:t>
            </a:r>
          </a:p>
          <a:p>
            <a:pPr marL="742950" lvl="1" indent="-285750" fontAlgn="base">
              <a:buFont typeface="Arial" panose="020B0604020202020204" pitchFamily="34" charset="0"/>
              <a:buChar char="•"/>
            </a:pPr>
            <a:r>
              <a:rPr lang="en-US" sz="1100" dirty="0">
                <a:solidFill>
                  <a:srgbClr val="666666"/>
                </a:solidFill>
              </a:rPr>
              <a:t>1 from Kearney India</a:t>
            </a:r>
          </a:p>
          <a:p>
            <a:pPr marL="285750" indent="-285750" fontAlgn="base">
              <a:buFont typeface="Arial" panose="020B0604020202020204" pitchFamily="34" charset="0"/>
              <a:buChar char="•"/>
            </a:pPr>
            <a:r>
              <a:rPr lang="en-US" sz="1100" dirty="0">
                <a:solidFill>
                  <a:srgbClr val="666666"/>
                </a:solidFill>
              </a:rPr>
              <a:t>1 open Analyst role and 1 open Manager role remain – we are “slow playing” both, though contemplating extending an offer to a promising Analyst candidate from Gibson to lock in top talent</a:t>
            </a:r>
          </a:p>
          <a:p>
            <a:pPr marL="342900" indent="-342900">
              <a:spcAft>
                <a:spcPts val="600"/>
              </a:spcAft>
              <a:buClr>
                <a:srgbClr val="E8642C"/>
              </a:buClr>
              <a:buSzPct val="60000"/>
              <a:buChar char="■"/>
            </a:pPr>
            <a:endParaRPr lang="en-US" sz="1300" dirty="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BE1549FF-4D8D-4EF6-9C9C-0C1675CE9742}" type="slidenum">
              <a:rPr lang="en-US" sz="1000" smtClean="0">
                <a:solidFill>
                  <a:srgbClr val="999999"/>
                </a:solidFill>
                <a:latin typeface="Avenir" pitchFamily="34" charset="0"/>
                <a:ea typeface="Avenir" pitchFamily="34" charset="-122"/>
                <a:cs typeface="Avenir" pitchFamily="34" charset="-120"/>
              </a:rPr>
              <a:t>17</a:t>
            </a:fld>
            <a:endParaRPr 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64E3A02-DF12-04FF-B39C-631D45242A06}"/>
            </a:ext>
          </a:extLst>
        </p:cNvPr>
        <p:cNvGrpSpPr/>
        <p:nvPr/>
      </p:nvGrpSpPr>
      <p:grpSpPr>
        <a:xfrm>
          <a:off x="0" y="0"/>
          <a:ext cx="0" cy="0"/>
          <a:chOff x="0" y="0"/>
          <a:chExt cx="0" cy="0"/>
        </a:xfrm>
      </p:grpSpPr>
      <p:sp>
        <p:nvSpPr>
          <p:cNvPr id="99" name="Accent Bar">
            <a:extLst>
              <a:ext uri="{FF2B5EF4-FFF2-40B4-BE49-F238E27FC236}">
                <a16:creationId xmlns:a16="http://schemas.microsoft.com/office/drawing/2014/main" id="{62483634-9C56-2177-413E-6207497CDEE5}"/>
              </a:ext>
            </a:extLst>
          </p:cNvP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a:extLst>
              <a:ext uri="{FF2B5EF4-FFF2-40B4-BE49-F238E27FC236}">
                <a16:creationId xmlns:a16="http://schemas.microsoft.com/office/drawing/2014/main" id="{26CA0396-5114-9810-29BC-14B69BFA9800}"/>
              </a:ext>
            </a:extLst>
          </p:cNvPr>
          <p:cNvPicPr>
            <a:picLocks noChangeAspect="1"/>
          </p:cNvPicPr>
          <p:nvPr/>
        </p:nvPicPr>
        <p:blipFill>
          <a:blip r:embed="rId3"/>
          <a:stretch>
            <a:fillRect/>
          </a:stretch>
        </p:blipFill>
        <p:spPr>
          <a:xfrm>
            <a:off x="7692000" y="182880"/>
            <a:ext cx="1252732" cy="217467"/>
          </a:xfrm>
          <a:prstGeom prst="rect">
            <a:avLst/>
          </a:prstGeom>
        </p:spPr>
      </p:pic>
      <p:sp>
        <p:nvSpPr>
          <p:cNvPr id="4" name="Shape 1">
            <a:extLst>
              <a:ext uri="{FF2B5EF4-FFF2-40B4-BE49-F238E27FC236}">
                <a16:creationId xmlns:a16="http://schemas.microsoft.com/office/drawing/2014/main" id="{483D3880-BECB-3E0B-3A17-0FD77356792B}"/>
              </a:ext>
            </a:extLst>
          </p:cNvPr>
          <p:cNvSpPr/>
          <p:nvPr/>
        </p:nvSpPr>
        <p:spPr>
          <a:xfrm>
            <a:off x="7692000" y="430347"/>
            <a:ext cx="1252732" cy="36576"/>
          </a:xfrm>
          <a:prstGeom prst="rect">
            <a:avLst/>
          </a:prstGeom>
          <a:solidFill>
            <a:srgbClr val="E8642C"/>
          </a:solidFill>
          <a:ln/>
        </p:spPr>
        <p:txBody>
          <a:bodyPr/>
          <a:lstStyle/>
          <a:p>
            <a:endParaRPr lang="en-US"/>
          </a:p>
        </p:txBody>
      </p:sp>
      <p:sp>
        <p:nvSpPr>
          <p:cNvPr id="5" name="Text 2">
            <a:extLst>
              <a:ext uri="{FF2B5EF4-FFF2-40B4-BE49-F238E27FC236}">
                <a16:creationId xmlns:a16="http://schemas.microsoft.com/office/drawing/2014/main" id="{0AAE33FC-986B-470A-8789-51C002541C1C}"/>
              </a:ext>
            </a:extLst>
          </p:cNvPr>
          <p:cNvSpPr/>
          <p:nvPr/>
        </p:nvSpPr>
        <p:spPr>
          <a:xfrm>
            <a:off x="497129" y="-40928"/>
            <a:ext cx="6778314" cy="731520"/>
          </a:xfrm>
          <a:prstGeom prst="rect">
            <a:avLst/>
          </a:prstGeom>
          <a:noFill/>
          <a:ln/>
        </p:spPr>
        <p:txBody>
          <a:bodyPr wrap="square" rtlCol="0" anchor="ctr"/>
          <a:lstStyle/>
          <a:p>
            <a:pPr marL="0" indent="0">
              <a:buNone/>
            </a:pPr>
            <a:r>
              <a:rPr lang="en-US" sz="2800" b="1" dirty="0">
                <a:solidFill>
                  <a:srgbClr val="393941"/>
                </a:solidFill>
                <a:latin typeface="Avenir" pitchFamily="34" charset="0"/>
                <a:ea typeface="Avenir" pitchFamily="34" charset="-122"/>
                <a:cs typeface="Avenir" pitchFamily="34" charset="-120"/>
              </a:rPr>
              <a:t>Wrike Excerpt: Project Status Overview</a:t>
            </a:r>
            <a:endParaRPr lang="en-US" sz="2800" dirty="0"/>
          </a:p>
        </p:txBody>
      </p:sp>
      <p:pic>
        <p:nvPicPr>
          <p:cNvPr id="2" name="Picture 1">
            <a:extLst>
              <a:ext uri="{FF2B5EF4-FFF2-40B4-BE49-F238E27FC236}">
                <a16:creationId xmlns:a16="http://schemas.microsoft.com/office/drawing/2014/main" id="{E51A8BC2-B4A5-7E46-5EE5-AEC6636307FE}"/>
              </a:ext>
            </a:extLst>
          </p:cNvPr>
          <p:cNvPicPr>
            <a:picLocks noChangeAspect="1"/>
          </p:cNvPicPr>
          <p:nvPr/>
        </p:nvPicPr>
        <p:blipFill>
          <a:blip r:embed="rId4"/>
          <a:stretch>
            <a:fillRect/>
          </a:stretch>
        </p:blipFill>
        <p:spPr>
          <a:xfrm>
            <a:off x="731520" y="1135606"/>
            <a:ext cx="7772400" cy="3638144"/>
          </a:xfrm>
          <a:prstGeom prst="rect">
            <a:avLst/>
          </a:prstGeom>
        </p:spPr>
      </p:pic>
      <p:sp>
        <p:nvSpPr>
          <p:cNvPr id="7" name="Rectangle: Rounded Corners 5">
            <a:extLst>
              <a:ext uri="{FF2B5EF4-FFF2-40B4-BE49-F238E27FC236}">
                <a16:creationId xmlns:a16="http://schemas.microsoft.com/office/drawing/2014/main" id="{18E329F3-A723-EC8B-521F-58014581FCD4}"/>
              </a:ext>
            </a:extLst>
          </p:cNvPr>
          <p:cNvSpPr/>
          <p:nvPr/>
        </p:nvSpPr>
        <p:spPr>
          <a:xfrm>
            <a:off x="703049" y="586860"/>
            <a:ext cx="2091910" cy="364463"/>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accent2"/>
                </a:solidFill>
              </a:rPr>
              <a:t># of Active Projects: 32</a:t>
            </a:r>
          </a:p>
          <a:p>
            <a:pPr algn="ctr"/>
            <a:r>
              <a:rPr lang="en-US" sz="1050" dirty="0">
                <a:solidFill>
                  <a:schemeClr val="accent2"/>
                </a:solidFill>
              </a:rPr>
              <a:t># of Closing Projects: 10</a:t>
            </a:r>
          </a:p>
        </p:txBody>
      </p:sp>
      <p:sp>
        <p:nvSpPr>
          <p:cNvPr id="9" name="Rectangle: Rounded Corners 6">
            <a:extLst>
              <a:ext uri="{FF2B5EF4-FFF2-40B4-BE49-F238E27FC236}">
                <a16:creationId xmlns:a16="http://schemas.microsoft.com/office/drawing/2014/main" id="{128813C2-FFE9-4319-5C37-12C03588B408}"/>
              </a:ext>
            </a:extLst>
          </p:cNvPr>
          <p:cNvSpPr/>
          <p:nvPr/>
        </p:nvSpPr>
        <p:spPr>
          <a:xfrm>
            <a:off x="5905786" y="578233"/>
            <a:ext cx="2875909" cy="368238"/>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accent2"/>
                </a:solidFill>
              </a:rPr>
              <a:t># of Projects Where Current Savings Exceed Those Assoc. with Booked Revenue at Kickoff: 13 (30%)</a:t>
            </a:r>
          </a:p>
        </p:txBody>
      </p:sp>
      <p:sp>
        <p:nvSpPr>
          <p:cNvPr id="10" name="Rectangle: Rounded Corners 7">
            <a:extLst>
              <a:ext uri="{FF2B5EF4-FFF2-40B4-BE49-F238E27FC236}">
                <a16:creationId xmlns:a16="http://schemas.microsoft.com/office/drawing/2014/main" id="{7B203F7E-7B1D-CD0E-F175-4276404C56E9}"/>
              </a:ext>
            </a:extLst>
          </p:cNvPr>
          <p:cNvSpPr/>
          <p:nvPr/>
        </p:nvSpPr>
        <p:spPr>
          <a:xfrm>
            <a:off x="3500164" y="578233"/>
            <a:ext cx="1949573" cy="364463"/>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accent2"/>
                </a:solidFill>
              </a:rPr>
              <a:t># of Yellow Projects: 6</a:t>
            </a:r>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AD348FC8-3B59-4E3F-8C66-B0A788F76E00}" type="slidenum">
              <a:rPr lang="en-US" sz="1000" smtClean="0">
                <a:solidFill>
                  <a:srgbClr val="999999"/>
                </a:solidFill>
                <a:latin typeface="Avenir" pitchFamily="34" charset="0"/>
                <a:ea typeface="Avenir" pitchFamily="34" charset="-122"/>
                <a:cs typeface="Avenir" pitchFamily="34" charset="-120"/>
              </a:rPr>
              <a:t>18</a:t>
            </a:fld>
            <a:endParaRPr lang="en-US" sz="1000"/>
          </a:p>
        </p:txBody>
      </p:sp>
    </p:spTree>
    <p:extLst>
      <p:ext uri="{BB962C8B-B14F-4D97-AF65-F5344CB8AC3E}">
        <p14:creationId xmlns:p14="http://schemas.microsoft.com/office/powerpoint/2010/main" val="2796839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4" name="Logo" descr="logo.png"/>
          <p:cNvPicPr>
            <a:picLocks noChangeAspect="1"/>
          </p:cNvPicPr>
          <p:nvPr/>
        </p:nvPicPr>
        <p:blipFill>
          <a:blip r:embed="rId3"/>
          <a:stretch>
            <a:fillRect/>
          </a:stretch>
        </p:blipFill>
        <p:spPr>
          <a:xfrm>
            <a:off x="7692000" y="182880"/>
            <a:ext cx="1252732" cy="217467"/>
          </a:xfrm>
          <a:prstGeom prst="rect">
            <a:avLst/>
          </a:prstGeom>
        </p:spPr>
      </p:pic>
      <p:sp>
        <p:nvSpPr>
          <p:cNvPr id="5" name="Underline"/>
          <p:cNvSpPr/>
          <p:nvPr/>
        </p:nvSpPr>
        <p:spPr>
          <a:xfrm>
            <a:off x="7692000" y="430347"/>
            <a:ext cx="1252732" cy="36576"/>
          </a:xfrm>
          <a:prstGeom prst="rect">
            <a:avLst/>
          </a:prstGeom>
          <a:solidFill>
            <a:srgbClr val="E8642C"/>
          </a:solidFill>
          <a:ln>
            <a:noFill/>
          </a:ln>
        </p:spPr>
        <p:txBody>
          <a:bodyPr/>
          <a:lstStyle/>
          <a:p>
            <a:endParaRPr lang="en-US"/>
          </a:p>
        </p:txBody>
      </p:sp>
      <p:sp>
        <p:nvSpPr>
          <p:cNvPr id="6" name="Title"/>
          <p:cNvSpPr/>
          <p:nvPr/>
        </p:nvSpPr>
        <p:spPr>
          <a:xfrm>
            <a:off x="548640" y="137160"/>
            <a:ext cx="4572000" cy="548640"/>
          </a:xfrm>
          <a:prstGeom prst="rect">
            <a:avLst/>
          </a:prstGeom>
          <a:noFill/>
          <a:ln/>
        </p:spPr>
        <p:txBody>
          <a:bodyPr wrap="square" rtlCol="0" anchor="ctr"/>
          <a:lstStyle/>
          <a:p>
            <a:pPr marL="0" indent="0">
              <a:buNone/>
            </a:pPr>
            <a:r>
              <a:rPr lang="en-US" sz="2800" b="1">
                <a:solidFill>
                  <a:srgbClr val="393941"/>
                </a:solidFill>
                <a:ea typeface="Avenir" pitchFamily="34" charset="-122"/>
                <a:cs typeface="Avenir" pitchFamily="34" charset="-120"/>
              </a:rPr>
              <a:t>Marketing Plan - 2026</a:t>
            </a:r>
            <a:endParaRPr lang="en-US" sz="2800"/>
          </a:p>
        </p:txBody>
      </p:sp>
      <p:graphicFrame>
        <p:nvGraphicFramePr>
          <p:cNvPr id="2" name="Table 1"/>
          <p:cNvGraphicFramePr>
            <a:graphicFrameLocks noGrp="1"/>
          </p:cNvGraphicFramePr>
          <p:nvPr>
            <p:extLst>
              <p:ext uri="{D42A27DB-BD31-4B8C-83A1-F6EECF244321}">
                <p14:modId xmlns:p14="http://schemas.microsoft.com/office/powerpoint/2010/main" val="139553441"/>
              </p:ext>
            </p:extLst>
          </p:nvPr>
        </p:nvGraphicFramePr>
        <p:xfrm>
          <a:off x="548640" y="699999"/>
          <a:ext cx="8300000" cy="4072128"/>
        </p:xfrm>
        <a:graphic>
          <a:graphicData uri="http://schemas.openxmlformats.org/drawingml/2006/table">
            <a:tbl>
              <a:tblPr firstRow="1" bandRow="1">
                <a:tableStyleId>{5C22544A-7EE6-4342-B048-85BDC9FD1C3A}</a:tableStyleId>
              </a:tblPr>
              <a:tblGrid>
                <a:gridCol w="1350000">
                  <a:extLst>
                    <a:ext uri="{9D8B030D-6E8A-4147-A177-3AD203B41FA5}">
                      <a16:colId xmlns:a16="http://schemas.microsoft.com/office/drawing/2014/main" val="20000"/>
                    </a:ext>
                  </a:extLst>
                </a:gridCol>
                <a:gridCol w="2446649">
                  <a:extLst>
                    <a:ext uri="{9D8B030D-6E8A-4147-A177-3AD203B41FA5}">
                      <a16:colId xmlns:a16="http://schemas.microsoft.com/office/drawing/2014/main" val="20001"/>
                    </a:ext>
                  </a:extLst>
                </a:gridCol>
                <a:gridCol w="2903351">
                  <a:extLst>
                    <a:ext uri="{9D8B030D-6E8A-4147-A177-3AD203B41FA5}">
                      <a16:colId xmlns:a16="http://schemas.microsoft.com/office/drawing/2014/main" val="20002"/>
                    </a:ext>
                  </a:extLst>
                </a:gridCol>
                <a:gridCol w="1600000">
                  <a:extLst>
                    <a:ext uri="{9D8B030D-6E8A-4147-A177-3AD203B41FA5}">
                      <a16:colId xmlns:a16="http://schemas.microsoft.com/office/drawing/2014/main" val="20003"/>
                    </a:ext>
                  </a:extLst>
                </a:gridCol>
              </a:tblGrid>
              <a:tr h="134893">
                <a:tc>
                  <a:txBody>
                    <a:bodyPr/>
                    <a:lstStyle/>
                    <a:p>
                      <a:pPr algn="ctr"/>
                      <a:r>
                        <a:rPr sz="800" b="1">
                          <a:solidFill>
                            <a:srgbClr val="FFFFFF"/>
                          </a:solidFill>
                          <a:latin typeface="Avenir"/>
                        </a:rPr>
                        <a:t>Area</a:t>
                      </a:r>
                    </a:p>
                  </a:txBody>
                  <a:tcPr marL="45720" marR="45720" marT="18288" marB="18288">
                    <a:solidFill>
                      <a:srgbClr val="E8642C"/>
                    </a:solidFill>
                  </a:tcPr>
                </a:tc>
                <a:tc>
                  <a:txBody>
                    <a:bodyPr/>
                    <a:lstStyle/>
                    <a:p>
                      <a:pPr algn="ctr"/>
                      <a:r>
                        <a:rPr sz="800" b="1">
                          <a:solidFill>
                            <a:srgbClr val="FFFFFF"/>
                          </a:solidFill>
                          <a:latin typeface="Avenir"/>
                        </a:rPr>
                        <a:t>Digital (Email/Social) Marketing</a:t>
                      </a:r>
                    </a:p>
                  </a:txBody>
                  <a:tcPr marL="45720" marR="45720" marT="18288" marB="18288">
                    <a:solidFill>
                      <a:srgbClr val="E8642C"/>
                    </a:solidFill>
                  </a:tcPr>
                </a:tc>
                <a:tc>
                  <a:txBody>
                    <a:bodyPr/>
                    <a:lstStyle/>
                    <a:p>
                      <a:pPr algn="ctr"/>
                      <a:r>
                        <a:rPr sz="800" b="1">
                          <a:solidFill>
                            <a:srgbClr val="FFFFFF"/>
                          </a:solidFill>
                          <a:latin typeface="Avenir"/>
                        </a:rPr>
                        <a:t>Other</a:t>
                      </a:r>
                    </a:p>
                  </a:txBody>
                  <a:tcPr marL="45720" marR="45720" marT="18288" marB="18288">
                    <a:solidFill>
                      <a:srgbClr val="E8642C"/>
                    </a:solidFill>
                  </a:tcPr>
                </a:tc>
                <a:tc>
                  <a:txBody>
                    <a:bodyPr/>
                    <a:lstStyle/>
                    <a:p>
                      <a:pPr algn="ctr"/>
                      <a:r>
                        <a:rPr sz="800" b="1">
                          <a:solidFill>
                            <a:srgbClr val="FFFFFF"/>
                          </a:solidFill>
                          <a:latin typeface="Avenir"/>
                        </a:rPr>
                        <a:t>Outcome/KPIs</a:t>
                      </a:r>
                    </a:p>
                  </a:txBody>
                  <a:tcPr marL="45720" marR="45720" marT="18288" marB="18288">
                    <a:solidFill>
                      <a:srgbClr val="E8642C"/>
                    </a:solidFill>
                  </a:tcPr>
                </a:tc>
                <a:extLst>
                  <a:ext uri="{0D108BD9-81ED-4DB2-BD59-A6C34878D82A}">
                    <a16:rowId xmlns:a16="http://schemas.microsoft.com/office/drawing/2014/main" val="10000"/>
                  </a:ext>
                </a:extLst>
              </a:tr>
              <a:tr h="342421">
                <a:tc>
                  <a:txBody>
                    <a:bodyPr/>
                    <a:lstStyle/>
                    <a:p>
                      <a:r>
                        <a:rPr sz="700" b="1">
                          <a:solidFill>
                            <a:srgbClr val="393941"/>
                          </a:solidFill>
                          <a:latin typeface="Avenir"/>
                        </a:rPr>
                        <a:t>KSA – Land</a:t>
                      </a:r>
                      <a:r>
                        <a:rPr lang="en-US" sz="700" b="1">
                          <a:solidFill>
                            <a:srgbClr val="393941"/>
                          </a:solidFill>
                          <a:latin typeface="Avenir"/>
                        </a:rPr>
                        <a:t>/Expand</a:t>
                      </a:r>
                      <a:endParaRPr sz="700" b="1">
                        <a:solidFill>
                          <a:srgbClr val="393941"/>
                        </a:solidFill>
                        <a:latin typeface="Avenir"/>
                      </a:endParaRPr>
                    </a:p>
                  </a:txBody>
                  <a:tcPr marL="45720" marR="45720" marT="18288" marB="18288"/>
                </a:tc>
                <a:tc>
                  <a:txBody>
                    <a:bodyPr/>
                    <a:lstStyle/>
                    <a:p>
                      <a:r>
                        <a:rPr sz="700">
                          <a:solidFill>
                            <a:srgbClr val="666666"/>
                          </a:solidFill>
                          <a:latin typeface="Avenir"/>
                        </a:rPr>
                        <a:t>Targeted e-mail marketing (supporting/complementary to BDR efforts)</a:t>
                      </a:r>
                    </a:p>
                  </a:txBody>
                  <a:tcPr marL="45720" marR="45720" marT="18288" marB="18288"/>
                </a:tc>
                <a:tc>
                  <a:txBody>
                    <a:bodyPr/>
                    <a:lstStyle/>
                    <a:p>
                      <a:r>
                        <a:rPr lang="en-US" sz="800">
                          <a:solidFill>
                            <a:srgbClr val="666666"/>
                          </a:solidFill>
                          <a:latin typeface="+mn-lt"/>
                        </a:rPr>
                        <a:t>In-market sports/entertainment/dinner</a:t>
                      </a:r>
                    </a:p>
                    <a:p>
                      <a:r>
                        <a:rPr lang="en-US" sz="800">
                          <a:solidFill>
                            <a:srgbClr val="666666"/>
                          </a:solidFill>
                          <a:latin typeface="+mn-lt"/>
                        </a:rPr>
                        <a:t>Quarterly in-person updates</a:t>
                      </a:r>
                    </a:p>
                    <a:p>
                      <a:r>
                        <a:rPr lang="en-US" sz="800">
                          <a:solidFill>
                            <a:srgbClr val="666666"/>
                          </a:solidFill>
                          <a:latin typeface="+mn-lt"/>
                        </a:rPr>
                        <a:t>Value creation reporting</a:t>
                      </a:r>
                    </a:p>
                  </a:txBody>
                  <a:tcPr marL="45720" marR="45720" marT="18288" marB="18288"/>
                </a:tc>
                <a:tc>
                  <a:txBody>
                    <a:bodyPr/>
                    <a:lstStyle/>
                    <a:p>
                      <a:r>
                        <a:rPr sz="700">
                          <a:solidFill>
                            <a:srgbClr val="666666"/>
                          </a:solidFill>
                          <a:latin typeface="Avenir"/>
                        </a:rPr>
                        <a:t>Generate 5 MQLs per Q</a:t>
                      </a:r>
                    </a:p>
                  </a:txBody>
                  <a:tcPr marL="45720" marR="45720" marT="18288" marB="18288"/>
                </a:tc>
                <a:extLst>
                  <a:ext uri="{0D108BD9-81ED-4DB2-BD59-A6C34878D82A}">
                    <a16:rowId xmlns:a16="http://schemas.microsoft.com/office/drawing/2014/main" val="10001"/>
                  </a:ext>
                </a:extLst>
              </a:tr>
              <a:tr h="264598">
                <a:tc>
                  <a:txBody>
                    <a:bodyPr/>
                    <a:lstStyle/>
                    <a:p>
                      <a:r>
                        <a:rPr sz="700" b="1">
                          <a:solidFill>
                            <a:srgbClr val="393941"/>
                          </a:solidFill>
                          <a:latin typeface="Avenir"/>
                        </a:rPr>
                        <a:t>Demand Gen. – Key Verticals</a:t>
                      </a:r>
                    </a:p>
                  </a:txBody>
                  <a:tcPr marL="45720" marR="45720" marT="18288" marB="18288"/>
                </a:tc>
                <a:tc>
                  <a:txBody>
                    <a:bodyPr/>
                    <a:lstStyle/>
                    <a:p>
                      <a:r>
                        <a:rPr sz="700" b="1">
                          <a:solidFill>
                            <a:srgbClr val="666666"/>
                          </a:solidFill>
                          <a:latin typeface="Avenir"/>
                        </a:rPr>
                        <a:t>Targeted lead gen campaign (</a:t>
                      </a:r>
                      <a:r>
                        <a:rPr sz="700" b="1" err="1">
                          <a:solidFill>
                            <a:srgbClr val="666666"/>
                          </a:solidFill>
                          <a:latin typeface="Avenir"/>
                        </a:rPr>
                        <a:t>Portco</a:t>
                      </a:r>
                      <a:r>
                        <a:rPr sz="700" b="1">
                          <a:solidFill>
                            <a:srgbClr val="666666"/>
                          </a:solidFill>
                          <a:latin typeface="Avenir"/>
                        </a:rPr>
                        <a:t>; Potentially PE)</a:t>
                      </a:r>
                    </a:p>
                  </a:txBody>
                  <a:tcPr marL="45720" marR="45720" marT="18288" marB="18288"/>
                </a:tc>
                <a:tc>
                  <a:txBody>
                    <a:bodyPr/>
                    <a:lstStyle/>
                    <a:p>
                      <a:endParaRPr/>
                    </a:p>
                  </a:txBody>
                  <a:tcPr marL="45720" marR="45720" marT="18288" marB="18288"/>
                </a:tc>
                <a:tc>
                  <a:txBody>
                    <a:bodyPr/>
                    <a:lstStyle/>
                    <a:p>
                      <a:r>
                        <a:rPr sz="700">
                          <a:solidFill>
                            <a:srgbClr val="666666"/>
                          </a:solidFill>
                          <a:latin typeface="Avenir"/>
                        </a:rPr>
                        <a:t>Generate 5 MQLs per Q per vertical</a:t>
                      </a:r>
                    </a:p>
                  </a:txBody>
                  <a:tcPr marL="45720" marR="45720" marT="18288" marB="18288"/>
                </a:tc>
                <a:extLst>
                  <a:ext uri="{0D108BD9-81ED-4DB2-BD59-A6C34878D82A}">
                    <a16:rowId xmlns:a16="http://schemas.microsoft.com/office/drawing/2014/main" val="10003"/>
                  </a:ext>
                </a:extLst>
              </a:tr>
              <a:tr h="303510">
                <a:tc>
                  <a:txBody>
                    <a:bodyPr/>
                    <a:lstStyle/>
                    <a:p>
                      <a:r>
                        <a:rPr sz="700" b="1">
                          <a:solidFill>
                            <a:srgbClr val="393941"/>
                          </a:solidFill>
                          <a:latin typeface="Avenir"/>
                        </a:rPr>
                        <a:t>Demand Gen. – Parcel</a:t>
                      </a:r>
                    </a:p>
                  </a:txBody>
                  <a:tcPr marL="45720" marR="45720" marT="18288" marB="18288">
                    <a:solidFill>
                      <a:srgbClr val="F5F5F5"/>
                    </a:solidFill>
                  </a:tcPr>
                </a:tc>
                <a:tc>
                  <a:txBody>
                    <a:bodyPr/>
                    <a:lstStyle/>
                    <a:p>
                      <a:r>
                        <a:rPr sz="700" b="1">
                          <a:solidFill>
                            <a:srgbClr val="666666"/>
                          </a:solidFill>
                          <a:latin typeface="Avenir"/>
                        </a:rPr>
                        <a:t>Known </a:t>
                      </a:r>
                      <a:r>
                        <a:rPr sz="700" b="1" err="1">
                          <a:solidFill>
                            <a:srgbClr val="666666"/>
                          </a:solidFill>
                          <a:latin typeface="Avenir"/>
                        </a:rPr>
                        <a:t>Coretrust</a:t>
                      </a:r>
                      <a:r>
                        <a:rPr sz="700" b="1">
                          <a:solidFill>
                            <a:srgbClr val="666666"/>
                          </a:solidFill>
                          <a:latin typeface="Avenir"/>
                        </a:rPr>
                        <a:t> users (PE)</a:t>
                      </a:r>
                    </a:p>
                    <a:p>
                      <a:r>
                        <a:rPr sz="700" b="1">
                          <a:solidFill>
                            <a:srgbClr val="666666"/>
                          </a:solidFill>
                          <a:latin typeface="Avenir"/>
                        </a:rPr>
                        <a:t>UPS approved PE accounts (</a:t>
                      </a:r>
                      <a:r>
                        <a:rPr sz="700" b="1" err="1">
                          <a:solidFill>
                            <a:srgbClr val="666666"/>
                          </a:solidFill>
                          <a:latin typeface="Avenir"/>
                        </a:rPr>
                        <a:t>Portco</a:t>
                      </a:r>
                      <a:r>
                        <a:rPr sz="700" b="1">
                          <a:solidFill>
                            <a:srgbClr val="666666"/>
                          </a:solidFill>
                          <a:latin typeface="Avenir"/>
                        </a:rPr>
                        <a:t>)</a:t>
                      </a:r>
                    </a:p>
                    <a:p>
                      <a:r>
                        <a:rPr sz="700" b="1">
                          <a:solidFill>
                            <a:srgbClr val="666666"/>
                          </a:solidFill>
                          <a:latin typeface="Avenir"/>
                        </a:rPr>
                        <a:t>Logistics/transportation heavy PEs not on KSA list (PE)</a:t>
                      </a:r>
                    </a:p>
                  </a:txBody>
                  <a:tcPr marL="45720" marR="45720" marT="18288" marB="18288">
                    <a:solidFill>
                      <a:srgbClr val="F5F5F5"/>
                    </a:solidFill>
                  </a:tcPr>
                </a:tc>
                <a:tc>
                  <a:txBody>
                    <a:bodyPr/>
                    <a:lstStyle/>
                    <a:p>
                      <a:endParaRPr/>
                    </a:p>
                  </a:txBody>
                  <a:tcPr marL="45720" marR="45720" marT="18288" marB="18288">
                    <a:solidFill>
                      <a:srgbClr val="F5F5F5"/>
                    </a:solidFill>
                  </a:tcPr>
                </a:tc>
                <a:tc>
                  <a:txBody>
                    <a:bodyPr/>
                    <a:lstStyle/>
                    <a:p>
                      <a:r>
                        <a:rPr sz="700">
                          <a:solidFill>
                            <a:srgbClr val="666666"/>
                          </a:solidFill>
                          <a:latin typeface="Avenir"/>
                        </a:rPr>
                        <a:t>Generate 10 MQLs per Q</a:t>
                      </a:r>
                    </a:p>
                  </a:txBody>
                  <a:tcPr marL="45720" marR="45720" marT="18288" marB="18288">
                    <a:solidFill>
                      <a:srgbClr val="F5F5F5"/>
                    </a:solidFill>
                  </a:tcPr>
                </a:tc>
                <a:extLst>
                  <a:ext uri="{0D108BD9-81ED-4DB2-BD59-A6C34878D82A}">
                    <a16:rowId xmlns:a16="http://schemas.microsoft.com/office/drawing/2014/main" val="10004"/>
                  </a:ext>
                </a:extLst>
              </a:tr>
              <a:tr h="264598">
                <a:tc>
                  <a:txBody>
                    <a:bodyPr/>
                    <a:lstStyle/>
                    <a:p>
                      <a:r>
                        <a:rPr sz="700" b="1">
                          <a:solidFill>
                            <a:srgbClr val="393941"/>
                          </a:solidFill>
                          <a:latin typeface="Avenir"/>
                        </a:rPr>
                        <a:t>Demand Gen. - PVP</a:t>
                      </a:r>
                    </a:p>
                  </a:txBody>
                  <a:tcPr marL="45720" marR="45720" marT="18288" marB="18288"/>
                </a:tc>
                <a:tc>
                  <a:txBody>
                    <a:bodyPr/>
                    <a:lstStyle/>
                    <a:p>
                      <a:r>
                        <a:rPr sz="700" b="1">
                          <a:solidFill>
                            <a:srgbClr val="666666"/>
                          </a:solidFill>
                          <a:latin typeface="Avenir"/>
                        </a:rPr>
                        <a:t>Past Treya clients (PE/</a:t>
                      </a:r>
                      <a:r>
                        <a:rPr sz="700" b="1" err="1">
                          <a:solidFill>
                            <a:srgbClr val="666666"/>
                          </a:solidFill>
                          <a:latin typeface="Avenir"/>
                        </a:rPr>
                        <a:t>Portco</a:t>
                      </a:r>
                      <a:r>
                        <a:rPr sz="700" b="1">
                          <a:solidFill>
                            <a:srgbClr val="666666"/>
                          </a:solidFill>
                          <a:latin typeface="Avenir"/>
                        </a:rPr>
                        <a:t>)</a:t>
                      </a:r>
                    </a:p>
                    <a:p>
                      <a:r>
                        <a:rPr sz="700" b="1">
                          <a:solidFill>
                            <a:srgbClr val="666666"/>
                          </a:solidFill>
                          <a:latin typeface="Avenir"/>
                        </a:rPr>
                        <a:t>Non-KSA PEs (PE)</a:t>
                      </a:r>
                    </a:p>
                  </a:txBody>
                  <a:tcPr marL="45720" marR="45720" marT="18288" marB="18288"/>
                </a:tc>
                <a:tc>
                  <a:txBody>
                    <a:bodyPr/>
                    <a:lstStyle/>
                    <a:p>
                      <a:endParaRPr/>
                    </a:p>
                  </a:txBody>
                  <a:tcPr marL="45720" marR="45720" marT="18288" marB="18288"/>
                </a:tc>
                <a:tc>
                  <a:txBody>
                    <a:bodyPr/>
                    <a:lstStyle/>
                    <a:p>
                      <a:r>
                        <a:rPr sz="700">
                          <a:solidFill>
                            <a:srgbClr val="666666"/>
                          </a:solidFill>
                          <a:latin typeface="Avenir"/>
                        </a:rPr>
                        <a:t>Create 5 MQLs per Q</a:t>
                      </a:r>
                    </a:p>
                  </a:txBody>
                  <a:tcPr marL="45720" marR="45720" marT="18288" marB="18288"/>
                </a:tc>
                <a:extLst>
                  <a:ext uri="{0D108BD9-81ED-4DB2-BD59-A6C34878D82A}">
                    <a16:rowId xmlns:a16="http://schemas.microsoft.com/office/drawing/2014/main" val="10005"/>
                  </a:ext>
                </a:extLst>
              </a:tr>
              <a:tr h="264598">
                <a:tc>
                  <a:txBody>
                    <a:bodyPr/>
                    <a:lstStyle/>
                    <a:p>
                      <a:r>
                        <a:rPr sz="700" b="1">
                          <a:solidFill>
                            <a:srgbClr val="393941"/>
                          </a:solidFill>
                          <a:latin typeface="Avenir"/>
                        </a:rPr>
                        <a:t>Demand Gen. - Others</a:t>
                      </a:r>
                    </a:p>
                  </a:txBody>
                  <a:tcPr marL="45720" marR="45720" marT="18288" marB="18288">
                    <a:solidFill>
                      <a:srgbClr val="F5F5F5"/>
                    </a:solidFill>
                  </a:tcPr>
                </a:tc>
                <a:tc>
                  <a:txBody>
                    <a:bodyPr/>
                    <a:lstStyle/>
                    <a:p>
                      <a:r>
                        <a:rPr sz="700">
                          <a:solidFill>
                            <a:srgbClr val="666666"/>
                          </a:solidFill>
                          <a:latin typeface="Avenir"/>
                        </a:rPr>
                        <a:t>TBD - other high opportunity areas (e-commerce focused offering for instance)</a:t>
                      </a:r>
                    </a:p>
                  </a:txBody>
                  <a:tcPr marL="45720" marR="45720" marT="18288" marB="18288">
                    <a:solidFill>
                      <a:srgbClr val="F5F5F5"/>
                    </a:solidFill>
                  </a:tcPr>
                </a:tc>
                <a:tc>
                  <a:txBody>
                    <a:bodyPr/>
                    <a:lstStyle/>
                    <a:p>
                      <a:endParaRPr/>
                    </a:p>
                  </a:txBody>
                  <a:tcPr marL="45720" marR="45720" marT="18288" marB="18288">
                    <a:solidFill>
                      <a:srgbClr val="F5F5F5"/>
                    </a:solidFill>
                  </a:tcPr>
                </a:tc>
                <a:tc>
                  <a:txBody>
                    <a:bodyPr/>
                    <a:lstStyle/>
                    <a:p>
                      <a:r>
                        <a:rPr sz="700">
                          <a:solidFill>
                            <a:srgbClr val="666666"/>
                          </a:solidFill>
                          <a:latin typeface="Avenir"/>
                        </a:rPr>
                        <a:t>TBD</a:t>
                      </a:r>
                    </a:p>
                  </a:txBody>
                  <a:tcPr marL="45720" marR="45720" marT="18288" marB="18288">
                    <a:solidFill>
                      <a:srgbClr val="F5F5F5"/>
                    </a:solidFill>
                  </a:tcPr>
                </a:tc>
                <a:extLst>
                  <a:ext uri="{0D108BD9-81ED-4DB2-BD59-A6C34878D82A}">
                    <a16:rowId xmlns:a16="http://schemas.microsoft.com/office/drawing/2014/main" val="10006"/>
                  </a:ext>
                </a:extLst>
              </a:tr>
              <a:tr h="264598">
                <a:tc>
                  <a:txBody>
                    <a:bodyPr/>
                    <a:lstStyle/>
                    <a:p>
                      <a:r>
                        <a:rPr sz="700" b="1">
                          <a:solidFill>
                            <a:srgbClr val="393941"/>
                          </a:solidFill>
                          <a:latin typeface="Avenir"/>
                        </a:rPr>
                        <a:t>Treya Annual PE Summit</a:t>
                      </a:r>
                    </a:p>
                  </a:txBody>
                  <a:tcPr marL="45720" marR="45720" marT="18288" marB="18288"/>
                </a:tc>
                <a:tc>
                  <a:txBody>
                    <a:bodyPr/>
                    <a:lstStyle/>
                    <a:p>
                      <a:endParaRPr/>
                    </a:p>
                  </a:txBody>
                  <a:tcPr marL="45720" marR="45720" marT="18288" marB="18288"/>
                </a:tc>
                <a:tc>
                  <a:txBody>
                    <a:bodyPr/>
                    <a:lstStyle/>
                    <a:p>
                      <a:r>
                        <a:rPr lang="en-US" sz="700" b="1">
                          <a:solidFill>
                            <a:srgbClr val="666666"/>
                          </a:solidFill>
                          <a:latin typeface="Avenir"/>
                        </a:rPr>
                        <a:t>Curated 1-2 day off-site targeting 10-15 attendees (anchored around existing clients, target emerging KSAs). </a:t>
                      </a:r>
                    </a:p>
                  </a:txBody>
                  <a:tcPr marL="45720" marR="45720" marT="18288" marB="18288"/>
                </a:tc>
                <a:tc>
                  <a:txBody>
                    <a:bodyPr/>
                    <a:lstStyle/>
                    <a:p>
                      <a:endParaRPr/>
                    </a:p>
                  </a:txBody>
                  <a:tcPr marL="45720" marR="45720" marT="18288" marB="18288"/>
                </a:tc>
                <a:extLst>
                  <a:ext uri="{0D108BD9-81ED-4DB2-BD59-A6C34878D82A}">
                    <a16:rowId xmlns:a16="http://schemas.microsoft.com/office/drawing/2014/main" val="10007"/>
                  </a:ext>
                </a:extLst>
              </a:tr>
              <a:tr h="264598">
                <a:tc>
                  <a:txBody>
                    <a:bodyPr/>
                    <a:lstStyle/>
                    <a:p>
                      <a:r>
                        <a:rPr sz="700" b="1">
                          <a:solidFill>
                            <a:srgbClr val="393941"/>
                          </a:solidFill>
                          <a:latin typeface="Avenir"/>
                        </a:rPr>
                        <a:t>Collateral Update</a:t>
                      </a:r>
                    </a:p>
                  </a:txBody>
                  <a:tcPr marL="45720" marR="45720" marT="18288" marB="18288">
                    <a:solidFill>
                      <a:srgbClr val="F5F5F5"/>
                    </a:solidFill>
                  </a:tcPr>
                </a:tc>
                <a:tc>
                  <a:txBody>
                    <a:bodyPr/>
                    <a:lstStyle/>
                    <a:p>
                      <a:endParaRPr/>
                    </a:p>
                  </a:txBody>
                  <a:tcPr marL="45720" marR="45720" marT="18288" marB="18288">
                    <a:solidFill>
                      <a:srgbClr val="F5F5F5"/>
                    </a:solidFill>
                  </a:tcPr>
                </a:tc>
                <a:tc>
                  <a:txBody>
                    <a:bodyPr/>
                    <a:lstStyle/>
                    <a:p>
                      <a:r>
                        <a:rPr sz="700">
                          <a:solidFill>
                            <a:srgbClr val="666666"/>
                          </a:solidFill>
                          <a:latin typeface="Avenir"/>
                        </a:rPr>
                        <a:t>Update master sales / proposal decks</a:t>
                      </a:r>
                    </a:p>
                  </a:txBody>
                  <a:tcPr marL="45720" marR="45720" marT="18288" marB="18288">
                    <a:solidFill>
                      <a:srgbClr val="F5F5F5"/>
                    </a:solidFill>
                  </a:tcPr>
                </a:tc>
                <a:tc>
                  <a:txBody>
                    <a:bodyPr/>
                    <a:lstStyle/>
                    <a:p>
                      <a:endParaRPr/>
                    </a:p>
                  </a:txBody>
                  <a:tcPr marL="45720" marR="45720" marT="18288" marB="18288">
                    <a:solidFill>
                      <a:srgbClr val="F5F5F5"/>
                    </a:solidFill>
                  </a:tcPr>
                </a:tc>
                <a:extLst>
                  <a:ext uri="{0D108BD9-81ED-4DB2-BD59-A6C34878D82A}">
                    <a16:rowId xmlns:a16="http://schemas.microsoft.com/office/drawing/2014/main" val="10008"/>
                  </a:ext>
                </a:extLst>
              </a:tr>
              <a:tr h="264598">
                <a:tc>
                  <a:txBody>
                    <a:bodyPr/>
                    <a:lstStyle/>
                    <a:p>
                      <a:r>
                        <a:rPr sz="700" b="1">
                          <a:solidFill>
                            <a:srgbClr val="393941"/>
                          </a:solidFill>
                          <a:latin typeface="Avenir"/>
                        </a:rPr>
                        <a:t>Customer/Market Proof</a:t>
                      </a:r>
                    </a:p>
                  </a:txBody>
                  <a:tcPr marL="45720" marR="45720" marT="18288" marB="18288"/>
                </a:tc>
                <a:tc>
                  <a:txBody>
                    <a:bodyPr/>
                    <a:lstStyle/>
                    <a:p>
                      <a:endParaRPr/>
                    </a:p>
                  </a:txBody>
                  <a:tcPr marL="45720" marR="45720" marT="18288" marB="18288"/>
                </a:tc>
                <a:tc>
                  <a:txBody>
                    <a:bodyPr/>
                    <a:lstStyle/>
                    <a:p>
                      <a:r>
                        <a:rPr sz="700" b="1">
                          <a:solidFill>
                            <a:srgbClr val="666666"/>
                          </a:solidFill>
                          <a:latin typeface="Avenir"/>
                        </a:rPr>
                        <a:t>PE endorsements (video, other)</a:t>
                      </a:r>
                    </a:p>
                    <a:p>
                      <a:r>
                        <a:rPr sz="700" b="1" err="1">
                          <a:solidFill>
                            <a:srgbClr val="666666"/>
                          </a:solidFill>
                          <a:latin typeface="Avenir"/>
                        </a:rPr>
                        <a:t>Portco</a:t>
                      </a:r>
                      <a:r>
                        <a:rPr sz="700" b="1">
                          <a:solidFill>
                            <a:srgbClr val="666666"/>
                          </a:solidFill>
                          <a:latin typeface="Avenir"/>
                        </a:rPr>
                        <a:t> endorsements (video, other)</a:t>
                      </a:r>
                    </a:p>
                  </a:txBody>
                  <a:tcPr marL="45720" marR="45720" marT="18288" marB="18288"/>
                </a:tc>
                <a:tc>
                  <a:txBody>
                    <a:bodyPr/>
                    <a:lstStyle/>
                    <a:p>
                      <a:endParaRPr/>
                    </a:p>
                  </a:txBody>
                  <a:tcPr marL="45720" marR="45720" marT="18288" marB="18288"/>
                </a:tc>
                <a:extLst>
                  <a:ext uri="{0D108BD9-81ED-4DB2-BD59-A6C34878D82A}">
                    <a16:rowId xmlns:a16="http://schemas.microsoft.com/office/drawing/2014/main" val="10009"/>
                  </a:ext>
                </a:extLst>
              </a:tr>
              <a:tr h="303510">
                <a:tc>
                  <a:txBody>
                    <a:bodyPr/>
                    <a:lstStyle/>
                    <a:p>
                      <a:r>
                        <a:rPr sz="700" b="1">
                          <a:solidFill>
                            <a:srgbClr val="393941"/>
                          </a:solidFill>
                          <a:latin typeface="Avenir"/>
                        </a:rPr>
                        <a:t>Sales Enablement</a:t>
                      </a:r>
                    </a:p>
                  </a:txBody>
                  <a:tcPr marL="45720" marR="45720" marT="18288" marB="18288">
                    <a:solidFill>
                      <a:srgbClr val="F5F5F5"/>
                    </a:solidFill>
                  </a:tcPr>
                </a:tc>
                <a:tc>
                  <a:txBody>
                    <a:bodyPr/>
                    <a:lstStyle/>
                    <a:p>
                      <a:endParaRPr/>
                    </a:p>
                  </a:txBody>
                  <a:tcPr marL="45720" marR="45720" marT="18288" marB="18288">
                    <a:solidFill>
                      <a:srgbClr val="F5F5F5"/>
                    </a:solidFill>
                  </a:tcPr>
                </a:tc>
                <a:tc>
                  <a:txBody>
                    <a:bodyPr/>
                    <a:lstStyle/>
                    <a:p>
                      <a:r>
                        <a:rPr sz="700" b="1">
                          <a:solidFill>
                            <a:srgbClr val="666666"/>
                          </a:solidFill>
                          <a:latin typeface="Avenir"/>
                        </a:rPr>
                        <a:t>Create snapshot case study for each successful project</a:t>
                      </a:r>
                    </a:p>
                    <a:p>
                      <a:r>
                        <a:rPr sz="700" b="1">
                          <a:solidFill>
                            <a:srgbClr val="666666"/>
                          </a:solidFill>
                          <a:latin typeface="Avenir"/>
                        </a:rPr>
                        <a:t>Top 5 Verticals – sales fact packs</a:t>
                      </a:r>
                    </a:p>
                    <a:p>
                      <a:r>
                        <a:rPr sz="700" b="1">
                          <a:solidFill>
                            <a:srgbClr val="666666"/>
                          </a:solidFill>
                          <a:latin typeface="Avenir"/>
                        </a:rPr>
                        <a:t>AI based comps</a:t>
                      </a:r>
                      <a:r>
                        <a:rPr lang="en-US" sz="700" b="1">
                          <a:solidFill>
                            <a:srgbClr val="666666"/>
                          </a:solidFill>
                          <a:latin typeface="Avenir"/>
                        </a:rPr>
                        <a:t>/case studies </a:t>
                      </a:r>
                      <a:r>
                        <a:rPr sz="700" b="1">
                          <a:solidFill>
                            <a:srgbClr val="666666"/>
                          </a:solidFill>
                          <a:latin typeface="Avenir"/>
                        </a:rPr>
                        <a:t>for PE/</a:t>
                      </a:r>
                      <a:r>
                        <a:rPr sz="700" b="1" err="1">
                          <a:solidFill>
                            <a:srgbClr val="666666"/>
                          </a:solidFill>
                          <a:latin typeface="Avenir"/>
                        </a:rPr>
                        <a:t>portco</a:t>
                      </a:r>
                      <a:r>
                        <a:rPr sz="700" b="1">
                          <a:solidFill>
                            <a:srgbClr val="666666"/>
                          </a:solidFill>
                          <a:latin typeface="Avenir"/>
                        </a:rPr>
                        <a:t> level targeting</a:t>
                      </a:r>
                    </a:p>
                  </a:txBody>
                  <a:tcPr marL="45720" marR="45720" marT="18288" marB="18288">
                    <a:solidFill>
                      <a:srgbClr val="F5F5F5"/>
                    </a:solidFill>
                  </a:tcPr>
                </a:tc>
                <a:tc>
                  <a:txBody>
                    <a:bodyPr/>
                    <a:lstStyle/>
                    <a:p>
                      <a:endParaRPr/>
                    </a:p>
                  </a:txBody>
                  <a:tcPr marL="45720" marR="45720" marT="18288" marB="18288">
                    <a:solidFill>
                      <a:srgbClr val="F5F5F5"/>
                    </a:solidFill>
                  </a:tcPr>
                </a:tc>
                <a:extLst>
                  <a:ext uri="{0D108BD9-81ED-4DB2-BD59-A6C34878D82A}">
                    <a16:rowId xmlns:a16="http://schemas.microsoft.com/office/drawing/2014/main" val="10010"/>
                  </a:ext>
                </a:extLst>
              </a:tr>
              <a:tr h="264598">
                <a:tc>
                  <a:txBody>
                    <a:bodyPr/>
                    <a:lstStyle/>
                    <a:p>
                      <a:r>
                        <a:rPr sz="700" b="1">
                          <a:solidFill>
                            <a:srgbClr val="393941"/>
                          </a:solidFill>
                          <a:latin typeface="Avenir"/>
                        </a:rPr>
                        <a:t>Thought Leadership &amp; Market Positioning</a:t>
                      </a:r>
                    </a:p>
                  </a:txBody>
                  <a:tcPr marL="45720" marR="45720" marT="18288" marB="18288"/>
                </a:tc>
                <a:tc>
                  <a:txBody>
                    <a:bodyPr/>
                    <a:lstStyle/>
                    <a:p>
                      <a:endParaRPr/>
                    </a:p>
                  </a:txBody>
                  <a:tcPr marL="45720" marR="45720" marT="18288" marB="18288"/>
                </a:tc>
                <a:tc>
                  <a:txBody>
                    <a:bodyPr/>
                    <a:lstStyle/>
                    <a:p>
                      <a:r>
                        <a:rPr sz="700">
                          <a:solidFill>
                            <a:srgbClr val="666666"/>
                          </a:solidFill>
                          <a:latin typeface="Avenir"/>
                        </a:rPr>
                        <a:t>Blog posts</a:t>
                      </a:r>
                      <a:r>
                        <a:rPr lang="en-US" sz="700">
                          <a:solidFill>
                            <a:srgbClr val="666666"/>
                          </a:solidFill>
                          <a:latin typeface="Avenir"/>
                        </a:rPr>
                        <a:t>, </a:t>
                      </a:r>
                      <a:r>
                        <a:rPr sz="700">
                          <a:solidFill>
                            <a:srgbClr val="666666"/>
                          </a:solidFill>
                          <a:latin typeface="Avenir"/>
                        </a:rPr>
                        <a:t>Newsletter</a:t>
                      </a:r>
                      <a:r>
                        <a:rPr lang="en-US" sz="700">
                          <a:solidFill>
                            <a:srgbClr val="666666"/>
                          </a:solidFill>
                          <a:latin typeface="Avenir"/>
                        </a:rPr>
                        <a:t>, </a:t>
                      </a:r>
                      <a:r>
                        <a:rPr sz="700">
                          <a:solidFill>
                            <a:srgbClr val="666666"/>
                          </a:solidFill>
                          <a:latin typeface="Avenir"/>
                        </a:rPr>
                        <a:t>Media</a:t>
                      </a:r>
                      <a:r>
                        <a:rPr lang="en-US" sz="700">
                          <a:solidFill>
                            <a:srgbClr val="666666"/>
                          </a:solidFill>
                          <a:latin typeface="Avenir"/>
                        </a:rPr>
                        <a:t>, </a:t>
                      </a:r>
                      <a:r>
                        <a:rPr sz="700" err="1">
                          <a:solidFill>
                            <a:srgbClr val="666666"/>
                          </a:solidFill>
                          <a:latin typeface="Avenir"/>
                        </a:rPr>
                        <a:t>Linkedin</a:t>
                      </a:r>
                      <a:r>
                        <a:rPr lang="en-US" sz="700">
                          <a:solidFill>
                            <a:srgbClr val="666666"/>
                          </a:solidFill>
                          <a:latin typeface="Avenir"/>
                        </a:rPr>
                        <a:t>, </a:t>
                      </a:r>
                      <a:r>
                        <a:rPr sz="700">
                          <a:solidFill>
                            <a:srgbClr val="666666"/>
                          </a:solidFill>
                          <a:latin typeface="Avenir"/>
                        </a:rPr>
                        <a:t>Conferences</a:t>
                      </a:r>
                    </a:p>
                  </a:txBody>
                  <a:tcPr marL="45720" marR="45720" marT="18288" marB="18288"/>
                </a:tc>
                <a:tc>
                  <a:txBody>
                    <a:bodyPr/>
                    <a:lstStyle/>
                    <a:p>
                      <a:endParaRPr/>
                    </a:p>
                  </a:txBody>
                  <a:tcPr marL="45720" marR="45720" marT="18288" marB="18288"/>
                </a:tc>
                <a:extLst>
                  <a:ext uri="{0D108BD9-81ED-4DB2-BD59-A6C34878D82A}">
                    <a16:rowId xmlns:a16="http://schemas.microsoft.com/office/drawing/2014/main" val="10011"/>
                  </a:ext>
                </a:extLst>
              </a:tr>
              <a:tr h="264598">
                <a:tc>
                  <a:txBody>
                    <a:bodyPr/>
                    <a:lstStyle/>
                    <a:p>
                      <a:r>
                        <a:rPr sz="700" b="1">
                          <a:solidFill>
                            <a:srgbClr val="393941"/>
                          </a:solidFill>
                          <a:latin typeface="Avenir"/>
                        </a:rPr>
                        <a:t>Channel Partner Ecosystem</a:t>
                      </a:r>
                    </a:p>
                  </a:txBody>
                  <a:tcPr marL="45720" marR="45720" marT="18288" marB="18288">
                    <a:solidFill>
                      <a:srgbClr val="F5F5F5"/>
                    </a:solidFill>
                  </a:tcPr>
                </a:tc>
                <a:tc>
                  <a:txBody>
                    <a:bodyPr/>
                    <a:lstStyle/>
                    <a:p>
                      <a:endParaRPr/>
                    </a:p>
                  </a:txBody>
                  <a:tcPr marL="45720" marR="45720" marT="18288" marB="18288">
                    <a:solidFill>
                      <a:srgbClr val="F5F5F5"/>
                    </a:solidFill>
                  </a:tcPr>
                </a:tc>
                <a:tc>
                  <a:txBody>
                    <a:bodyPr/>
                    <a:lstStyle/>
                    <a:p>
                      <a:r>
                        <a:rPr sz="700">
                          <a:solidFill>
                            <a:srgbClr val="666666"/>
                          </a:solidFill>
                          <a:latin typeface="Avenir"/>
                        </a:rPr>
                        <a:t>TBD</a:t>
                      </a:r>
                    </a:p>
                  </a:txBody>
                  <a:tcPr marL="45720" marR="45720" marT="18288" marB="18288">
                    <a:solidFill>
                      <a:srgbClr val="F5F5F5"/>
                    </a:solidFill>
                  </a:tcPr>
                </a:tc>
                <a:tc>
                  <a:txBody>
                    <a:bodyPr/>
                    <a:lstStyle/>
                    <a:p>
                      <a:endParaRPr/>
                    </a:p>
                  </a:txBody>
                  <a:tcPr marL="45720" marR="45720" marT="18288" marB="18288">
                    <a:solidFill>
                      <a:srgbClr val="F5F5F5"/>
                    </a:solidFill>
                  </a:tcPr>
                </a:tc>
                <a:extLst>
                  <a:ext uri="{0D108BD9-81ED-4DB2-BD59-A6C34878D82A}">
                    <a16:rowId xmlns:a16="http://schemas.microsoft.com/office/drawing/2014/main" val="10012"/>
                  </a:ext>
                </a:extLst>
              </a:tr>
              <a:tr h="264598">
                <a:tc>
                  <a:txBody>
                    <a:bodyPr/>
                    <a:lstStyle/>
                    <a:p>
                      <a:r>
                        <a:rPr lang="en-US" sz="700" b="1">
                          <a:solidFill>
                            <a:srgbClr val="393941"/>
                          </a:solidFill>
                          <a:latin typeface="Avenir"/>
                        </a:rPr>
                        <a:t>Other</a:t>
                      </a:r>
                      <a:endParaRPr sz="700" b="1">
                        <a:solidFill>
                          <a:srgbClr val="393941"/>
                        </a:solidFill>
                        <a:latin typeface="Avenir"/>
                      </a:endParaRPr>
                    </a:p>
                  </a:txBody>
                  <a:tcPr marL="45720" marR="45720" marT="18288" marB="18288"/>
                </a:tc>
                <a:tc>
                  <a:txBody>
                    <a:bodyPr/>
                    <a:lstStyle/>
                    <a:p>
                      <a:endParaRPr/>
                    </a:p>
                  </a:txBody>
                  <a:tcPr marL="45720" marR="45720" marT="18288" marB="18288"/>
                </a:tc>
                <a:tc>
                  <a:txBody>
                    <a:bodyPr/>
                    <a:lstStyle/>
                    <a:p>
                      <a:r>
                        <a:rPr lang="en-US" sz="700">
                          <a:solidFill>
                            <a:srgbClr val="666666"/>
                          </a:solidFill>
                          <a:latin typeface="Avenir"/>
                        </a:rPr>
                        <a:t>Website update, list management, Warmly, ABM, etc.</a:t>
                      </a:r>
                      <a:endParaRPr sz="700">
                        <a:solidFill>
                          <a:srgbClr val="666666"/>
                        </a:solidFill>
                        <a:latin typeface="Avenir"/>
                      </a:endParaRPr>
                    </a:p>
                  </a:txBody>
                  <a:tcPr marL="45720" marR="45720" marT="18288" marB="18288"/>
                </a:tc>
                <a:tc>
                  <a:txBody>
                    <a:bodyPr/>
                    <a:lstStyle/>
                    <a:p>
                      <a:endParaRPr/>
                    </a:p>
                  </a:txBody>
                  <a:tcPr marL="45720" marR="45720" marT="18288" marB="18288"/>
                </a:tc>
                <a:extLst>
                  <a:ext uri="{0D108BD9-81ED-4DB2-BD59-A6C34878D82A}">
                    <a16:rowId xmlns:a16="http://schemas.microsoft.com/office/drawing/2014/main" val="10013"/>
                  </a:ext>
                </a:extLst>
              </a:tr>
            </a:tbl>
          </a:graphicData>
        </a:graphic>
      </p:graphicFrame>
      <p:sp>
        <p:nvSpPr>
          <p:cNvPr id="9" name="Footer Note"/>
          <p:cNvSpPr/>
          <p:nvPr/>
        </p:nvSpPr>
        <p:spPr>
          <a:xfrm>
            <a:off x="548640" y="4800000"/>
            <a:ext cx="4572000" cy="228600"/>
          </a:xfrm>
          <a:prstGeom prst="rect">
            <a:avLst/>
          </a:prstGeom>
          <a:noFill/>
          <a:ln/>
        </p:spPr>
        <p:txBody>
          <a:bodyPr wrap="square" rtlCol="0" anchor="t"/>
          <a:lstStyle/>
          <a:p>
            <a:pPr marL="0" indent="0">
              <a:buNone/>
            </a:pPr>
            <a:r>
              <a:rPr lang="en-US" sz="800" i="1">
                <a:solidFill>
                  <a:srgbClr val="999999"/>
                </a:solidFill>
                <a:latin typeface="Avenir" pitchFamily="34" charset="0"/>
              </a:rPr>
              <a:t>Note: Bold = Q1 2026 Priorities</a:t>
            </a:r>
            <a:endParaRPr lang="en-US" sz="80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81B58E90-9034-414F-A083-12F9D1003AB6}" type="slidenum">
              <a:rPr lang="en-US" sz="1000" smtClean="0">
                <a:solidFill>
                  <a:srgbClr val="999999"/>
                </a:solidFill>
                <a:latin typeface="Avenir" pitchFamily="34" charset="0"/>
                <a:ea typeface="Avenir" pitchFamily="34" charset="-122"/>
                <a:cs typeface="Avenir" pitchFamily="34" charset="-120"/>
              </a:rPr>
              <a:t>19</a:t>
            </a:fld>
            <a:endParaRPr lang="en-US"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B235A7C-E756-879D-807B-FB11E485E9DE}"/>
            </a:ext>
          </a:extLst>
        </p:cNvPr>
        <p:cNvGrpSpPr/>
        <p:nvPr/>
      </p:nvGrpSpPr>
      <p:grpSpPr>
        <a:xfrm>
          <a:off x="0" y="0"/>
          <a:ext cx="0" cy="0"/>
          <a:chOff x="0" y="0"/>
          <a:chExt cx="0" cy="0"/>
        </a:xfrm>
      </p:grpSpPr>
      <p:sp>
        <p:nvSpPr>
          <p:cNvPr id="99" name="Accent Bar">
            <a:extLst>
              <a:ext uri="{FF2B5EF4-FFF2-40B4-BE49-F238E27FC236}">
                <a16:creationId xmlns:a16="http://schemas.microsoft.com/office/drawing/2014/main" id="{58265714-C149-7D14-E741-EC2F79B334DF}"/>
              </a:ext>
            </a:extLst>
          </p:cNvP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a:extLst>
              <a:ext uri="{FF2B5EF4-FFF2-40B4-BE49-F238E27FC236}">
                <a16:creationId xmlns:a16="http://schemas.microsoft.com/office/drawing/2014/main" id="{C0AABBB3-5583-D2FF-C2D3-868B12AA142C}"/>
              </a:ext>
            </a:extLst>
          </p:cNvPr>
          <p:cNvPicPr>
            <a:picLocks noChangeAspect="1"/>
          </p:cNvPicPr>
          <p:nvPr/>
        </p:nvPicPr>
        <p:blipFill>
          <a:blip r:embed="rId3"/>
          <a:stretch>
            <a:fillRect/>
          </a:stretch>
        </p:blipFill>
        <p:spPr>
          <a:xfrm>
            <a:off x="7692000" y="182880"/>
            <a:ext cx="1252732" cy="217467"/>
          </a:xfrm>
          <a:prstGeom prst="rect">
            <a:avLst/>
          </a:prstGeom>
        </p:spPr>
      </p:pic>
      <p:sp>
        <p:nvSpPr>
          <p:cNvPr id="4" name="Shape 1">
            <a:extLst>
              <a:ext uri="{FF2B5EF4-FFF2-40B4-BE49-F238E27FC236}">
                <a16:creationId xmlns:a16="http://schemas.microsoft.com/office/drawing/2014/main" id="{9FC08FA2-2038-1A06-C6CD-8DB41E048E08}"/>
              </a:ext>
            </a:extLst>
          </p:cNvPr>
          <p:cNvSpPr/>
          <p:nvPr/>
        </p:nvSpPr>
        <p:spPr>
          <a:xfrm>
            <a:off x="7692000" y="430347"/>
            <a:ext cx="1252732" cy="36576"/>
          </a:xfrm>
          <a:prstGeom prst="rect">
            <a:avLst/>
          </a:prstGeom>
          <a:solidFill>
            <a:srgbClr val="E8642C"/>
          </a:solidFill>
          <a:ln/>
        </p:spPr>
        <p:txBody>
          <a:bodyPr/>
          <a:lstStyle/>
          <a:p>
            <a:endParaRPr lang="en-US"/>
          </a:p>
        </p:txBody>
      </p:sp>
      <p:sp>
        <p:nvSpPr>
          <p:cNvPr id="5" name="Text 2">
            <a:extLst>
              <a:ext uri="{FF2B5EF4-FFF2-40B4-BE49-F238E27FC236}">
                <a16:creationId xmlns:a16="http://schemas.microsoft.com/office/drawing/2014/main" id="{1C36988C-B7FA-84D7-64C9-F8B20023F9B8}"/>
              </a:ext>
            </a:extLst>
          </p:cNvPr>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Marketing Update – Q1</a:t>
            </a:r>
            <a:endParaRPr lang="en-US" sz="2800"/>
          </a:p>
        </p:txBody>
      </p:sp>
      <p:sp>
        <p:nvSpPr>
          <p:cNvPr id="6" name="Text 3">
            <a:extLst>
              <a:ext uri="{FF2B5EF4-FFF2-40B4-BE49-F238E27FC236}">
                <a16:creationId xmlns:a16="http://schemas.microsoft.com/office/drawing/2014/main" id="{4F32F4FC-D8F9-F409-9796-EFB07186078F}"/>
              </a:ext>
            </a:extLst>
          </p:cNvPr>
          <p:cNvSpPr/>
          <p:nvPr/>
        </p:nvSpPr>
        <p:spPr>
          <a:xfrm>
            <a:off x="640080" y="1005840"/>
            <a:ext cx="7863840" cy="3474720"/>
          </a:xfrm>
          <a:prstGeom prst="rect">
            <a:avLst/>
          </a:prstGeom>
          <a:noFill/>
          <a:ln/>
        </p:spPr>
        <p:txBody>
          <a:bodyPr wrap="square" rtlCol="0" anchor="t"/>
          <a:lstStyle/>
          <a:p>
            <a:pPr marL="342900" indent="-342900">
              <a:spcAft>
                <a:spcPts val="600"/>
              </a:spcAft>
              <a:buClr>
                <a:srgbClr val="E8642C"/>
              </a:buClr>
              <a:buSzPct val="60000"/>
              <a:buChar char="■"/>
            </a:pPr>
            <a:r>
              <a:rPr lang="en-US" sz="1300">
                <a:solidFill>
                  <a:srgbClr val="666666"/>
                </a:solidFill>
                <a:latin typeface="Avenir" pitchFamily="34" charset="0"/>
                <a:ea typeface="Avenir" pitchFamily="34" charset="-122"/>
                <a:cs typeface="Avenir" pitchFamily="34" charset="-120"/>
              </a:rPr>
              <a:t>Treya PE Summit – 3/31 – 4/1 (confirmed attendance from 8 KSAs, reaching out to strong prospects)</a:t>
            </a:r>
            <a:endParaRPr lang="en-US" sz="1300"/>
          </a:p>
          <a:p>
            <a:pPr marL="342900" indent="-342900">
              <a:spcAft>
                <a:spcPts val="600"/>
              </a:spcAft>
              <a:buClr>
                <a:srgbClr val="E8642C"/>
              </a:buClr>
              <a:buSzPct val="60000"/>
              <a:buChar char="■"/>
            </a:pPr>
            <a:r>
              <a:rPr lang="en-US" sz="1300">
                <a:solidFill>
                  <a:srgbClr val="666666"/>
                </a:solidFill>
                <a:latin typeface="Avenir" pitchFamily="34" charset="0"/>
                <a:ea typeface="Avenir" pitchFamily="34" charset="-122"/>
                <a:cs typeface="Avenir" pitchFamily="34" charset="-120"/>
              </a:rPr>
              <a:t>3/5 customer video testimonials completed (the other 2 are scheduled)</a:t>
            </a:r>
          </a:p>
          <a:p>
            <a:pPr marL="342900" indent="-342900">
              <a:spcAft>
                <a:spcPts val="600"/>
              </a:spcAft>
              <a:buClr>
                <a:srgbClr val="E8642C"/>
              </a:buClr>
              <a:buSzPct val="60000"/>
              <a:buChar char="■"/>
            </a:pPr>
            <a:r>
              <a:rPr lang="en-US" sz="1300">
                <a:solidFill>
                  <a:srgbClr val="666666"/>
                </a:solidFill>
                <a:latin typeface="Avenir" pitchFamily="34" charset="0"/>
                <a:ea typeface="Avenir" pitchFamily="34" charset="-122"/>
                <a:cs typeface="Avenir" pitchFamily="34" charset="-120"/>
              </a:rPr>
              <a:t>Demand Gen campaigns initiated (PVP – Engine, Verticals – Healthcare, Parcel)</a:t>
            </a:r>
          </a:p>
          <a:p>
            <a:pPr marL="342900" indent="-342900">
              <a:spcAft>
                <a:spcPts val="600"/>
              </a:spcAft>
              <a:buClr>
                <a:srgbClr val="E8642C"/>
              </a:buClr>
              <a:buSzPct val="60000"/>
              <a:buChar char="■"/>
            </a:pPr>
            <a:r>
              <a:rPr lang="en-US" sz="1300">
                <a:solidFill>
                  <a:srgbClr val="666666"/>
                </a:solidFill>
                <a:latin typeface="Avenir" pitchFamily="34" charset="0"/>
                <a:ea typeface="Avenir" pitchFamily="34" charset="-122"/>
                <a:cs typeface="Avenir" pitchFamily="34" charset="-120"/>
              </a:rPr>
              <a:t>LLM Based content generation</a:t>
            </a:r>
          </a:p>
          <a:p>
            <a:pPr marL="800100" lvl="1" indent="-342900">
              <a:spcAft>
                <a:spcPts val="600"/>
              </a:spcAft>
              <a:buClr>
                <a:srgbClr val="E8642C"/>
              </a:buClr>
              <a:buSzPct val="60000"/>
              <a:buChar char="■"/>
            </a:pPr>
            <a:r>
              <a:rPr lang="en-US" sz="1300">
                <a:solidFill>
                  <a:srgbClr val="666666"/>
                </a:solidFill>
                <a:latin typeface="Avenir" pitchFamily="34" charset="0"/>
                <a:ea typeface="Avenir" pitchFamily="34" charset="-122"/>
                <a:cs typeface="Avenir" pitchFamily="34" charset="-120"/>
              </a:rPr>
              <a:t>POC Impact Case Studies generated for 9 sample projects</a:t>
            </a:r>
          </a:p>
          <a:p>
            <a:pPr marL="800100" lvl="1" indent="-342900">
              <a:spcAft>
                <a:spcPts val="600"/>
              </a:spcAft>
              <a:buClr>
                <a:srgbClr val="E8642C"/>
              </a:buClr>
              <a:buSzPct val="60000"/>
              <a:buChar char="■"/>
            </a:pPr>
            <a:r>
              <a:rPr lang="en-US" sz="1300">
                <a:solidFill>
                  <a:srgbClr val="666666"/>
                </a:solidFill>
                <a:latin typeface="Avenir" pitchFamily="34" charset="0"/>
                <a:ea typeface="Avenir" pitchFamily="34" charset="-122"/>
                <a:cs typeface="Avenir" pitchFamily="34" charset="-120"/>
              </a:rPr>
              <a:t>POC Supplier “Battle Cards” generated (from these sample projects)</a:t>
            </a:r>
          </a:p>
          <a:p>
            <a:pPr marL="342900" indent="-342900">
              <a:spcAft>
                <a:spcPts val="600"/>
              </a:spcAft>
              <a:buClr>
                <a:srgbClr val="E8642C"/>
              </a:buClr>
              <a:buSzPct val="60000"/>
              <a:buChar char="■"/>
            </a:pPr>
            <a:endParaRPr lang="en-US" sz="130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8DA11128-900F-4F08-AD7F-162F81DBB538}" type="slidenum">
              <a:rPr lang="en-US" sz="1000" smtClean="0">
                <a:solidFill>
                  <a:srgbClr val="999999"/>
                </a:solidFill>
                <a:latin typeface="Avenir" pitchFamily="34" charset="0"/>
                <a:ea typeface="Avenir" pitchFamily="34" charset="-122"/>
                <a:cs typeface="Avenir" pitchFamily="34" charset="-120"/>
              </a:rPr>
              <a:t>20</a:t>
            </a:fld>
            <a:endParaRPr lang="en-US" sz="1000"/>
          </a:p>
        </p:txBody>
      </p:sp>
    </p:spTree>
    <p:extLst>
      <p:ext uri="{BB962C8B-B14F-4D97-AF65-F5344CB8AC3E}">
        <p14:creationId xmlns:p14="http://schemas.microsoft.com/office/powerpoint/2010/main" val="1222609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Q1 2026 Company Goals</a:t>
            </a:r>
            <a:endParaRPr lang="en-US" sz="2800"/>
          </a:p>
        </p:txBody>
      </p:sp>
      <p:graphicFrame>
        <p:nvGraphicFramePr>
          <p:cNvPr id="29" name="Table 0"/>
          <p:cNvGraphicFramePr>
            <a:graphicFrameLocks noGrp="1"/>
          </p:cNvGraphicFramePr>
          <p:nvPr>
            <p:extLst>
              <p:ext uri="{D42A27DB-BD31-4B8C-83A1-F6EECF244321}">
                <p14:modId xmlns:p14="http://schemas.microsoft.com/office/powerpoint/2010/main" val="1466516179"/>
              </p:ext>
            </p:extLst>
          </p:nvPr>
        </p:nvGraphicFramePr>
        <p:xfrm>
          <a:off x="640080" y="1005840"/>
          <a:ext cx="6035040" cy="2944368"/>
        </p:xfrm>
        <a:graphic>
          <a:graphicData uri="http://schemas.openxmlformats.org/drawingml/2006/table">
            <a:tbl>
              <a:tblPr/>
              <a:tblGrid>
                <a:gridCol w="36576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2"/>
                    </a:ext>
                  </a:extLst>
                </a:gridCol>
              </a:tblGrid>
              <a:tr h="292608">
                <a:tc>
                  <a:txBody>
                    <a:bodyPr/>
                    <a:lstStyle/>
                    <a:p>
                      <a:pPr marL="0" indent="0">
                        <a:buNone/>
                      </a:pPr>
                      <a:r>
                        <a:rPr lang="en-US" sz="1000" b="1">
                          <a:solidFill>
                            <a:srgbClr val="FFFFFF"/>
                          </a:solidFill>
                          <a:latin typeface="Avenir" pitchFamily="34" charset="0"/>
                          <a:ea typeface="Avenir" pitchFamily="34" charset="-122"/>
                          <a:cs typeface="Avenir" pitchFamily="34" charset="-120"/>
                        </a:rPr>
                        <a:t>#</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E8642C"/>
                    </a:solidFill>
                  </a:tcPr>
                </a:tc>
                <a:tc>
                  <a:txBody>
                    <a:bodyPr/>
                    <a:lstStyle/>
                    <a:p>
                      <a:pPr marL="0" indent="0">
                        <a:buNone/>
                      </a:pPr>
                      <a:r>
                        <a:rPr lang="en-US" sz="1000" b="1">
                          <a:solidFill>
                            <a:srgbClr val="FFFFFF"/>
                          </a:solidFill>
                          <a:latin typeface="Avenir" pitchFamily="34" charset="0"/>
                          <a:ea typeface="Avenir" pitchFamily="34" charset="-122"/>
                          <a:cs typeface="Avenir" pitchFamily="34" charset="-120"/>
                        </a:rPr>
                        <a:t>Goal</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E8642C"/>
                    </a:solidFill>
                  </a:tcPr>
                </a:tc>
                <a:extLst>
                  <a:ext uri="{0D108BD9-81ED-4DB2-BD59-A6C34878D82A}">
                    <a16:rowId xmlns:a16="http://schemas.microsoft.com/office/drawing/2014/main" val="10000"/>
                  </a:ext>
                </a:extLst>
              </a:tr>
              <a:tr h="411480">
                <a:tc>
                  <a:txBody>
                    <a:bodyPr/>
                    <a:lstStyle/>
                    <a:p>
                      <a:pPr marL="0" indent="0">
                        <a:buNone/>
                      </a:pPr>
                      <a:r>
                        <a:rPr lang="en-US" sz="1000">
                          <a:solidFill>
                            <a:srgbClr val="666666"/>
                          </a:solidFill>
                          <a:latin typeface="Avenir" pitchFamily="34" charset="0"/>
                          <a:ea typeface="Avenir" pitchFamily="34" charset="-122"/>
                          <a:cs typeface="Avenir" pitchFamily="34" charset="-120"/>
                        </a:rPr>
                        <a:t>1</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tcPr>
                </a:tc>
                <a:tc>
                  <a:txBody>
                    <a:bodyPr/>
                    <a:lstStyle/>
                    <a:p>
                      <a:pPr marL="0" indent="0">
                        <a:buNone/>
                      </a:pPr>
                      <a:r>
                        <a:rPr lang="en-US" sz="1000">
                          <a:solidFill>
                            <a:srgbClr val="666666"/>
                          </a:solidFill>
                          <a:latin typeface="Avenir" pitchFamily="34" charset="0"/>
                          <a:ea typeface="Avenir" pitchFamily="34" charset="-122"/>
                          <a:cs typeface="Avenir" pitchFamily="34" charset="-120"/>
                        </a:rPr>
                        <a:t>30 Case Studies AI-generated and ready for sales use</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000">
                          <a:solidFill>
                            <a:srgbClr val="666666"/>
                          </a:solidFill>
                          <a:latin typeface="Avenir" pitchFamily="34" charset="0"/>
                          <a:ea typeface="Avenir" pitchFamily="34" charset="-122"/>
                          <a:cs typeface="Avenir" pitchFamily="34" charset="-120"/>
                        </a:rPr>
                        <a:t>2</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tcPr>
                </a:tc>
                <a:tc>
                  <a:txBody>
                    <a:bodyPr/>
                    <a:lstStyle/>
                    <a:p>
                      <a:pPr marL="0" indent="0">
                        <a:buNone/>
                      </a:pPr>
                      <a:r>
                        <a:rPr lang="en-US" sz="1000">
                          <a:solidFill>
                            <a:srgbClr val="666666"/>
                          </a:solidFill>
                          <a:latin typeface="Avenir" pitchFamily="34" charset="0"/>
                          <a:ea typeface="Avenir" pitchFamily="34" charset="-122"/>
                          <a:cs typeface="Avenir" pitchFamily="34" charset="-120"/>
                        </a:rPr>
                        <a:t>AI Team &amp; Cadence Executed; 2 productivity use cases implemented; appropriate management team licenses in place</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000">
                          <a:solidFill>
                            <a:srgbClr val="666666"/>
                          </a:solidFill>
                          <a:latin typeface="Avenir" pitchFamily="34" charset="0"/>
                          <a:ea typeface="Avenir" pitchFamily="34" charset="-122"/>
                          <a:cs typeface="Avenir" pitchFamily="34" charset="-120"/>
                        </a:rPr>
                        <a:t>3</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tcPr>
                </a:tc>
                <a:tc>
                  <a:txBody>
                    <a:bodyPr/>
                    <a:lstStyle/>
                    <a:p>
                      <a:pPr marL="0" indent="0">
                        <a:buNone/>
                      </a:pPr>
                      <a:r>
                        <a:rPr lang="en-US" sz="1000">
                          <a:solidFill>
                            <a:srgbClr val="666666"/>
                          </a:solidFill>
                          <a:latin typeface="Avenir" pitchFamily="34" charset="0"/>
                          <a:ea typeface="Avenir" pitchFamily="34" charset="-122"/>
                          <a:cs typeface="Avenir" pitchFamily="34" charset="-120"/>
                        </a:rPr>
                        <a:t>AI Based Spend Classification Tool – used actively in production</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000">
                          <a:solidFill>
                            <a:srgbClr val="666666"/>
                          </a:solidFill>
                          <a:latin typeface="Avenir" pitchFamily="34" charset="0"/>
                          <a:ea typeface="Avenir" pitchFamily="34" charset="-122"/>
                          <a:cs typeface="Avenir" pitchFamily="34" charset="-120"/>
                        </a:rPr>
                        <a:t>4</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tcPr>
                </a:tc>
                <a:tc>
                  <a:txBody>
                    <a:bodyPr/>
                    <a:lstStyle/>
                    <a:p>
                      <a:pPr marL="0" indent="0">
                        <a:buNone/>
                      </a:pPr>
                      <a:r>
                        <a:rPr lang="en-US" sz="1000">
                          <a:solidFill>
                            <a:srgbClr val="666666"/>
                          </a:solidFill>
                          <a:latin typeface="Avenir" pitchFamily="34" charset="0"/>
                          <a:ea typeface="Avenir" pitchFamily="34" charset="-122"/>
                          <a:cs typeface="Avenir" pitchFamily="34" charset="-120"/>
                        </a:rPr>
                        <a:t>Collab 91- Resources onboarded, trained, evaluated; leadership team readout</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000">
                          <a:solidFill>
                            <a:srgbClr val="666666"/>
                          </a:solidFill>
                          <a:latin typeface="Avenir" pitchFamily="34" charset="0"/>
                          <a:ea typeface="Avenir" pitchFamily="34" charset="-122"/>
                          <a:cs typeface="Avenir" pitchFamily="34" charset="-120"/>
                        </a:rPr>
                        <a:t>5</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tcPr>
                </a:tc>
                <a:tc>
                  <a:txBody>
                    <a:bodyPr/>
                    <a:lstStyle/>
                    <a:p>
                      <a:pPr marL="0" indent="0">
                        <a:buNone/>
                      </a:pPr>
                      <a:r>
                        <a:rPr lang="en-US" sz="1000">
                          <a:solidFill>
                            <a:srgbClr val="666666"/>
                          </a:solidFill>
                          <a:latin typeface="Avenir" pitchFamily="34" charset="0"/>
                          <a:ea typeface="Avenir" charset="0"/>
                          <a:cs typeface="Avenir" charset="0"/>
                        </a:rPr>
                        <a:t>Successfully execute Treya PE Summit</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000">
                          <a:solidFill>
                            <a:srgbClr val="666666"/>
                          </a:solidFill>
                          <a:latin typeface="Avenir" pitchFamily="34" charset="0"/>
                          <a:ea typeface="Avenir" pitchFamily="34" charset="-122"/>
                          <a:cs typeface="Avenir" pitchFamily="34" charset="-120"/>
                        </a:rPr>
                        <a:t>6</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tcPr>
                </a:tc>
                <a:tc>
                  <a:txBody>
                    <a:bodyPr/>
                    <a:lstStyle/>
                    <a:p>
                      <a:pPr marL="0" indent="0">
                        <a:buNone/>
                      </a:pPr>
                      <a:r>
                        <a:rPr lang="en-US" sz="1000">
                          <a:solidFill>
                            <a:srgbClr val="666666"/>
                          </a:solidFill>
                          <a:latin typeface="Avenir" pitchFamily="34" charset="0"/>
                          <a:ea typeface="Avenir" pitchFamily="34" charset="-122"/>
                          <a:cs typeface="Avenir" pitchFamily="34" charset="-120"/>
                        </a:rPr>
                        <a:t>BM Resp. Delegation: Identify 2 delegation areas; delegate 1x; ID 2 areas to contribute to; leadership team readout</a:t>
                      </a:r>
                      <a:endParaRPr lang="en-US" sz="1000">
                        <a:latin typeface="Avenir" charset="0"/>
                        <a:ea typeface="Avenir" charset="0"/>
                        <a:cs typeface="Avenir"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D80BEA1C-40E5-40F0-B804-037197E17803}" type="slidenum">
              <a:rPr lang="en-US" sz="1000" smtClean="0">
                <a:solidFill>
                  <a:srgbClr val="999999"/>
                </a:solidFill>
                <a:latin typeface="Avenir" pitchFamily="34" charset="0"/>
                <a:ea typeface="Avenir" pitchFamily="34" charset="-122"/>
                <a:cs typeface="Avenir" pitchFamily="34" charset="-120"/>
              </a:rPr>
              <a:t>21</a:t>
            </a:fld>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venir"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2536</Words>
  <Application>Microsoft Macintosh PowerPoint</Application>
  <PresentationFormat>On-screen Show (16:9)</PresentationFormat>
  <Paragraphs>299</Paragraphs>
  <Slides>21</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MS PGothic</vt:lpstr>
      <vt:lpstr>Arial</vt:lpstr>
      <vt:lpstr>Avenir</vt:lpstr>
      <vt:lpstr>Avenir Black</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Treya BOD Q4 2025</dc:title>
  <dc:subject>PptxGenJS Presentation</dc:subject>
  <dc:creator>Treya Partners</dc:creator>
  <cp:lastModifiedBy>Rahul Ahuja</cp:lastModifiedBy>
  <cp:revision>2</cp:revision>
  <dcterms:created xsi:type="dcterms:W3CDTF">2026-02-05T23:27:59Z</dcterms:created>
  <dcterms:modified xsi:type="dcterms:W3CDTF">2026-02-12T11:37:42Z</dcterms:modified>
</cp:coreProperties>
</file>